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cd057afa294609" /><Relationship Type="http://schemas.openxmlformats.org/officeDocument/2006/relationships/extended-properties" Target="/docProps/app.xml" Id="Ra05e78243da24101" /><Relationship Type="http://schemas.openxmlformats.org/officeDocument/2006/relationships/officeDocument" Target="/ppt/presentation.xml" Id="R9bc7ca9e7aae43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a111e5854a4d59"/>
  </p:sldMasterIdLst>
  <p:notesMasterIdLst>
    <p:notesMasterId xmlns:r="http://schemas.openxmlformats.org/officeDocument/2006/relationships" r:id="Rec704d4dc0154c03"/>
  </p:notesMasterIdLst>
  <p:sldIdLst>
    <p:sldId xmlns:r="http://schemas.openxmlformats.org/officeDocument/2006/relationships" id="256" r:id="Rc8143d20e23b47c3"/>
    <p:sldId xmlns:r="http://schemas.openxmlformats.org/officeDocument/2006/relationships" id="257" r:id="R0d09de2e608b4aa7"/>
    <p:sldId xmlns:r="http://schemas.openxmlformats.org/officeDocument/2006/relationships" id="258" r:id="R565701ceef8f42f6"/>
    <p:sldId xmlns:r="http://schemas.openxmlformats.org/officeDocument/2006/relationships" id="259" r:id="Rddff402b6a81416f"/>
    <p:sldId xmlns:r="http://schemas.openxmlformats.org/officeDocument/2006/relationships" id="260" r:id="R6aabcf6b2302451f"/>
    <p:sldId xmlns:r="http://schemas.openxmlformats.org/officeDocument/2006/relationships" id="261" r:id="R2e1ab338a8344ee7"/>
    <p:sldId xmlns:r="http://schemas.openxmlformats.org/officeDocument/2006/relationships" id="262" r:id="R2337fc88c6d14d58"/>
    <p:sldId xmlns:r="http://schemas.openxmlformats.org/officeDocument/2006/relationships" id="263" r:id="R5a18b55a076a4e6b"/>
    <p:sldId xmlns:r="http://schemas.openxmlformats.org/officeDocument/2006/relationships" id="264" r:id="R86d51c8120d84a84"/>
    <p:sldId xmlns:r="http://schemas.openxmlformats.org/officeDocument/2006/relationships" id="265" r:id="R4461eb5dbfc54a12"/>
    <p:sldId xmlns:r="http://schemas.openxmlformats.org/officeDocument/2006/relationships" id="266" r:id="R93acd9faa48f46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e8cf6182644ee2" /><Relationship Type="http://schemas.openxmlformats.org/officeDocument/2006/relationships/slideMaster" Target="/ppt/slideMasters/slideMaster1.xml" Id="Rc7a111e5854a4d59" /><Relationship Type="http://schemas.openxmlformats.org/officeDocument/2006/relationships/notesMaster" Target="/ppt/notesMasters/notesMaster1.xml" Id="Rec704d4dc0154c03" /><Relationship Type="http://schemas.openxmlformats.org/officeDocument/2006/relationships/presProps" Target="/ppt/presProps.xml" Id="Raa58d50015ef4162" /><Relationship Type="http://schemas.openxmlformats.org/officeDocument/2006/relationships/viewProps" Target="/ppt/viewProps.xml" Id="R9cc6c2552af74d3c" /><Relationship Type="http://schemas.openxmlformats.org/officeDocument/2006/relationships/tableStyles" Target="/ppt/tableStyles.xml" Id="Re227754c99644cc4" /><Relationship Type="http://schemas.openxmlformats.org/officeDocument/2006/relationships/slide" Target="/ppt/slides/slide1.xml" Id="Rc8143d20e23b47c3" /><Relationship Type="http://schemas.openxmlformats.org/officeDocument/2006/relationships/slide" Target="/ppt/slides/slide2.xml" Id="R0d09de2e608b4aa7" /><Relationship Type="http://schemas.openxmlformats.org/officeDocument/2006/relationships/slide" Target="/ppt/slides/slide3.xml" Id="R565701ceef8f42f6" /><Relationship Type="http://schemas.openxmlformats.org/officeDocument/2006/relationships/slide" Target="/ppt/slides/slide4.xml" Id="Rddff402b6a81416f" /><Relationship Type="http://schemas.openxmlformats.org/officeDocument/2006/relationships/slide" Target="/ppt/slides/slide5.xml" Id="R6aabcf6b2302451f" /><Relationship Type="http://schemas.openxmlformats.org/officeDocument/2006/relationships/slide" Target="/ppt/slides/slide6.xml" Id="R2e1ab338a8344ee7" /><Relationship Type="http://schemas.openxmlformats.org/officeDocument/2006/relationships/slide" Target="/ppt/slides/slide7.xml" Id="R2337fc88c6d14d58" /><Relationship Type="http://schemas.openxmlformats.org/officeDocument/2006/relationships/slide" Target="/ppt/slides/slide8.xml" Id="R5a18b55a076a4e6b" /><Relationship Type="http://schemas.openxmlformats.org/officeDocument/2006/relationships/slide" Target="/ppt/slides/slide9.xml" Id="R86d51c8120d84a84" /><Relationship Type="http://schemas.openxmlformats.org/officeDocument/2006/relationships/slide" Target="/ppt/slides/slide10.xml" Id="R4461eb5dbfc54a12" /><Relationship Type="http://schemas.openxmlformats.org/officeDocument/2006/relationships/slide" Target="/ppt/slides/slide11.xml" Id="R93acd9faa48f46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64cd3e811844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youjie_goai_pitch">
  <a:themeElements>
    <a:clrScheme name="youjie_goai_pitch">
      <a:dk1>
        <a:srgbClr val="17324D"/>
      </a:dk1>
      <a:lt1>
        <a:srgbClr val="F7FBFF"/>
      </a:lt1>
      <a:dk2>
        <a:srgbClr val="1F497D"/>
      </a:dk2>
      <a:lt2>
        <a:srgbClr val="EAF7FC"/>
      </a:lt2>
      <a:accent1>
        <a:srgbClr val="0B4F6C"/>
      </a:accent1>
      <a:accent2>
        <a:srgbClr val="00B8D9"/>
      </a:accent2>
      <a:accent3>
        <a:srgbClr val="6C63FF"/>
      </a:accent3>
      <a:accent4>
        <a:srgbClr val="0B4F6C"/>
      </a:accent4>
      <a:accent5>
        <a:srgbClr val="B7E5EF"/>
      </a:accent5>
      <a:accent6>
        <a:srgbClr val="FF9D2E"/>
      </a:accent6>
      <a:hlink>
        <a:srgbClr val="00B8D9"/>
      </a:hlink>
      <a:folHlink>
        <a:srgbClr val="6C63FF"/>
      </a:folHlink>
    </a:clrScheme>
    <a:fontScheme name="youjie_goai_pitch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youjie_goai_pit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bab8d070e64392" /><Relationship Type="http://schemas.openxmlformats.org/officeDocument/2006/relationships/notesMaster" Target="/ppt/notesMasters/notesMaster1.xml" Id="R356d24b9d2fd49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02a780b9684fc2" /><Relationship Type="http://schemas.openxmlformats.org/officeDocument/2006/relationships/notesMaster" Target="/ppt/notesMasters/notesMaster1.xml" Id="Rbd8acb8c534a40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5bcae167174476" /><Relationship Type="http://schemas.openxmlformats.org/officeDocument/2006/relationships/notesMaster" Target="/ppt/notesMasters/notesMaster1.xml" Id="Rc51dacd7dd4b4e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e918df73454c4f" /><Relationship Type="http://schemas.openxmlformats.org/officeDocument/2006/relationships/notesMaster" Target="/ppt/notesMasters/notesMaster1.xml" Id="Ra2843b9860424e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1bc4bf6d754b59" /><Relationship Type="http://schemas.openxmlformats.org/officeDocument/2006/relationships/notesMaster" Target="/ppt/notesMasters/notesMaster1.xml" Id="Rfe67d717d68445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7417e61a234c6c" /><Relationship Type="http://schemas.openxmlformats.org/officeDocument/2006/relationships/notesMaster" Target="/ppt/notesMasters/notesMaster1.xml" Id="R51c11b90e89740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af8955df024975" /><Relationship Type="http://schemas.openxmlformats.org/officeDocument/2006/relationships/notesMaster" Target="/ppt/notesMasters/notesMaster1.xml" Id="R2c07ac3c3c054e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fdfdf9b9d140f9" /><Relationship Type="http://schemas.openxmlformats.org/officeDocument/2006/relationships/notesMaster" Target="/ppt/notesMasters/notesMaster1.xml" Id="Rb0a5e133ff2d46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6ab988102a44ee" /><Relationship Type="http://schemas.openxmlformats.org/officeDocument/2006/relationships/notesMaster" Target="/ppt/notesMasters/notesMaster1.xml" Id="R1890f4138dc94c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d853c6042f448d" /><Relationship Type="http://schemas.openxmlformats.org/officeDocument/2006/relationships/notesMaster" Target="/ppt/notesMasters/notesMaster1.xml" Id="Reb6d1877fd4942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d30e8f2d5d4b07" /><Relationship Type="http://schemas.openxmlformats.org/officeDocument/2006/relationships/notesMaster" Target="/ppt/notesMasters/notesMaster1.xml" Id="Rbef9fb7cec0c43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这个作品叫有界，是一个面向制造计划员的供应链异常研判与恢复计划智能体。它的核心不是让大模型替人做决定，而是让不确定的输入进入一条可复算、可验证、可追责的流程：能力有界，方案可证，决策在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先看最具体的场景。一个模拟座椅供应商发来邮件，说 Q2J 未来四十八小时无法正常发运；这一个异常同时影响三个 BOM 配置，对应九十一、八十一和四十五台车，总计二百一十七台。邮件和事故是模拟的，但这二百一十七条需求来自公开汽车供应链工作簿的原始行，所以我们既保留工业对象关系，也把模拟边界说清楚。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这件事不是让模型读完邮件后给一句建议。Agent 要先提取事故、校验实体和缺失字段，再规划白名单调查动作，读取数据快照和规则，调用求解器生成三套方案，并交给独立验证器复核。LangGraph 在人工审批处真正暂停；批准后才重算并生成草稿工单，驳回则直接结束且工单为零。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这里 AI 不是装饰，它负责最适合概率模型的部分：理解邮件和聊天、保留原文证据、发现缺失或冲突、规划工具、检索政策并解释方案。与此同时，BOM 展开、库存守恒、产能排程、可行性验证和审批权限全部留在确定性可信内核里。换句话说，AI 可以提出候选，但不能自己算出一个不可核验的答案，更不能自我批准或控制设备。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人工审批不是前端按钮改一个状态。求解和验证完成后，LangGraph checkpoint 保存线程并触发 interrupt；恢复时系统从原场景重新求解，而不是继续相信审批前的内存对象。只有新的 scenario hash 和 plan hash 都与审批看到的证据一致，系统才生成 draft only 工单；如果场景变化、候选被篡改或人选择驳回，旧批准都会失效。当前演示使用内存 checkpointer，生产化仍需持久化、RBAC 和幂等机制。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主演示实际使用 Mendeley Data 的汽车供应链工作簿，而不只是参考它的字段。原数据包含二万八千零四十九个产品、八万七千零五十九条 BOM 和二万八千条需求；程序先校验完整文件的 SHA-256，再从第六十一期抽取二百一十七条逐车需求，并在 lineage 文件中保留需求、BOM、库存和容量的工作表行号。聚合成三张比赛订单后，数量仍然是二百一十七，差为零。客户名、事故邮件、应急报价、预算和审批属于明确标注的模拟层；公开数据是行业背景随机化数据，不冒充企业原始流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在相同硬约束下，三套方案产生了真实差异。保交付方案让九十一台按首个交期完成，使用九十一件应急供应，恢复成本七百二十八元；平衡方案是四十五台、四十五件和三百六十元；少变更方案不使用应急供应，因此首个交期按时数量为零。三套方案都是求解器最优状态，并由独立 verifier 重放通过。这里的应急上限、单价和预算是模拟参数；系统遵守整批交付，不会为了漂亮数字偷偷拆单。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这些机制已经进入可运行的 Streamlit 界面，而不是停在架构图里。评委可以从公开数据证据和固定邮件启动同一条 LangGraph 线程，比较三套方案、查看排程与验证状态，再批准或驳回，并下载包含工具轨迹和 hash 的完整 JSON。默认 replay 模式让演示在没有模型密钥时仍可复现，但它不代表在线模型准确率。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除了固定邮件，我们还做了一个专门找麻烦的随机事故 Agent。它根据 seed 从场景中的真实实体和合法范围生成供应延期、供应中断、库存损失、产线停机和需求激增，再把事件交给完全相同的 LangGraph、solver、verifier 和人审链路。相同 seed 会产生完全相同的事件；它只修改隔离场景副本，没有求解、批准、写回或设备控制权限。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我们验证的不只是程序能跑通一次。当前有三十二个自动化测试，旧的十五个求解和状态机对抗场景全部通过，三十条 Agent 录制回放合同连续两次输出一致，禁止工具调用次数为零。覆盖项包括数据溯源、错误工序、旧批准、计划篡改、提示注入和伪造结果。必须强调，三十比三十是版本化 replay 回归证据，不是在线模型百分之百准确的声明。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有界不打算重做 ERP 或 APS，它要成为这些成熟系统上方可审计的异常处置决策层。输入可以不确定，方案必须可复算；建议可以自动生成，决定必须由人承担。请打开在线 Demo，换一个 seed，比较三套方案，再亲自试一次驳回，看系统是否真的守住边界。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d798126fb844ee" /></Relationships>
</file>

<file path=ppt/slideLayouts/slideLayout1.xml><?xml version="1.0" encoding="utf-8"?>
<p:sldLayout xmlns:p="http://schemas.openxmlformats.org/presentationml/2006/main" type="blank" preserve="1">
  <p:cSld name="youjie_goai_pitch — 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C476390-E0C4-4BC6-B3BC-52459B5B63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FB60FE5-AA54-4FA4-901B-AC319B68A4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F3DACD9-7B1C-4CBA-8394-9BEF894066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1b0c01bb854d0b" /><Relationship Type="http://schemas.openxmlformats.org/officeDocument/2006/relationships/slideLayout" Target="/ppt/slideLayouts/slideLayout1.xml" Id="R20ef7459ea664efe" /></Relationships>
</file>

<file path=ppt/slideMasters/slideMaster1.xml><?xml version="1.0" encoding="utf-8"?>
<p:sldMaster xmlns:p="http://schemas.openxmlformats.org/presentationml/2006/main">
  <p:cSld name="youjie_goai_pitch — 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817AB8F-0B34-4179-A412-B70ABB77F04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478781-87B9-4F43-9788-F837E8DBA3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01331C-2DA8-4FEF-8768-E5524EA8CA1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ef7459ea664efe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22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19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18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17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15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22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21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9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7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5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2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1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youjie_goai_pitch">
  <a:themeElements>
    <a:clrScheme name="youjie_goai_pitch">
      <a:dk1>
        <a:srgbClr val="17324D"/>
      </a:dk1>
      <a:lt1>
        <a:srgbClr val="F7FBFF"/>
      </a:lt1>
      <a:dk2>
        <a:srgbClr val="1F497D"/>
      </a:dk2>
      <a:lt2>
        <a:srgbClr val="EAF7FC"/>
      </a:lt2>
      <a:accent1>
        <a:srgbClr val="0B4F6C"/>
      </a:accent1>
      <a:accent2>
        <a:srgbClr val="00B8D9"/>
      </a:accent2>
      <a:accent3>
        <a:srgbClr val="6C63FF"/>
      </a:accent3>
      <a:accent4>
        <a:srgbClr val="0B4F6C"/>
      </a:accent4>
      <a:accent5>
        <a:srgbClr val="B7E5EF"/>
      </a:accent5>
      <a:accent6>
        <a:srgbClr val="FF9D2E"/>
      </a:accent6>
      <a:hlink>
        <a:srgbClr val="00B8D9"/>
      </a:hlink>
      <a:folHlink>
        <a:srgbClr val="6C63FF"/>
      </a:folHlink>
    </a:clrScheme>
    <a:fontScheme name="youjie_goai_pitch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youjie_goai_pit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8190845814693" /><Relationship Type="http://schemas.openxmlformats.org/officeDocument/2006/relationships/notesSlide" Target="/ppt/notesSlides/notesSlide1.xml" Id="R53e5e020d73340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b4e8be3494054" /><Relationship Type="http://schemas.openxmlformats.org/officeDocument/2006/relationships/notesSlide" Target="/ppt/notesSlides/notesSlide2.xml" Id="Rdb829a32336942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5b3b222b14d73" /><Relationship Type="http://schemas.openxmlformats.org/officeDocument/2006/relationships/notesSlide" Target="/ppt/notesSlides/notesSlide3.xml" Id="R44ca5dd4ecdd40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5c01d49b54b03" /><Relationship Type="http://schemas.openxmlformats.org/officeDocument/2006/relationships/notesSlide" Target="/ppt/notesSlides/notesSlide4.xml" Id="R5870c6b48bc144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37d77da2f42fa" /><Relationship Type="http://schemas.openxmlformats.org/officeDocument/2006/relationships/notesSlide" Target="/ppt/notesSlides/notesSlide5.xml" Id="R49d3cdaa010947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490d7707d4a04" /><Relationship Type="http://schemas.openxmlformats.org/officeDocument/2006/relationships/notesSlide" Target="/ppt/notesSlides/notesSlide6.xml" Id="Rd1e81235ca6744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ef7a6f9554697" /><Relationship Type="http://schemas.openxmlformats.org/officeDocument/2006/relationships/notesSlide" Target="/ppt/notesSlides/notesSlide7.xml" Id="Reae6c7e43c694d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d9fcfaccf41a5" /><Relationship Type="http://schemas.openxmlformats.org/officeDocument/2006/relationships/image" Target="/ppt/media/image.png" Id="Rc544cf4839e94ac1" /><Relationship Type="http://schemas.openxmlformats.org/officeDocument/2006/relationships/image" Target="/ppt/media/image2.png" Id="R3cbcaf964e934b93" /><Relationship Type="http://schemas.openxmlformats.org/officeDocument/2006/relationships/notesSlide" Target="/ppt/notesSlides/notesSlide8.xml" Id="R9b0f0ed99df947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beac837bc4afb" /><Relationship Type="http://schemas.openxmlformats.org/officeDocument/2006/relationships/notesSlide" Target="/ppt/notesSlides/notesSlide9.xml" Id="Re7b72e94604144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3dcd867fa4932" /><Relationship Type="http://schemas.openxmlformats.org/officeDocument/2006/relationships/notesSlide" Target="/ppt/notesSlides/notesSlide10.xml" Id="R98534fe2d5bd43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08ab036c14c86" /><Relationship Type="http://schemas.openxmlformats.org/officeDocument/2006/relationships/notesSlide" Target="/ppt/notesSlides/notesSlide11.xml" Id="R58b58c65c95b44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5701E09-C4BF-49F8-B5A5-D1D52233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876300"/>
            <a:ext cx="4743450" cy="247650"/>
          </a:xfrm>
          <a:custGeom xmlns:a="http://schemas.openxmlformats.org/drawingml/2006/main">
            <a:rect l="l" t="t" r="r" b="b"/>
            <a:pathLst>
              <a:path w="4743450" h="247650">
                <a:moveTo>
                  <a:pt x="0" y="247650"/>
                </a:moveTo>
                <a:lnTo>
                  <a:pt x="2724150" y="247650"/>
                </a:lnTo>
                <a:cubicBezTo>
                  <a:pt x="3162300" y="247650"/>
                  <a:pt x="3333750" y="0"/>
                  <a:pt x="3771900" y="0"/>
                </a:cubicBezTo>
                <a:lnTo>
                  <a:pt x="4743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E109E612-EAC1-4159-81B3-A20DD358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67750" y="0"/>
            <a:ext cx="3524250" cy="1257300"/>
          </a:xfrm>
          <a:custGeom xmlns:a="http://schemas.openxmlformats.org/drawingml/2006/main">
            <a:rect l="l" t="t" r="r" b="b"/>
            <a:pathLst>
              <a:path w="3524250" h="1257300">
                <a:moveTo>
                  <a:pt x="0" y="0"/>
                </a:moveTo>
                <a:lnTo>
                  <a:pt x="0" y="838200"/>
                </a:lnTo>
                <a:cubicBezTo>
                  <a:pt x="0" y="1123950"/>
                  <a:pt x="247650" y="1257300"/>
                  <a:pt x="533400" y="1257300"/>
                </a:cubicBezTo>
                <a:lnTo>
                  <a:pt x="352425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084F7894-3C41-46CB-8904-8AEB7FC9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9100" y="5924550"/>
            <a:ext cx="4533900" cy="266700"/>
          </a:xfrm>
          <a:custGeom xmlns:a="http://schemas.openxmlformats.org/drawingml/2006/main">
            <a:rect l="l" t="t" r="r" b="b"/>
            <a:pathLst>
              <a:path w="4533900" h="266700">
                <a:moveTo>
                  <a:pt x="0" y="266700"/>
                </a:moveTo>
                <a:lnTo>
                  <a:pt x="1809750" y="266700"/>
                </a:lnTo>
                <a:cubicBezTo>
                  <a:pt x="2190750" y="266700"/>
                  <a:pt x="2324100" y="0"/>
                  <a:pt x="2705100" y="0"/>
                </a:cubicBezTo>
                <a:lnTo>
                  <a:pt x="4533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2">
                <a:alpha val="50000"/>
              </a:schemeClr>
            </a:solidFill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9CF5BB28-92B4-4B3F-9F6E-AC0FA68F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1089660"/>
            <a:ext cx="2726131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chemeClr val="accent2"/>
                </a:solidFill>
                <a:latin typeface="+mn-lt"/>
                <a:ea typeface="+mn-lt"/>
                <a:cs typeface="+mn-lt"/>
              </a:rPr>
              <a:t>GOAI 无界应用 · AI+工业制造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E843C3D6-418C-4138-BA15-60016520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" y="2004060"/>
            <a:ext cx="2134133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有界</a:t>
            </a:r>
          </a:p>
        </p:txBody>
      </p:sp>
      <p:sp>
        <p:nvSpPr>
          <p:cNvPr id="8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5F906C3-8797-497E-94C8-FF448E7F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3105150"/>
            <a:ext cx="685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53B5DC55-F0B5-45FF-93F1-CE5A6AC7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646" y="3458528"/>
            <a:ext cx="3086291" cy="936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50"/>
              </a:lnSpc>
              <a:buNone/>
            </a:pPr>
            <a:r>
              <a:rPr sz="25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制造供应链异常研判</a:t>
            </a:r>
            <a:br/>
            <a:r>
              <a:rPr sz="25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与恢复计划智能体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8295A5D1-3129-4DB8-9488-79EE6D61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170" y="4443412"/>
            <a:ext cx="4566285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能力有界，方案可证，决策在人。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EA329262-9BF0-4708-BB8A-B371AF33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53250" y="1543050"/>
            <a:ext cx="3371850" cy="2933700"/>
          </a:xfrm>
          <a:custGeom xmlns:a="http://schemas.openxmlformats.org/drawingml/2006/main">
            <a:rect l="l" t="t" r="r" b="b"/>
            <a:pathLst>
              <a:path w="3371850" h="2933700">
                <a:moveTo>
                  <a:pt x="0" y="838200"/>
                </a:moveTo>
                <a:lnTo>
                  <a:pt x="990600" y="838200"/>
                </a:lnTo>
                <a:lnTo>
                  <a:pt x="990600" y="0"/>
                </a:lnTo>
                <a:lnTo>
                  <a:pt x="2266950" y="0"/>
                </a:lnTo>
                <a:lnTo>
                  <a:pt x="2266950" y="838200"/>
                </a:lnTo>
                <a:lnTo>
                  <a:pt x="3371850" y="838200"/>
                </a:lnTo>
                <a:lnTo>
                  <a:pt x="3371850" y="1809750"/>
                </a:lnTo>
                <a:lnTo>
                  <a:pt x="2171700" y="1809750"/>
                </a:lnTo>
                <a:lnTo>
                  <a:pt x="2171700" y="2933700"/>
                </a:lnTo>
                <a:lnTo>
                  <a:pt x="857250" y="2933700"/>
                </a:lnTo>
                <a:lnTo>
                  <a:pt x="857250" y="2133600"/>
                </a:lnTo>
                <a:lnTo>
                  <a:pt x="0" y="2133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2"/>
            </a:solidFill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77F2C66A-05BE-4DD4-8928-B1FCCFFD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53250" y="2381250"/>
            <a:ext cx="990600" cy="9525"/>
          </a:xfrm>
          <a:custGeom xmlns:a="http://schemas.openxmlformats.org/drawingml/2006/main">
            <a:rect l="l" t="t" r="r" b="b"/>
            <a:pathLst>
              <a:path w="990600" h="9525">
                <a:moveTo>
                  <a:pt x="0" y="0"/>
                </a:moveTo>
                <a:lnTo>
                  <a:pt x="990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chemeClr val="accent3">
                <a:alpha val="22000"/>
              </a:schemeClr>
            </a:solidFill>
          </a:ln>
        </p:spPr>
      </p:sp>
      <p:sp>
        <p:nvSpPr>
          <p:cNvPr id="14" name="Ellipse 14">
            <a:extLst xmlns:a="http://schemas.openxmlformats.org/drawingml/2006/main">
              <a:ext uri="{FF2B5EF4-FFF2-40B4-BE49-F238E27FC236}">
                <a16:creationId xmlns:a16="http://schemas.microsoft.com/office/drawing/2014/main" id="{2AEE2D69-0A22-45E2-B242-14D4160D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19875" y="20478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chemeClr val="accent2"/>
            </a:solidFill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9F8B30A8-0BC1-44B4-9BD1-55C6184E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7519" y="2275681"/>
            <a:ext cx="271462" cy="211137"/>
          </a:xfrm>
          <a:custGeom xmlns:a="http://schemas.openxmlformats.org/drawingml/2006/main">
            <a:rect l="l" t="t" r="r" b="b"/>
            <a:pathLst>
              <a:path w="271462" h="211137">
                <a:moveTo>
                  <a:pt x="0" y="30162"/>
                </a:moveTo>
                <a:cubicBezTo>
                  <a:pt x="0" y="13504"/>
                  <a:pt x="13504" y="0"/>
                  <a:pt x="30162" y="0"/>
                </a:cubicBezTo>
                <a:lnTo>
                  <a:pt x="241299" y="0"/>
                </a:lnTo>
                <a:cubicBezTo>
                  <a:pt x="257958" y="0"/>
                  <a:pt x="271462" y="13504"/>
                  <a:pt x="271462" y="30162"/>
                </a:cubicBezTo>
                <a:lnTo>
                  <a:pt x="271462" y="180975"/>
                </a:lnTo>
                <a:cubicBezTo>
                  <a:pt x="271462" y="197633"/>
                  <a:pt x="257958" y="211137"/>
                  <a:pt x="241299" y="211137"/>
                </a:cubicBezTo>
                <a:lnTo>
                  <a:pt x="30162" y="211137"/>
                </a:lnTo>
                <a:cubicBezTo>
                  <a:pt x="13504" y="211137"/>
                  <a:pt x="0" y="197633"/>
                  <a:pt x="0" y="180975"/>
                </a:cubicBezTo>
                <a:lnTo>
                  <a:pt x="0" y="30162"/>
                </a:lnTo>
              </a:path>
            </a:pathLst>
          </a:custGeom>
          <a:noFill xmlns:a="http://schemas.openxmlformats.org/drawingml/2006/main"/>
          <a:ln xmlns:a="http://schemas.openxmlformats.org/drawingml/2006/main" w="30162">
            <a:solidFill>
              <a:schemeClr val="accent1"/>
            </a:solidFill>
          </a:ln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334EEE92-81C4-4359-954A-07C6AC2D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17519" y="2305844"/>
            <a:ext cx="271462" cy="90487"/>
          </a:xfrm>
          <a:custGeom xmlns:a="http://schemas.openxmlformats.org/drawingml/2006/main">
            <a:rect l="l" t="t" r="r" b="b"/>
            <a:pathLst>
              <a:path w="271462" h="90487">
                <a:moveTo>
                  <a:pt x="0" y="0"/>
                </a:moveTo>
                <a:lnTo>
                  <a:pt x="135731" y="90487"/>
                </a:lnTo>
                <a:lnTo>
                  <a:pt x="2714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162">
            <a:solidFill>
              <a:schemeClr val="accent1"/>
            </a:solidFill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599383C0-7126-4085-A1F1-6690C047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00622" y="2774632"/>
            <a:ext cx="905256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>
                <a:solidFill>
                  <a:schemeClr val="dk1"/>
                </a:solidFill>
                <a:latin typeface="+mn-lt"/>
                <a:ea typeface="+mn-lt"/>
                <a:cs typeface="+mn-lt"/>
              </a:rPr>
              <a:t>异常输入</a:t>
            </a:r>
          </a:p>
        </p:txBody>
      </p:sp>
      <p:sp>
        <p:nvSpPr>
          <p:cNvPr id="19" name="Ellipse 19">
            <a:extLst xmlns:a="http://schemas.openxmlformats.org/drawingml/2006/main">
              <a:ext uri="{FF2B5EF4-FFF2-40B4-BE49-F238E27FC236}">
                <a16:creationId xmlns:a16="http://schemas.microsoft.com/office/drawing/2014/main" id="{B5C722D6-D0FE-4AC4-A713-26E7A8C0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86825" y="12096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chemeClr val="accent3"/>
            </a:solidFill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6352F257-E701-4132-9FC1-73F0E8A5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84469" y="1618456"/>
            <a:ext cx="60325" cy="60325"/>
          </a:xfrm>
          <a:custGeom xmlns:a="http://schemas.openxmlformats.org/drawingml/2006/main">
            <a:rect l="l" t="t" r="r" b="b"/>
            <a:pathLst>
              <a:path w="60325" h="60325">
                <a:moveTo>
                  <a:pt x="0" y="30162"/>
                </a:moveTo>
                <a:cubicBezTo>
                  <a:pt x="0" y="46821"/>
                  <a:pt x="13504" y="60325"/>
                  <a:pt x="30162" y="60325"/>
                </a:cubicBezTo>
                <a:cubicBezTo>
                  <a:pt x="46821" y="60325"/>
                  <a:pt x="60325" y="46821"/>
                  <a:pt x="60325" y="30162"/>
                </a:cubicBezTo>
                <a:cubicBezTo>
                  <a:pt x="60325" y="13504"/>
                  <a:pt x="46821" y="0"/>
                  <a:pt x="30162" y="0"/>
                </a:cubicBezTo>
                <a:cubicBezTo>
                  <a:pt x="13504" y="0"/>
                  <a:pt x="0" y="13504"/>
                  <a:pt x="0" y="30162"/>
                </a:cubicBezTo>
              </a:path>
            </a:pathLst>
          </a:custGeom>
          <a:noFill xmlns:a="http://schemas.openxmlformats.org/drawingml/2006/main"/>
          <a:ln xmlns:a="http://schemas.openxmlformats.org/drawingml/2006/main" w="30162">
            <a:solidFill>
              <a:schemeClr val="accent3"/>
            </a:solidFill>
          </a:ln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07BA34FF-5A5B-4EDE-A03D-29CC0023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95606" y="1407319"/>
            <a:ext cx="60325" cy="60325"/>
          </a:xfrm>
          <a:custGeom xmlns:a="http://schemas.openxmlformats.org/drawingml/2006/main">
            <a:rect l="l" t="t" r="r" b="b"/>
            <a:pathLst>
              <a:path w="60325" h="60325">
                <a:moveTo>
                  <a:pt x="30162" y="60325"/>
                </a:moveTo>
                <a:cubicBezTo>
                  <a:pt x="46821" y="60325"/>
                  <a:pt x="60325" y="46821"/>
                  <a:pt x="60325" y="30162"/>
                </a:cubicBezTo>
                <a:cubicBezTo>
                  <a:pt x="60325" y="13504"/>
                  <a:pt x="46821" y="0"/>
                  <a:pt x="30162" y="0"/>
                </a:cubicBezTo>
                <a:cubicBezTo>
                  <a:pt x="13504" y="0"/>
                  <a:pt x="0" y="13504"/>
                  <a:pt x="0" y="30162"/>
                </a:cubicBezTo>
                <a:cubicBezTo>
                  <a:pt x="0" y="46821"/>
                  <a:pt x="13504" y="60325"/>
                  <a:pt x="30162" y="603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30162">
            <a:solidFill>
              <a:schemeClr val="accent3"/>
            </a:solidFill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6A623B34-6EEC-4460-BBB2-3B5961CE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14631" y="1437481"/>
            <a:ext cx="226218" cy="211137"/>
          </a:xfrm>
          <a:custGeom xmlns:a="http://schemas.openxmlformats.org/drawingml/2006/main">
            <a:rect l="l" t="t" r="r" b="b"/>
            <a:pathLst>
              <a:path w="226218" h="211137">
                <a:moveTo>
                  <a:pt x="90487" y="211137"/>
                </a:moveTo>
                <a:lnTo>
                  <a:pt x="173434" y="211137"/>
                </a:lnTo>
                <a:cubicBezTo>
                  <a:pt x="202586" y="211137"/>
                  <a:pt x="226218" y="187505"/>
                  <a:pt x="226218" y="158353"/>
                </a:cubicBezTo>
                <a:cubicBezTo>
                  <a:pt x="226218" y="129201"/>
                  <a:pt x="202586" y="105569"/>
                  <a:pt x="173434" y="105569"/>
                </a:cubicBezTo>
                <a:lnTo>
                  <a:pt x="52784" y="105569"/>
                </a:lnTo>
                <a:cubicBezTo>
                  <a:pt x="23632" y="105569"/>
                  <a:pt x="0" y="81936"/>
                  <a:pt x="0" y="52784"/>
                </a:cubicBezTo>
                <a:cubicBezTo>
                  <a:pt x="0" y="23632"/>
                  <a:pt x="23632" y="0"/>
                  <a:pt x="52784" y="0"/>
                </a:cubicBezTo>
                <a:lnTo>
                  <a:pt x="120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162">
            <a:solidFill>
              <a:schemeClr val="accent3"/>
            </a:solidFill>
          </a:ln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EF031068-3650-433E-B89E-C0FD3838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4608" y="907732"/>
            <a:ext cx="1151184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>
                <a:solidFill>
                  <a:schemeClr val="dk1"/>
                </a:solidFill>
                <a:latin typeface="+mn-lt"/>
                <a:ea typeface="+mn-lt"/>
                <a:cs typeface="+mn-lt"/>
              </a:rPr>
              <a:t>Agent 规划</a:t>
            </a:r>
          </a:p>
        </p:txBody>
      </p:sp>
      <p:sp>
        <p:nvSpPr>
          <p:cNvPr id="25" name="Ellipse 25">
            <a:extLst xmlns:a="http://schemas.openxmlformats.org/drawingml/2006/main">
              <a:ext uri="{FF2B5EF4-FFF2-40B4-BE49-F238E27FC236}">
                <a16:creationId xmlns:a16="http://schemas.microsoft.com/office/drawing/2014/main" id="{4FA71DEB-3036-4EB0-B804-8078B3A1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1725" y="30194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chemeClr val="accent2"/>
            </a:solidFill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CAF2C333-CB7A-4D9D-8525-C4E13A73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69016" y="3217069"/>
            <a:ext cx="294509" cy="269139"/>
          </a:xfrm>
          <a:custGeom xmlns:a="http://schemas.openxmlformats.org/drawingml/2006/main">
            <a:rect l="l" t="t" r="r" b="b"/>
            <a:pathLst>
              <a:path w="294509" h="269139">
                <a:moveTo>
                  <a:pt x="147940" y="269139"/>
                </a:moveTo>
                <a:cubicBezTo>
                  <a:pt x="53463" y="239854"/>
                  <a:pt x="0" y="140141"/>
                  <a:pt x="27893" y="45244"/>
                </a:cubicBezTo>
                <a:cubicBezTo>
                  <a:pt x="74879" y="47394"/>
                  <a:pt x="120857" y="31166"/>
                  <a:pt x="156084" y="0"/>
                </a:cubicBezTo>
                <a:cubicBezTo>
                  <a:pt x="191311" y="31166"/>
                  <a:pt x="237288" y="47394"/>
                  <a:pt x="284274" y="45244"/>
                </a:cubicBezTo>
                <a:cubicBezTo>
                  <a:pt x="294509" y="80068"/>
                  <a:pt x="294037" y="117165"/>
                  <a:pt x="282917" y="151717"/>
                </a:cubicBezTo>
              </a:path>
            </a:pathLst>
          </a:custGeom>
          <a:noFill xmlns:a="http://schemas.openxmlformats.org/drawingml/2006/main"/>
          <a:ln xmlns:a="http://schemas.openxmlformats.org/drawingml/2006/main" w="30162">
            <a:solidFill>
              <a:srgbClr val="16A085"/>
            </a:solidFill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442E1E0B-7004-4779-8643-A1672507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0343" y="3428206"/>
            <a:ext cx="90487" cy="60325"/>
          </a:xfrm>
          <a:custGeom xmlns:a="http://schemas.openxmlformats.org/drawingml/2006/main">
            <a:rect l="l" t="t" r="r" b="b"/>
            <a:pathLst>
              <a:path w="90487" h="60325">
                <a:moveTo>
                  <a:pt x="0" y="30162"/>
                </a:moveTo>
                <a:lnTo>
                  <a:pt x="30162" y="60325"/>
                </a:lnTo>
                <a:lnTo>
                  <a:pt x="904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162">
            <a:solidFill>
              <a:srgbClr val="16A085"/>
            </a:solidFill>
          </a:ln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9BECBE63-1B52-4E94-8D40-9B5B530B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64418" y="3250882"/>
            <a:ext cx="905256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chemeClr val="dk1"/>
                </a:solidFill>
                <a:latin typeface="+mn-lt"/>
                <a:ea typeface="+mn-lt"/>
                <a:cs typeface="+mn-lt"/>
              </a:rPr>
              <a:t>方案可证</a:t>
            </a:r>
          </a:p>
        </p:txBody>
      </p:sp>
      <p:sp>
        <p:nvSpPr>
          <p:cNvPr id="30" name="Ellipse 30">
            <a:extLst xmlns:a="http://schemas.openxmlformats.org/drawingml/2006/main">
              <a:ext uri="{FF2B5EF4-FFF2-40B4-BE49-F238E27FC236}">
                <a16:creationId xmlns:a16="http://schemas.microsoft.com/office/drawing/2014/main" id="{52724FF2-5FAA-4CB0-9189-75C9CA9E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10450" y="40767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8575">
            <a:solidFill>
              <a:schemeClr val="accent1"/>
            </a:solidFill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91713A77-28DB-45D8-8EB1-3075D740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37475" y="4312444"/>
            <a:ext cx="146050" cy="146050"/>
          </a:xfrm>
          <a:custGeom xmlns:a="http://schemas.openxmlformats.org/drawingml/2006/main">
            <a:rect l="l" t="t" r="r" b="b"/>
            <a:pathLst>
              <a:path w="146050" h="146050">
                <a:moveTo>
                  <a:pt x="0" y="73025"/>
                </a:moveTo>
                <a:cubicBezTo>
                  <a:pt x="0" y="113356"/>
                  <a:pt x="32694" y="146050"/>
                  <a:pt x="73025" y="146050"/>
                </a:cubicBezTo>
                <a:cubicBezTo>
                  <a:pt x="113356" y="146050"/>
                  <a:pt x="146050" y="113356"/>
                  <a:pt x="146050" y="73025"/>
                </a:cubicBezTo>
                <a:cubicBezTo>
                  <a:pt x="146050" y="32694"/>
                  <a:pt x="113356" y="0"/>
                  <a:pt x="73025" y="0"/>
                </a:cubicBezTo>
                <a:cubicBezTo>
                  <a:pt x="32694" y="0"/>
                  <a:pt x="0" y="32694"/>
                  <a:pt x="0" y="730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36513">
            <a:solidFill>
              <a:srgbClr val="FFFFFF"/>
            </a:solidFill>
          </a:ln>
        </p:spPr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F7061B5B-AFA6-4CA1-9D89-97DC12C8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00963" y="4531519"/>
            <a:ext cx="146050" cy="109538"/>
          </a:xfrm>
          <a:custGeom xmlns:a="http://schemas.openxmlformats.org/drawingml/2006/main">
            <a:rect l="l" t="t" r="r" b="b"/>
            <a:pathLst>
              <a:path w="146050" h="109538">
                <a:moveTo>
                  <a:pt x="0" y="109538"/>
                </a:moveTo>
                <a:lnTo>
                  <a:pt x="0" y="73025"/>
                </a:lnTo>
                <a:cubicBezTo>
                  <a:pt x="0" y="32694"/>
                  <a:pt x="32694" y="0"/>
                  <a:pt x="73025" y="0"/>
                </a:cubicBezTo>
                <a:lnTo>
                  <a:pt x="146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13">
            <a:solidFill>
              <a:srgbClr val="FFFFFF"/>
            </a:solidFill>
          </a:ln>
        </p:spPr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FAD007F2-04BC-46AB-A889-74613B89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65269" y="4568032"/>
            <a:ext cx="109538" cy="73025"/>
          </a:xfrm>
          <a:custGeom xmlns:a="http://schemas.openxmlformats.org/drawingml/2006/main">
            <a:rect l="l" t="t" r="r" b="b"/>
            <a:pathLst>
              <a:path w="109538" h="73025">
                <a:moveTo>
                  <a:pt x="0" y="36513"/>
                </a:moveTo>
                <a:lnTo>
                  <a:pt x="36513" y="73025"/>
                </a:lnTo>
                <a:lnTo>
                  <a:pt x="1095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13">
            <a:solidFill>
              <a:srgbClr val="FFFFFF"/>
            </a:solidFill>
          </a:ln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B7BAE8E6-5D78-4095-827F-B1BA9D8A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02431" y="4984432"/>
            <a:ext cx="1416139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人工决策边界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49B5CF7C-F706-40C5-B522-F4CB61C7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10350" y="5162550"/>
            <a:ext cx="2400300" cy="9525"/>
          </a:xfrm>
          <a:custGeom xmlns:a="http://schemas.openxmlformats.org/drawingml/2006/main">
            <a:rect l="l" t="t" r="r" b="b"/>
            <a:pathLst>
              <a:path w="2400300" h="9525">
                <a:moveTo>
                  <a:pt x="0" y="0"/>
                </a:moveTo>
                <a:lnTo>
                  <a:pt x="2400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6"/>
            </a:solidFill>
          </a:ln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E54FB384-5CB0-4118-A451-B70DA785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42252" y="5375910"/>
            <a:ext cx="2136496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E5484D"/>
                </a:solidFill>
                <a:latin typeface="+mn-lt"/>
                <a:ea typeface="+mn-lt"/>
                <a:cs typeface="+mn-lt"/>
              </a:rPr>
              <a:t>不控制设备 · 不替代现场人员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9CA87615-DBD4-49EC-BF9B-0724DCC4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309360"/>
            <a:ext cx="3747059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GOAI 2026 · 可运行 PoC · 公开数据 · 可复现证据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FA863147-6744-4BD2-96D3-C44A8367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98606" y="6309360"/>
            <a:ext cx="18989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7E9AAA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764912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755ED27F-7257-4107-BF6B-DF860AF1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1312" y="411480"/>
            <a:ext cx="10112075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一封“晚 48 小时”的邮件，三张订单同时失约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14458D01-9425-4692-8E2B-CA07CE02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1218" y="1002982"/>
            <a:ext cx="6670396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异常不会停在收件箱里，它会沿着 BOM、供应和排产关系扩散。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4D50D77-F559-420A-B89B-D656B5B4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1619250"/>
            <a:ext cx="409575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A283511-6F87-43A2-827C-4A2D6355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1619250"/>
            <a:ext cx="409575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63424FF-8B25-429A-AEDC-A12A8051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20383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FE2F212-A3AA-4967-94A6-D1BEAE00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8681" y="1820069"/>
            <a:ext cx="242888" cy="188913"/>
          </a:xfrm>
          <a:custGeom xmlns:a="http://schemas.openxmlformats.org/drawingml/2006/main">
            <a:rect l="l" t="t" r="r" b="b"/>
            <a:pathLst>
              <a:path w="242888" h="188913">
                <a:moveTo>
                  <a:pt x="0" y="26988"/>
                </a:moveTo>
                <a:cubicBezTo>
                  <a:pt x="0" y="12083"/>
                  <a:pt x="12083" y="0"/>
                  <a:pt x="26988" y="0"/>
                </a:cubicBezTo>
                <a:lnTo>
                  <a:pt x="215901" y="0"/>
                </a:lnTo>
                <a:cubicBezTo>
                  <a:pt x="230805" y="0"/>
                  <a:pt x="242888" y="12083"/>
                  <a:pt x="242888" y="26988"/>
                </a:cubicBezTo>
                <a:lnTo>
                  <a:pt x="242888" y="161925"/>
                </a:lnTo>
                <a:cubicBezTo>
                  <a:pt x="242888" y="176830"/>
                  <a:pt x="230805" y="188913"/>
                  <a:pt x="215901" y="188913"/>
                </a:cubicBezTo>
                <a:lnTo>
                  <a:pt x="26988" y="188913"/>
                </a:lnTo>
                <a:cubicBezTo>
                  <a:pt x="12083" y="188913"/>
                  <a:pt x="0" y="176830"/>
                  <a:pt x="0" y="161925"/>
                </a:cubicBezTo>
                <a:lnTo>
                  <a:pt x="0" y="26988"/>
                </a:ln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chemeClr val="accent1"/>
            </a:solidFill>
          </a:ln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28CF9677-5DCC-47C8-A33C-C4AB110F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8681" y="1847056"/>
            <a:ext cx="242888" cy="80963"/>
          </a:xfrm>
          <a:custGeom xmlns:a="http://schemas.openxmlformats.org/drawingml/2006/main">
            <a:rect l="l" t="t" r="r" b="b"/>
            <a:pathLst>
              <a:path w="242888" h="80963">
                <a:moveTo>
                  <a:pt x="0" y="0"/>
                </a:moveTo>
                <a:lnTo>
                  <a:pt x="121444" y="80963"/>
                </a:lnTo>
                <a:lnTo>
                  <a:pt x="2428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988">
            <a:solidFill>
              <a:schemeClr val="accent1"/>
            </a:solidFill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9DF6D25F-344E-4B58-B673-94585A79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6068" y="1822132"/>
            <a:ext cx="1882597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供应异常演练邮件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C30CA8EA-5436-4527-B300-696690D4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918" y="2441258"/>
            <a:ext cx="822873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Subject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5EF28B1D-F762-4D59-A61D-FA5471C5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870" y="2738438"/>
            <a:ext cx="2761602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Q2J 座椅供应中断</a:t>
            </a:r>
          </a:p>
        </p:txBody>
      </p:sp>
      <p:sp>
        <p:nvSpPr>
          <p:cNvPr id="13" name="Line 13">
            <a:extLst xmlns:a="http://schemas.openxmlformats.org/drawingml/2006/main">
              <a:ext uri="{FF2B5EF4-FFF2-40B4-BE49-F238E27FC236}">
                <a16:creationId xmlns:a16="http://schemas.microsoft.com/office/drawing/2014/main" id="{BD4C1FAC-D88A-441A-8119-47CDAD4F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6300" y="3219450"/>
            <a:ext cx="3562350" cy="9525"/>
          </a:xfrm>
          <a:custGeom xmlns:a="http://schemas.openxmlformats.org/drawingml/2006/main">
            <a:rect l="l" t="t" r="r" b="b"/>
            <a:pathLst>
              <a:path w="3562350" h="9525">
                <a:moveTo>
                  <a:pt x="0" y="0"/>
                </a:moveTo>
                <a:lnTo>
                  <a:pt x="3562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chemeClr val="accent5"/>
            </a:solidFill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C3A7AAAC-E8FA-4841-8474-ECE024A2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870" y="3395662"/>
            <a:ext cx="65894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未来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E7E07546-7A37-4740-A88B-46591EEE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6400" y="3274695"/>
            <a:ext cx="1297537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400" b="1">
                <a:solidFill>
                  <a:schemeClr val="accent6"/>
                </a:solidFill>
                <a:latin typeface="Consolas"/>
                <a:ea typeface="Consolas"/>
                <a:cs typeface="Consolas"/>
              </a:rPr>
              <a:t>48h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9E6041EA-6116-49D5-B090-D7A992D0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870" y="4119562"/>
            <a:ext cx="1931098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无法正常发运</a:t>
            </a:r>
          </a:p>
        </p:txBody>
      </p:sp>
      <p:sp>
        <p:nvSpPr>
          <p:cNvPr id="17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C7859F3E-5CA1-44F3-AFD0-756AF107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6300" y="4762500"/>
            <a:ext cx="3143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>
            <a:noFill/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373B7843-0595-46FA-93C0-10D6A5E2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0318" y="4898708"/>
            <a:ext cx="2937681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9B5B00"/>
                </a:solidFill>
                <a:latin typeface="+mn-lt"/>
                <a:ea typeface="+mn-lt"/>
                <a:cs typeface="+mn-lt"/>
              </a:rPr>
              <a:t>模拟演练 · 不代表真实供应商</a:t>
            </a:r>
          </a:p>
        </p:txBody>
      </p:sp>
      <p:sp>
        <p:nvSpPr>
          <p:cNvPr id="20" name="Ellipse 20">
            <a:extLst xmlns:a="http://schemas.openxmlformats.org/drawingml/2006/main">
              <a:ext uri="{FF2B5EF4-FFF2-40B4-BE49-F238E27FC236}">
                <a16:creationId xmlns:a16="http://schemas.microsoft.com/office/drawing/2014/main" id="{BFFF33F6-3A9C-4EC5-86FE-B124E913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34050" y="2914650"/>
            <a:ext cx="1295400" cy="12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chemeClr val="accent2"/>
            </a:solidFill>
          </a:ln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9E51E7FF-88CE-49F5-B0F5-4EA7948F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1750" y="3362325"/>
            <a:ext cx="9525" cy="88900"/>
          </a:xfrm>
          <a:custGeom xmlns:a="http://schemas.openxmlformats.org/drawingml/2006/main">
            <a:rect l="l" t="t" r="r" b="b"/>
            <a:pathLst>
              <a:path w="952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 xmlns:a="http://schemas.openxmlformats.org/drawingml/2006/main"/>
          <a:ln xmlns:a="http://schemas.openxmlformats.org/drawingml/2006/main" w="44450">
            <a:solidFill>
              <a:schemeClr val="accent6"/>
            </a:solidFill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73680C93-F4A2-4B71-8AEF-34430CCA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7608" y="3221591"/>
            <a:ext cx="448265" cy="385119"/>
          </a:xfrm>
          <a:custGeom xmlns:a="http://schemas.openxmlformats.org/drawingml/2006/main">
            <a:rect l="l" t="t" r="r" b="b"/>
            <a:pathLst>
              <a:path w="448265" h="385119">
                <a:moveTo>
                  <a:pt x="187759" y="20519"/>
                </a:moveTo>
                <a:lnTo>
                  <a:pt x="7603" y="321311"/>
                </a:lnTo>
                <a:cubicBezTo>
                  <a:pt x="46" y="334399"/>
                  <a:pt x="0" y="350513"/>
                  <a:pt x="7482" y="363644"/>
                </a:cubicBezTo>
                <a:cubicBezTo>
                  <a:pt x="14965" y="376774"/>
                  <a:pt x="28852" y="384949"/>
                  <a:pt x="43964" y="385119"/>
                </a:cubicBezTo>
                <a:lnTo>
                  <a:pt x="404319" y="385119"/>
                </a:lnTo>
                <a:cubicBezTo>
                  <a:pt x="419424" y="384945"/>
                  <a:pt x="433304" y="376773"/>
                  <a:pt x="440785" y="363650"/>
                </a:cubicBezTo>
                <a:cubicBezTo>
                  <a:pt x="448265" y="350526"/>
                  <a:pt x="448225" y="334420"/>
                  <a:pt x="440679" y="321333"/>
                </a:cubicBezTo>
                <a:lnTo>
                  <a:pt x="260524" y="20496"/>
                </a:lnTo>
                <a:cubicBezTo>
                  <a:pt x="252815" y="7772"/>
                  <a:pt x="239019" y="0"/>
                  <a:pt x="224141" y="0"/>
                </a:cubicBezTo>
                <a:cubicBezTo>
                  <a:pt x="209264" y="0"/>
                  <a:pt x="195468" y="7772"/>
                  <a:pt x="187759" y="20496"/>
                </a:cubicBezTo>
              </a:path>
            </a:pathLst>
          </a:custGeom>
          <a:noFill xmlns:a="http://schemas.openxmlformats.org/drawingml/2006/main"/>
          <a:ln xmlns:a="http://schemas.openxmlformats.org/drawingml/2006/main" w="44450">
            <a:solidFill>
              <a:schemeClr val="accent6"/>
            </a:solidFill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84D0C6D5-2E9A-4E71-AFFC-B16C02F7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1750" y="3517899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2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450">
            <a:solidFill>
              <a:schemeClr val="accent6"/>
            </a:solidFill>
          </a:ln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EEEDE349-1E66-4244-8DFB-6AC5C2DC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23935" y="3806190"/>
            <a:ext cx="51563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Q2J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9F909926-4FC3-4451-BB2E-0E6F0FAE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29450" y="2333625"/>
            <a:ext cx="1143000" cy="1228725"/>
          </a:xfrm>
          <a:custGeom xmlns:a="http://schemas.openxmlformats.org/drawingml/2006/main">
            <a:rect l="l" t="t" r="r" b="b"/>
            <a:pathLst>
              <a:path w="1143000" h="1228725">
                <a:moveTo>
                  <a:pt x="0" y="1228725"/>
                </a:moveTo>
                <a:lnTo>
                  <a:pt x="495300" y="1228725"/>
                </a:lnTo>
                <a:lnTo>
                  <a:pt x="495300" y="0"/>
                </a:lnTo>
                <a:lnTo>
                  <a:pt x="114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chemeClr val="accent2"/>
            </a:solidFill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105305C4-BA55-44FD-8012-6C6A0230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29450" y="3562350"/>
            <a:ext cx="1143000" cy="9525"/>
          </a:xfrm>
          <a:custGeom xmlns:a="http://schemas.openxmlformats.org/drawingml/2006/main"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chemeClr val="accent2"/>
            </a:solidFill>
          </a:ln>
        </p:spPr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97A03112-3FA8-4428-9A45-37779488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29450" y="3562350"/>
            <a:ext cx="1143000" cy="1228725"/>
          </a:xfrm>
          <a:custGeom xmlns:a="http://schemas.openxmlformats.org/drawingml/2006/main">
            <a:rect l="l" t="t" r="r" b="b"/>
            <a:pathLst>
              <a:path w="1143000" h="1228725">
                <a:moveTo>
                  <a:pt x="0" y="0"/>
                </a:moveTo>
                <a:lnTo>
                  <a:pt x="495300" y="0"/>
                </a:lnTo>
                <a:lnTo>
                  <a:pt x="495300" y="1228725"/>
                </a:lnTo>
                <a:lnTo>
                  <a:pt x="1143000" y="12287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chemeClr val="accent2"/>
            </a:solidFill>
          </a:ln>
        </p:spPr>
      </p:sp>
      <p:sp>
        <p:nvSpPr>
          <p:cNvPr id="29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CB05C4F4-1291-40B0-903B-1399EB52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2450" y="1885950"/>
            <a:ext cx="272415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C5FA5017-BB08-4AC1-BD3E-0EF5B26C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1718" y="2041208"/>
            <a:ext cx="1216228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订单配置 01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B7A85FE2-40A6-475A-8F6B-63C22EAD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06384" y="2318385"/>
            <a:ext cx="943386" cy="528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91 台</a:t>
            </a:r>
          </a:p>
        </p:txBody>
      </p:sp>
      <p:sp>
        <p:nvSpPr>
          <p:cNvPr id="33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046F1566-0296-4951-8F4D-FB529745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2450" y="3105150"/>
            <a:ext cx="272415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CE5A19EE-AD38-4237-BC57-0AAFA032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1718" y="3260408"/>
            <a:ext cx="1216228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订单配置 02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36F3946E-F694-48DA-B643-4AE41EAB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06384" y="3537585"/>
            <a:ext cx="943386" cy="528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81 台</a:t>
            </a:r>
          </a:p>
        </p:txBody>
      </p:sp>
      <p:sp>
        <p:nvSpPr>
          <p:cNvPr id="37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F3E23192-5E40-4F10-8681-547841D4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2450" y="4324350"/>
            <a:ext cx="272415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AECEB088-874F-4876-8145-CD1E1B7E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1718" y="4479608"/>
            <a:ext cx="1216228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订单配置 03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6AF79B28-C19A-4306-89B5-3FC3F098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06384" y="4756785"/>
            <a:ext cx="943386" cy="528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45 台</a:t>
            </a:r>
          </a:p>
        </p:txBody>
      </p:sp>
      <p:sp>
        <p:nvSpPr>
          <p:cNvPr id="41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032F947C-D214-4039-9519-40B274F2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86600" y="5524500"/>
            <a:ext cx="38100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DDAEC9C8-739D-4109-8627-A7500A5E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27276" y="5681662"/>
            <a:ext cx="2328648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50" b="1">
                <a:solidFill>
                  <a:srgbClr val="FFFFFF"/>
                </a:solidFill>
                <a:latin typeface="+mn-lt"/>
                <a:ea typeface="+mn-lt"/>
                <a:cs typeface="+mn-lt"/>
              </a:rPr>
              <a:t>合计影响 217 台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6827D647-1B9A-4E61-9ED8-A73528EC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271260"/>
            <a:ext cx="653857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数据类别：91 / 81 / 45 / 217 来自公开数据派生案例；邮件和 48 小时事故为确定性模拟。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BFB741F0-B99F-434A-B283-74895028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98606" y="6271260"/>
            <a:ext cx="18989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7E9AAA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472902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62BEBAEA-D928-4302-BC77-4DC4ADF3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1312" y="411480"/>
            <a:ext cx="10722712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这不是一次问答，而是一条必须可复算的任务链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75A41AB9-1626-43A2-A3F0-957B9040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1218" y="1022032"/>
            <a:ext cx="5419298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Agent 的价值在于管理任务、工具、状态与责任边界。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FB728861-EE9D-4076-B221-3C1423DE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950" y="3086100"/>
            <a:ext cx="9782175" cy="9525"/>
          </a:xfrm>
          <a:custGeom xmlns:a="http://schemas.openxmlformats.org/drawingml/2006/main">
            <a:rect l="l" t="t" r="r" b="b"/>
            <a:pathLst>
              <a:path w="9782175" h="9525">
                <a:moveTo>
                  <a:pt x="0" y="0"/>
                </a:moveTo>
                <a:lnTo>
                  <a:pt x="9782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0">
            <a:solidFill>
              <a:schemeClr val="accent5"/>
            </a:solidFill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3A9393CA-9189-470A-A6FD-FEBC81E8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3950" y="3086100"/>
            <a:ext cx="8458200" cy="9525"/>
          </a:xfrm>
          <a:custGeom xmlns:a="http://schemas.openxmlformats.org/drawingml/2006/main">
            <a:rect l="l" t="t" r="r" b="b"/>
            <a:pathLst>
              <a:path w="8458200" h="9525">
                <a:moveTo>
                  <a:pt x="0" y="0"/>
                </a:moveTo>
                <a:lnTo>
                  <a:pt x="845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2"/>
            </a:solidFill>
          </a:ln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54ECF9EE-3CD6-41BD-A68C-4191C866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82150" y="3086100"/>
            <a:ext cx="1323975" cy="9525"/>
          </a:xfrm>
          <a:custGeom xmlns:a="http://schemas.openxmlformats.org/drawingml/2006/main">
            <a:rect l="l" t="t" r="r" b="b"/>
            <a:pathLst>
              <a:path w="1323975" h="9525">
                <a:moveTo>
                  <a:pt x="0" y="0"/>
                </a:moveTo>
                <a:lnTo>
                  <a:pt x="1323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3"/>
            </a:solidFill>
          </a:ln>
        </p:spPr>
      </p:sp>
      <p:sp>
        <p:nvSpPr>
          <p:cNvPr id="7" name="Ellipse 7">
            <a:extLst xmlns:a="http://schemas.openxmlformats.org/drawingml/2006/main">
              <a:ext uri="{FF2B5EF4-FFF2-40B4-BE49-F238E27FC236}">
                <a16:creationId xmlns:a16="http://schemas.microsoft.com/office/drawing/2014/main" id="{CF02B806-5118-4843-8FEC-9930A124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4850" y="26670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chemeClr val="accent2"/>
            </a:solidFill>
          </a:ln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2A8ADBAB-62C1-4FFF-969B-1DFAE70F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500" y="2952750"/>
            <a:ext cx="342900" cy="266700"/>
          </a:xfrm>
          <a:custGeom xmlns:a="http://schemas.openxmlformats.org/drawingml/2006/main">
            <a:rect l="l" t="t" r="r" b="b"/>
            <a:pathLst>
              <a:path w="342900" h="266700">
                <a:moveTo>
                  <a:pt x="0" y="38100"/>
                </a:moveTo>
                <a:cubicBezTo>
                  <a:pt x="0" y="17058"/>
                  <a:pt x="17058" y="0"/>
                  <a:pt x="38100" y="0"/>
                </a:cubicBezTo>
                <a:lnTo>
                  <a:pt x="304800" y="0"/>
                </a:lnTo>
                <a:cubicBezTo>
                  <a:pt x="325842" y="0"/>
                  <a:pt x="342900" y="17058"/>
                  <a:pt x="342900" y="38100"/>
                </a:cubicBezTo>
                <a:lnTo>
                  <a:pt x="342900" y="228600"/>
                </a:lnTo>
                <a:cubicBezTo>
                  <a:pt x="342900" y="249642"/>
                  <a:pt x="325842" y="266700"/>
                  <a:pt x="3048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1"/>
            </a:solidFill>
          </a:ln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246590A7-456A-496F-BDE9-E69E255A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500" y="2990850"/>
            <a:ext cx="342900" cy="114300"/>
          </a:xfrm>
          <a:custGeom xmlns:a="http://schemas.openxmlformats.org/drawingml/2006/main">
            <a:rect l="l" t="t" r="r" b="b"/>
            <a:pathLst>
              <a:path w="342900" h="114300">
                <a:moveTo>
                  <a:pt x="0" y="0"/>
                </a:moveTo>
                <a:lnTo>
                  <a:pt x="171450" y="114300"/>
                </a:ln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1"/>
            </a:solidFill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C65EE0F7-B001-4D78-A928-4A260036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9110" y="3669982"/>
            <a:ext cx="949681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理解事故</a:t>
            </a:r>
          </a:p>
        </p:txBody>
      </p:sp>
      <p:sp>
        <p:nvSpPr>
          <p:cNvPr id="13" name="Ellipse 13">
            <a:extLst xmlns:a="http://schemas.openxmlformats.org/drawingml/2006/main">
              <a:ext uri="{FF2B5EF4-FFF2-40B4-BE49-F238E27FC236}">
                <a16:creationId xmlns:a16="http://schemas.microsoft.com/office/drawing/2014/main" id="{7CACD5C5-D246-4944-BD6F-753F063F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66950" y="26670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chemeClr val="accent2"/>
            </a:solidFill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7D84F45A-BCF0-4A66-98EB-5D509410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52700" y="2933700"/>
            <a:ext cx="228600" cy="304800"/>
          </a:xfrm>
          <a:custGeom xmlns:a="http://schemas.openxmlformats.org/drawingml/2006/main">
            <a:rect l="l" t="t" r="r" b="b"/>
            <a:pathLst>
              <a:path w="228600" h="304800">
                <a:moveTo>
                  <a:pt x="87916" y="304800"/>
                </a:move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lnTo>
                  <a:pt x="190500" y="0"/>
                </a:lnTo>
                <a:cubicBezTo>
                  <a:pt x="211542" y="0"/>
                  <a:pt x="228600" y="17058"/>
                  <a:pt x="228600" y="38100"/>
                </a:cubicBezTo>
                <a:lnTo>
                  <a:pt x="22860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1"/>
            </a:solidFill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A603692C-2979-402F-8795-2112CA19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24150" y="3181350"/>
            <a:ext cx="114300" cy="76200"/>
          </a:xfrm>
          <a:custGeom xmlns:a="http://schemas.openxmlformats.org/drawingml/2006/main">
            <a:rect l="l" t="t" r="r" b="b"/>
            <a:pathLst>
              <a:path w="114300" h="76200">
                <a:moveTo>
                  <a:pt x="0" y="38100"/>
                </a:moveTo>
                <a:lnTo>
                  <a:pt x="38100" y="76200"/>
                </a:ln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1"/>
            </a:solidFill>
          </a:ln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CDA53D9E-99A1-47F4-94F5-CE1D2A28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28900" y="3009900"/>
            <a:ext cx="76200" cy="9525"/>
          </a:xfrm>
          <a:custGeom xmlns:a="http://schemas.openxmlformats.org/drawingml/2006/main"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1"/>
            </a:solidFill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B5C72BF8-3BA6-4613-B962-B24CA4A8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28900" y="3086100"/>
            <a:ext cx="38100" cy="9525"/>
          </a:xfrm>
          <a:custGeom xmlns:a="http://schemas.openxmlformats.org/drawingml/2006/main">
            <a:rect l="l" t="t" r="r" b="b"/>
            <a:pathLst>
              <a:path w="38100" h="952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1"/>
            </a:solidFill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55F45295-D555-4AA5-A622-A9E80AC2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11210" y="3669982"/>
            <a:ext cx="949681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校验实体</a:t>
            </a:r>
          </a:p>
        </p:txBody>
      </p:sp>
      <p:sp>
        <p:nvSpPr>
          <p:cNvPr id="21" name="Ellipse 21">
            <a:extLst xmlns:a="http://schemas.openxmlformats.org/drawingml/2006/main">
              <a:ext uri="{FF2B5EF4-FFF2-40B4-BE49-F238E27FC236}">
                <a16:creationId xmlns:a16="http://schemas.microsoft.com/office/drawing/2014/main" id="{3C5C07A3-0473-4F12-AFC5-A82A2BBA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29050" y="26670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chemeClr val="accent3"/>
            </a:solidFill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1D2200FB-8FCF-447E-A33F-23318C89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76700" y="3181350"/>
            <a:ext cx="76200" cy="76200"/>
          </a:xfrm>
          <a:custGeom xmlns:a="http://schemas.openxmlformats.org/drawingml/2006/main">
            <a:rect l="l" t="t" r="r" b="b"/>
            <a:pathLst>
              <a:path w="76200" h="76200">
                <a:moveTo>
                  <a:pt x="0" y="38100"/>
                </a:moveTo>
                <a:cubicBezTo>
                  <a:pt x="0" y="59142"/>
                  <a:pt x="17058" y="76200"/>
                  <a:pt x="38100" y="76200"/>
                </a:cubicBezTo>
                <a:cubicBezTo>
                  <a:pt x="59142" y="76200"/>
                  <a:pt x="76200" y="59142"/>
                  <a:pt x="76200" y="38100"/>
                </a:cubicBezTo>
                <a:cubicBezTo>
                  <a:pt x="76200" y="17058"/>
                  <a:pt x="59142" y="0"/>
                  <a:pt x="38100" y="0"/>
                </a:cubicBezTo>
                <a:cubicBezTo>
                  <a:pt x="17058" y="0"/>
                  <a:pt x="0" y="17058"/>
                  <a:pt x="0" y="381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3"/>
            </a:solidFill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9115A5BC-63E0-49CF-88A9-379D5CD2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43400" y="2914650"/>
            <a:ext cx="76200" cy="76200"/>
          </a:xfrm>
          <a:custGeom xmlns:a="http://schemas.openxmlformats.org/drawingml/2006/main">
            <a:rect l="l" t="t" r="r" b="b"/>
            <a:pathLst>
              <a:path w="76200" h="76200">
                <a:moveTo>
                  <a:pt x="38100" y="76200"/>
                </a:moveTo>
                <a:cubicBezTo>
                  <a:pt x="59142" y="76200"/>
                  <a:pt x="76200" y="59142"/>
                  <a:pt x="76200" y="38100"/>
                </a:cubicBezTo>
                <a:cubicBezTo>
                  <a:pt x="76200" y="17058"/>
                  <a:pt x="59142" y="0"/>
                  <a:pt x="38100" y="0"/>
                </a:cubicBezTo>
                <a:cubicBezTo>
                  <a:pt x="17058" y="0"/>
                  <a:pt x="0" y="17058"/>
                  <a:pt x="0" y="38100"/>
                </a:cubicBezTo>
                <a:cubicBezTo>
                  <a:pt x="0" y="59142"/>
                  <a:pt x="17058" y="76200"/>
                  <a:pt x="38100" y="762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3"/>
            </a:solidFill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F4EAF1A7-7A8A-4138-80E3-5C63356E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14800" y="2952750"/>
            <a:ext cx="285750" cy="266700"/>
          </a:xfrm>
          <a:custGeom xmlns:a="http://schemas.openxmlformats.org/drawingml/2006/main">
            <a:rect l="l" t="t" r="r" b="b"/>
            <a:pathLst>
              <a:path w="285750" h="266700">
                <a:moveTo>
                  <a:pt x="114300" y="266700"/>
                </a:moveTo>
                <a:lnTo>
                  <a:pt x="219075" y="266700"/>
                </a:lnTo>
                <a:cubicBezTo>
                  <a:pt x="255899" y="266700"/>
                  <a:pt x="285750" y="236849"/>
                  <a:pt x="285750" y="200025"/>
                </a:cubicBezTo>
                <a:cubicBezTo>
                  <a:pt x="285750" y="163201"/>
                  <a:pt x="255899" y="133350"/>
                  <a:pt x="219075" y="133350"/>
                </a:cubicBezTo>
                <a:lnTo>
                  <a:pt x="66675" y="133350"/>
                </a:lnTo>
                <a:cubicBezTo>
                  <a:pt x="29851" y="133350"/>
                  <a:pt x="0" y="103499"/>
                  <a:pt x="0" y="66675"/>
                </a:cubicBezTo>
                <a:cubicBezTo>
                  <a:pt x="0" y="29851"/>
                  <a:pt x="29851" y="0"/>
                  <a:pt x="66675" y="0"/>
                </a:cubicBez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3"/>
            </a:solidFill>
          </a:ln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8C62350D-DAAB-4F8F-8117-51AED68E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73310" y="3669982"/>
            <a:ext cx="949681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规划调查</a:t>
            </a:r>
          </a:p>
        </p:txBody>
      </p:sp>
      <p:sp>
        <p:nvSpPr>
          <p:cNvPr id="28" name="Ellipse 28">
            <a:extLst xmlns:a="http://schemas.openxmlformats.org/drawingml/2006/main">
              <a:ext uri="{FF2B5EF4-FFF2-40B4-BE49-F238E27FC236}">
                <a16:creationId xmlns:a16="http://schemas.microsoft.com/office/drawing/2014/main" id="{C7044DEA-57BE-44B1-B6BD-C2321812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91150" y="26670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chemeClr val="accent3"/>
            </a:solidFill>
          </a:ln>
        </p:spPr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E22B56EB-6A8E-4F2B-845F-B565964E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57850" y="2914650"/>
            <a:ext cx="304800" cy="114300"/>
          </a:xfrm>
          <a:custGeom xmlns:a="http://schemas.openxmlformats.org/drawingml/2006/main">
            <a:rect l="l" t="t" r="r" b="b"/>
            <a:pathLst>
              <a:path w="304800" h="114300">
                <a:moveTo>
                  <a:pt x="0" y="57150"/>
                </a:moveTo>
                <a:cubicBezTo>
                  <a:pt x="0" y="88713"/>
                  <a:pt x="68232" y="114300"/>
                  <a:pt x="152400" y="114300"/>
                </a:cubicBezTo>
                <a:cubicBezTo>
                  <a:pt x="236568" y="114300"/>
                  <a:pt x="304800" y="88713"/>
                  <a:pt x="304800" y="57150"/>
                </a:cubicBezTo>
                <a:cubicBezTo>
                  <a:pt x="304800" y="25587"/>
                  <a:pt x="236568" y="0"/>
                  <a:pt x="152400" y="0"/>
                </a:cubicBezTo>
                <a:cubicBezTo>
                  <a:pt x="68232" y="0"/>
                  <a:pt x="0" y="25587"/>
                  <a:pt x="0" y="571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3"/>
            </a:solidFill>
          </a:ln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A4973F5E-F621-463E-91D5-465036BF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57850" y="2971800"/>
            <a:ext cx="304800" cy="171450"/>
          </a:xfrm>
          <a:custGeom xmlns:a="http://schemas.openxmlformats.org/drawingml/2006/main">
            <a:rect l="l" t="t" r="r" b="b"/>
            <a:pathLst>
              <a:path w="304800" h="171450">
                <a:moveTo>
                  <a:pt x="0" y="0"/>
                </a:moveTo>
                <a:lnTo>
                  <a:pt x="0" y="114300"/>
                </a:lnTo>
                <a:cubicBezTo>
                  <a:pt x="0" y="145863"/>
                  <a:pt x="68232" y="171450"/>
                  <a:pt x="152400" y="171450"/>
                </a:cubicBezTo>
                <a:cubicBezTo>
                  <a:pt x="236568" y="171450"/>
                  <a:pt x="304800" y="145863"/>
                  <a:pt x="304800" y="114300"/>
                </a:cubicBezTo>
                <a:lnTo>
                  <a:pt x="30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3"/>
            </a:solidFill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004F3590-2074-464B-8633-A6542477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57850" y="3086100"/>
            <a:ext cx="304800" cy="171450"/>
          </a:xfrm>
          <a:custGeom xmlns:a="http://schemas.openxmlformats.org/drawingml/2006/main">
            <a:rect l="l" t="t" r="r" b="b"/>
            <a:pathLst>
              <a:path w="304800" h="171450">
                <a:moveTo>
                  <a:pt x="0" y="0"/>
                </a:moveTo>
                <a:lnTo>
                  <a:pt x="0" y="114300"/>
                </a:lnTo>
                <a:cubicBezTo>
                  <a:pt x="0" y="145863"/>
                  <a:pt x="68232" y="171450"/>
                  <a:pt x="152400" y="171450"/>
                </a:cubicBezTo>
                <a:cubicBezTo>
                  <a:pt x="236568" y="171450"/>
                  <a:pt x="304800" y="145863"/>
                  <a:pt x="304800" y="114300"/>
                </a:cubicBezTo>
                <a:lnTo>
                  <a:pt x="30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3"/>
            </a:solidFill>
          </a:ln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2992DBA5-135A-44D5-8622-6C451AB3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410" y="3669982"/>
            <a:ext cx="949681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调用工具</a:t>
            </a:r>
          </a:p>
        </p:txBody>
      </p:sp>
      <p:sp>
        <p:nvSpPr>
          <p:cNvPr id="35" name="Ellipse 35">
            <a:extLst xmlns:a="http://schemas.openxmlformats.org/drawingml/2006/main">
              <a:ext uri="{FF2B5EF4-FFF2-40B4-BE49-F238E27FC236}">
                <a16:creationId xmlns:a16="http://schemas.microsoft.com/office/drawing/2014/main" id="{F96F3268-4A69-4419-A524-C3CC1CC0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53250" y="26670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chemeClr val="accent2"/>
            </a:solidFill>
          </a:ln>
        </p:spPr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8FAB392F-E779-49EE-9E8B-7D718C15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00900" y="3086100"/>
            <a:ext cx="114300" cy="152400"/>
          </a:xfrm>
          <a:custGeom xmlns:a="http://schemas.openxmlformats.org/drawingml/2006/main"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29"/>
                  <a:pt x="8529" y="0"/>
                  <a:pt x="19050" y="0"/>
                </a:cubicBezTo>
                <a:lnTo>
                  <a:pt x="95250" y="0"/>
                </a:lnTo>
                <a:cubicBezTo>
                  <a:pt x="105771" y="0"/>
                  <a:pt x="114300" y="8529"/>
                  <a:pt x="114300" y="19050"/>
                </a:cubicBezTo>
                <a:lnTo>
                  <a:pt x="114300" y="133350"/>
                </a:lnTo>
                <a:cubicBezTo>
                  <a:pt x="114300" y="143871"/>
                  <a:pt x="105771" y="152400"/>
                  <a:pt x="95250" y="152400"/>
                </a:cubicBezTo>
                <a:lnTo>
                  <a:pt x="19050" y="152400"/>
                </a:lnTo>
                <a:cubicBezTo>
                  <a:pt x="8529" y="152400"/>
                  <a:pt x="0" y="143871"/>
                  <a:pt x="0" y="133350"/>
                </a:cubicBez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1"/>
            </a:solidFill>
          </a:ln>
        </p:spPr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4FEB2737-E9DC-4CA5-9CE8-FA2C6BE6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9500" y="3009900"/>
            <a:ext cx="114300" cy="228600"/>
          </a:xfrm>
          <a:custGeom xmlns:a="http://schemas.openxmlformats.org/drawingml/2006/main">
            <a:rect l="l" t="t" r="r" b="b"/>
            <a:pathLst>
              <a:path w="114300" h="228600">
                <a:moveTo>
                  <a:pt x="0" y="19050"/>
                </a:moveTo>
                <a:cubicBezTo>
                  <a:pt x="0" y="8529"/>
                  <a:pt x="8529" y="0"/>
                  <a:pt x="19050" y="0"/>
                </a:cubicBezTo>
                <a:lnTo>
                  <a:pt x="95250" y="0"/>
                </a:lnTo>
                <a:cubicBezTo>
                  <a:pt x="105771" y="0"/>
                  <a:pt x="114300" y="8529"/>
                  <a:pt x="114300" y="19050"/>
                </a:cubicBezTo>
                <a:lnTo>
                  <a:pt x="114300" y="209550"/>
                </a:lnTo>
                <a:cubicBezTo>
                  <a:pt x="114300" y="220071"/>
                  <a:pt x="105771" y="228600"/>
                  <a:pt x="95250" y="228600"/>
                </a:cubicBezTo>
                <a:lnTo>
                  <a:pt x="19050" y="228600"/>
                </a:lnTo>
                <a:cubicBezTo>
                  <a:pt x="8529" y="228600"/>
                  <a:pt x="0" y="220071"/>
                  <a:pt x="0" y="209550"/>
                </a:cubicBez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1"/>
            </a:solidFill>
          </a:ln>
        </p:spPr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656D7A64-221F-4F85-91D7-547769D2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5200" y="2933700"/>
            <a:ext cx="114300" cy="304800"/>
          </a:xfrm>
          <a:custGeom xmlns:a="http://schemas.openxmlformats.org/drawingml/2006/main">
            <a:rect l="l" t="t" r="r" b="b"/>
            <a:pathLst>
              <a:path w="114300" h="304800">
                <a:moveTo>
                  <a:pt x="0" y="19050"/>
                </a:moveTo>
                <a:cubicBezTo>
                  <a:pt x="0" y="8529"/>
                  <a:pt x="8529" y="0"/>
                  <a:pt x="19050" y="0"/>
                </a:cubicBezTo>
                <a:lnTo>
                  <a:pt x="95250" y="0"/>
                </a:lnTo>
                <a:cubicBezTo>
                  <a:pt x="105771" y="0"/>
                  <a:pt x="114300" y="8529"/>
                  <a:pt x="114300" y="19050"/>
                </a:cubicBezTo>
                <a:lnTo>
                  <a:pt x="114300" y="285750"/>
                </a:lnTo>
                <a:cubicBezTo>
                  <a:pt x="114300" y="296271"/>
                  <a:pt x="105771" y="304800"/>
                  <a:pt x="95250" y="304800"/>
                </a:cubicBezTo>
                <a:lnTo>
                  <a:pt x="19050" y="304800"/>
                </a:lnTo>
                <a:cubicBezTo>
                  <a:pt x="8529" y="304800"/>
                  <a:pt x="0" y="296271"/>
                  <a:pt x="0" y="285750"/>
                </a:cubicBez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1"/>
            </a:solidFill>
          </a:ln>
        </p:spPr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3BE208C9-BE23-44BE-A3E7-7BDC3380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19950" y="3238500"/>
            <a:ext cx="266700" cy="9525"/>
          </a:xfrm>
          <a:custGeom xmlns:a="http://schemas.openxmlformats.org/drawingml/2006/main">
            <a:rect l="l" t="t" r="r" b="b"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1"/>
            </a:solidFill>
          </a:ln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5D4D50E-3D1E-4611-A04A-2996A566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97510" y="3669982"/>
            <a:ext cx="949681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三套方案</a:t>
            </a:r>
          </a:p>
        </p:txBody>
      </p:sp>
      <p:sp>
        <p:nvSpPr>
          <p:cNvPr id="43" name="Ellipse 43">
            <a:extLst xmlns:a="http://schemas.openxmlformats.org/drawingml/2006/main">
              <a:ext uri="{FF2B5EF4-FFF2-40B4-BE49-F238E27FC236}">
                <a16:creationId xmlns:a16="http://schemas.microsoft.com/office/drawing/2014/main" id="{20673C17-DC3B-4602-B91A-3148CFEF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15350" y="26670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A085"/>
            </a:solidFill>
          </a:ln>
        </p:spPr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D92B5A9A-D117-4CDD-A1AA-F29A8AEC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37291" y="2914650"/>
            <a:ext cx="372013" cy="339966"/>
          </a:xfrm>
          <a:custGeom xmlns:a="http://schemas.openxmlformats.org/drawingml/2006/main">
            <a:rect l="l" t="t" r="r" b="b"/>
            <a:pathLst>
              <a:path w="372013" h="339966">
                <a:moveTo>
                  <a:pt x="186872" y="339966"/>
                </a:moveTo>
                <a:cubicBezTo>
                  <a:pt x="67532" y="302974"/>
                  <a:pt x="0" y="177021"/>
                  <a:pt x="35234" y="57150"/>
                </a:cubicBezTo>
                <a:cubicBezTo>
                  <a:pt x="94585" y="59866"/>
                  <a:pt x="152661" y="39368"/>
                  <a:pt x="197159" y="0"/>
                </a:cubicBezTo>
                <a:cubicBezTo>
                  <a:pt x="241657" y="39368"/>
                  <a:pt x="299733" y="59866"/>
                  <a:pt x="359084" y="57150"/>
                </a:cubicBezTo>
                <a:cubicBezTo>
                  <a:pt x="372013" y="101139"/>
                  <a:pt x="371415" y="147998"/>
                  <a:pt x="357369" y="1916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A085"/>
            </a:solidFill>
          </a:ln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A0021F4B-6FD5-41EA-B8CB-4B58568D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91600" y="3181350"/>
            <a:ext cx="114300" cy="76200"/>
          </a:xfrm>
          <a:custGeom xmlns:a="http://schemas.openxmlformats.org/drawingml/2006/main">
            <a:rect l="l" t="t" r="r" b="b"/>
            <a:pathLst>
              <a:path w="114300" h="76200">
                <a:moveTo>
                  <a:pt x="0" y="38100"/>
                </a:moveTo>
                <a:lnTo>
                  <a:pt x="38100" y="76200"/>
                </a:ln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A085"/>
            </a:solidFill>
          </a:ln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D0732ACD-F5C2-4886-BBEB-BC76C0CE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59610" y="3669982"/>
            <a:ext cx="949681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独立验证</a:t>
            </a:r>
          </a:p>
        </p:txBody>
      </p:sp>
      <p:sp>
        <p:nvSpPr>
          <p:cNvPr id="49" name="Ellipse 49">
            <a:extLst xmlns:a="http://schemas.openxmlformats.org/drawingml/2006/main">
              <a:ext uri="{FF2B5EF4-FFF2-40B4-BE49-F238E27FC236}">
                <a16:creationId xmlns:a16="http://schemas.microsoft.com/office/drawing/2014/main" id="{84EF219E-CF0F-4A86-99C4-0534A77E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01250" y="259080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28575">
            <a:solidFill>
              <a:schemeClr val="accent1"/>
            </a:solidFill>
          </a:ln>
        </p:spPr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3033F987-D69B-4E5C-B361-D6AA11A3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07650" y="2886075"/>
            <a:ext cx="177800" cy="177800"/>
          </a:xfrm>
          <a:custGeom xmlns:a="http://schemas.openxmlformats.org/drawingml/2006/main">
            <a:rect l="l" t="t" r="r" b="b"/>
            <a:pathLst>
              <a:path w="177800" h="177800">
                <a:moveTo>
                  <a:pt x="0" y="88900"/>
                </a:moveTo>
                <a:cubicBezTo>
                  <a:pt x="0" y="137998"/>
                  <a:pt x="39802" y="177800"/>
                  <a:pt x="88900" y="177800"/>
                </a:cubicBezTo>
                <a:cubicBezTo>
                  <a:pt x="137998" y="177800"/>
                  <a:pt x="177800" y="137998"/>
                  <a:pt x="177800" y="88900"/>
                </a:cubicBezTo>
                <a:cubicBezTo>
                  <a:pt x="177800" y="39802"/>
                  <a:pt x="137998" y="0"/>
                  <a:pt x="88900" y="0"/>
                </a:cubicBezTo>
                <a:cubicBezTo>
                  <a:pt x="39802" y="0"/>
                  <a:pt x="0" y="39802"/>
                  <a:pt x="0" y="889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44450">
            <a:solidFill>
              <a:srgbClr val="FFFFFF"/>
            </a:solidFill>
          </a:ln>
        </p:spPr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1CA87118-8C43-4360-88D1-2AADC20B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63200" y="3152775"/>
            <a:ext cx="177800" cy="133350"/>
          </a:xfrm>
          <a:custGeom xmlns:a="http://schemas.openxmlformats.org/drawingml/2006/main">
            <a:rect l="l" t="t" r="r" b="b"/>
            <a:pathLst>
              <a:path w="177800" h="133350">
                <a:moveTo>
                  <a:pt x="0" y="133350"/>
                </a:moveTo>
                <a:lnTo>
                  <a:pt x="0" y="88900"/>
                </a:lnTo>
                <a:cubicBezTo>
                  <a:pt x="0" y="39802"/>
                  <a:pt x="39802" y="0"/>
                  <a:pt x="88900" y="0"/>
                </a:cubicBezTo>
                <a:lnTo>
                  <a:pt x="177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450">
            <a:solidFill>
              <a:srgbClr val="FFFFFF"/>
            </a:solidFill>
          </a:ln>
        </p:spPr>
      </p:sp>
      <p:sp>
        <p:nvSpPr>
          <p:cNvPr id="52" name="Freeform 52">
            <a:extLst xmlns:a="http://schemas.openxmlformats.org/drawingml/2006/main">
              <a:ext uri="{FF2B5EF4-FFF2-40B4-BE49-F238E27FC236}">
                <a16:creationId xmlns:a16="http://schemas.microsoft.com/office/drawing/2014/main" id="{0836410D-3FF7-4C0C-BE86-ABF075E2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63225" y="3197224"/>
            <a:ext cx="133350" cy="88900"/>
          </a:xfrm>
          <a:custGeom xmlns:a="http://schemas.openxmlformats.org/drawingml/2006/main">
            <a:rect l="l" t="t" r="r" b="b"/>
            <a:pathLst>
              <a:path w="133350" h="88900">
                <a:moveTo>
                  <a:pt x="0" y="44450"/>
                </a:moveTo>
                <a:lnTo>
                  <a:pt x="44450" y="88900"/>
                </a:ln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450">
            <a:solidFill>
              <a:srgbClr val="FFFFFF"/>
            </a:solidFill>
          </a:ln>
        </p:spPr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727EEA15-9FC9-4A6A-9D5A-2023018D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21710" y="3765232"/>
            <a:ext cx="949681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人工审批</a:t>
            </a:r>
          </a:p>
        </p:txBody>
      </p:sp>
      <p:sp>
        <p:nvSpPr>
          <p:cNvPr id="57" name="Freeform 57">
            <a:extLst xmlns:a="http://schemas.openxmlformats.org/drawingml/2006/main">
              <a:ext uri="{FF2B5EF4-FFF2-40B4-BE49-F238E27FC236}">
                <a16:creationId xmlns:a16="http://schemas.microsoft.com/office/drawing/2014/main" id="{91CE94D4-5845-48CC-ADA9-8E037445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67850" y="3581400"/>
            <a:ext cx="1028700" cy="990600"/>
          </a:xfrm>
          <a:custGeom xmlns:a="http://schemas.openxmlformats.org/drawingml/2006/main">
            <a:rect l="l" t="t" r="r" b="b"/>
            <a:pathLst>
              <a:path w="1028700" h="990600">
                <a:moveTo>
                  <a:pt x="1028700" y="0"/>
                </a:moveTo>
                <a:lnTo>
                  <a:pt x="1028700" y="990600"/>
                </a:lnTo>
                <a:lnTo>
                  <a:pt x="0" y="9906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A085"/>
            </a:solidFill>
          </a:ln>
        </p:spPr>
      </p:sp>
      <p:sp>
        <p:nvSpPr>
          <p:cNvPr id="58" name="Freeform 58">
            <a:extLst xmlns:a="http://schemas.openxmlformats.org/drawingml/2006/main">
              <a:ext uri="{FF2B5EF4-FFF2-40B4-BE49-F238E27FC236}">
                <a16:creationId xmlns:a16="http://schemas.microsoft.com/office/drawing/2014/main" id="{7F0E38CA-9C1F-489F-B7B3-AE00FC0C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67850" y="3581400"/>
            <a:ext cx="1028700" cy="1638300"/>
          </a:xfrm>
          <a:custGeom xmlns:a="http://schemas.openxmlformats.org/drawingml/2006/main">
            <a:rect l="l" t="t" r="r" b="b"/>
            <a:pathLst>
              <a:path w="1028700" h="1638300">
                <a:moveTo>
                  <a:pt x="1028700" y="0"/>
                </a:moveTo>
                <a:lnTo>
                  <a:pt x="1028700" y="1638300"/>
                </a:lnTo>
                <a:lnTo>
                  <a:pt x="0" y="16383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5484D"/>
            </a:solidFill>
          </a:ln>
        </p:spPr>
      </p:sp>
      <p:sp>
        <p:nvSpPr>
          <p:cNvPr id="59" name="Rectangle 59">
            <a:extLst xmlns:a="http://schemas.openxmlformats.org/drawingml/2006/main">
              <a:ext uri="{FF2B5EF4-FFF2-40B4-BE49-F238E27FC236}">
                <a16:creationId xmlns:a16="http://schemas.microsoft.com/office/drawing/2014/main" id="{BAC0FA5E-C4F0-408E-BB0E-0995D5C5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10350" y="4305300"/>
            <a:ext cx="2857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8F7F3"/>
          </a:solidFill>
          <a:ln xmlns:a="http://schemas.openxmlformats.org/drawingml/2006/main">
            <a:noFill/>
          </a:ln>
        </p:spPr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FE3095B1-95A7-4C46-9423-ADFDBE6B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48856" y="4463415"/>
            <a:ext cx="414008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16956"/>
                </a:solidFill>
                <a:latin typeface="+mn-lt"/>
                <a:ea typeface="+mn-lt"/>
                <a:cs typeface="+mn-lt"/>
              </a:rPr>
              <a:t>批准 → 重算 + 双 hash → draft_only</a:t>
            </a:r>
          </a:p>
        </p:txBody>
      </p:sp>
      <p:sp>
        <p:nvSpPr>
          <p:cNvPr id="61" name="Rectangle 61">
            <a:extLst xmlns:a="http://schemas.openxmlformats.org/drawingml/2006/main">
              <a:ext uri="{FF2B5EF4-FFF2-40B4-BE49-F238E27FC236}">
                <a16:creationId xmlns:a16="http://schemas.microsoft.com/office/drawing/2014/main" id="{F2F8B957-07B9-4853-9D06-89B60C02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62850" y="4953000"/>
            <a:ext cx="1905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>
            <a:noFill/>
          </a:ln>
        </p:spPr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7FEBC5B3-1B06-4289-92B0-E113894B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1356" y="5111115"/>
            <a:ext cx="154487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A82C34"/>
                </a:solidFill>
                <a:latin typeface="+mn-lt"/>
                <a:ea typeface="+mn-lt"/>
                <a:cs typeface="+mn-lt"/>
              </a:rPr>
              <a:t>驳回 → 0 工单</a:t>
            </a:r>
          </a:p>
        </p:txBody>
      </p:sp>
      <p:sp>
        <p:nvSpPr>
          <p:cNvPr id="64" name="Rectangle 64">
            <a:extLst xmlns:a="http://schemas.openxmlformats.org/drawingml/2006/main">
              <a:ext uri="{FF2B5EF4-FFF2-40B4-BE49-F238E27FC236}">
                <a16:creationId xmlns:a16="http://schemas.microsoft.com/office/drawing/2014/main" id="{C650CC1C-0E5E-4AA2-809D-49186A15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257800"/>
            <a:ext cx="50673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3A9A5E94-617D-44B8-93D9-4E6B5296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918" y="5403532"/>
            <a:ext cx="1127379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完整任务链</a:t>
            </a:r>
          </a:p>
        </p:txBody>
      </p:sp>
      <p:sp>
        <p:nvSpPr>
          <p:cNvPr id="66" name="TextBox 66">
            <a:extLst xmlns:a="http://schemas.openxmlformats.org/drawingml/2006/main">
              <a:ext uri="{FF2B5EF4-FFF2-40B4-BE49-F238E27FC236}">
                <a16:creationId xmlns:a16="http://schemas.microsoft.com/office/drawing/2014/main" id="{26080778-2B5B-49FF-A564-B2AEC24D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870" y="5624512"/>
            <a:ext cx="4936574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可暂停 · 可恢复 · 可验证 · 可追溯</a:t>
            </a:r>
          </a:p>
        </p:txBody>
      </p:sp>
      <p:sp>
        <p:nvSpPr>
          <p:cNvPr id="68" name="TextBox 68">
            <a:extLst xmlns:a="http://schemas.openxmlformats.org/drawingml/2006/main">
              <a:ext uri="{FF2B5EF4-FFF2-40B4-BE49-F238E27FC236}">
                <a16:creationId xmlns:a16="http://schemas.microsoft.com/office/drawing/2014/main" id="{D3E53BEA-880C-4905-B9BD-3DB923A4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271260"/>
            <a:ext cx="437388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闭环终点是可审计的执行意图，不是对真实设备的直接控制。</a:t>
            </a:r>
          </a:p>
        </p:txBody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A914A555-1AA8-4A37-A88B-0F45E58B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98606" y="6271260"/>
            <a:ext cx="18989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7E9AAA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585386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99A6F881-378B-479B-BAEA-92289D38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1312" y="411480"/>
            <a:ext cx="9795236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AI 负责理解世界，可信内核负责约束世界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E8168EB3-3805-4040-8B69-BEDE7108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1218" y="1022032"/>
            <a:ext cx="5942838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“有界”不是少用 AI，而是把概率能力放在适合它的位置。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8B435786-38FA-4C4A-84B4-B0C00E26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1752600"/>
            <a:ext cx="10744200" cy="1600200"/>
          </a:xfrm>
          <a:custGeom xmlns:a="http://schemas.openxmlformats.org/drawingml/2006/main">
            <a:rect l="l" t="t" r="r" b="b"/>
            <a:pathLst>
              <a:path w="10744200" h="1600200">
                <a:moveTo>
                  <a:pt x="0" y="0"/>
                </a:moveTo>
                <a:lnTo>
                  <a:pt x="10744200" y="0"/>
                </a:lnTo>
                <a:lnTo>
                  <a:pt x="10744200" y="1600200"/>
                </a:lnTo>
                <a:lnTo>
                  <a:pt x="0" y="1600200"/>
                </a:lnTo>
                <a:close/>
              </a:path>
            </a:pathLst>
          </a:custGeom>
          <a:solidFill xmlns:a="http://schemas.openxmlformats.org/drawingml/2006/main">
            <a:srgbClr val="F0EEFF"/>
          </a:solidFill>
          <a:ln xmlns:a="http://schemas.openxmlformats.org/drawingml/2006/main" w="19050">
            <a:solidFill>
              <a:srgbClr val="CDC8FF"/>
            </a:solidFill>
          </a:ln>
        </p:spPr>
      </p:sp>
      <p:sp>
        <p:nvSpPr>
          <p:cNvPr id="5" name="Ellipse 5">
            <a:extLst xmlns:a="http://schemas.openxmlformats.org/drawingml/2006/main">
              <a:ext uri="{FF2B5EF4-FFF2-40B4-BE49-F238E27FC236}">
                <a16:creationId xmlns:a16="http://schemas.microsoft.com/office/drawing/2014/main" id="{E3270ADF-726A-4D47-B984-6C3C4239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207645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51CCF1D8-73F9-438D-BE50-C8C617BA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7775" y="2362200"/>
            <a:ext cx="285750" cy="190500"/>
          </a:xfrm>
          <a:custGeom xmlns:a="http://schemas.openxmlformats.org/drawingml/2006/main">
            <a:rect l="l" t="t" r="r" b="b"/>
            <a:pathLst>
              <a:path w="285750" h="190500">
                <a:moveTo>
                  <a:pt x="0" y="47625"/>
                </a:moveTo>
                <a:cubicBezTo>
                  <a:pt x="0" y="21322"/>
                  <a:pt x="21322" y="0"/>
                  <a:pt x="47625" y="0"/>
                </a:cubicBezTo>
                <a:lnTo>
                  <a:pt x="238125" y="0"/>
                </a:lnTo>
                <a:cubicBezTo>
                  <a:pt x="264428" y="0"/>
                  <a:pt x="285750" y="21322"/>
                  <a:pt x="285750" y="47625"/>
                </a:cubicBezTo>
                <a:lnTo>
                  <a:pt x="285750" y="142875"/>
                </a:lnTo>
                <a:cubicBezTo>
                  <a:pt x="285750" y="169178"/>
                  <a:pt x="264428" y="190500"/>
                  <a:pt x="238125" y="190500"/>
                </a:cubicBezTo>
                <a:lnTo>
                  <a:pt x="47625" y="190500"/>
                </a:lnTo>
                <a:cubicBezTo>
                  <a:pt x="21322" y="190500"/>
                  <a:pt x="0" y="169178"/>
                  <a:pt x="0" y="142875"/>
                </a:cubicBez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FFFFF"/>
            </a:solidFill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EBAE2118-30EB-4C78-A955-DA0B1408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0650" y="2314575"/>
            <a:ext cx="9525" cy="47625"/>
          </a:xfrm>
          <a:custGeom xmlns:a="http://schemas.openxmlformats.org/drawingml/2006/main">
            <a:rect l="l" t="t" r="r" b="b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FFFFF"/>
            </a:solidFill>
          </a:ln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D2E50D2E-42E6-4687-8563-A6A316A5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9212" y="2552700"/>
            <a:ext cx="9525" cy="214312"/>
          </a:xfrm>
          <a:custGeom xmlns:a="http://schemas.openxmlformats.org/drawingml/2006/main">
            <a:rect l="l" t="t" r="r" b="b"/>
            <a:pathLst>
              <a:path w="9525" h="214312">
                <a:moveTo>
                  <a:pt x="0" y="0"/>
                </a:moveTo>
                <a:lnTo>
                  <a:pt x="0" y="214312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FFFFF"/>
            </a:solidFill>
          </a:ln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09D4BAF8-23B9-405E-8FD1-C822E2E6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2088" y="2552700"/>
            <a:ext cx="9525" cy="214312"/>
          </a:xfrm>
          <a:custGeom xmlns:a="http://schemas.openxmlformats.org/drawingml/2006/main">
            <a:rect l="l" t="t" r="r" b="b"/>
            <a:pathLst>
              <a:path w="9525" h="214312">
                <a:moveTo>
                  <a:pt x="0" y="0"/>
                </a:moveTo>
                <a:lnTo>
                  <a:pt x="0" y="214312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FFFFF"/>
            </a:solidFill>
          </a:ln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CE81F0A3-4898-40B4-A3AE-EA2F6A6C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3962" y="2600325"/>
            <a:ext cx="95250" cy="47625"/>
          </a:xfrm>
          <a:custGeom xmlns:a="http://schemas.openxmlformats.org/drawingml/2006/main">
            <a:rect l="l" t="t" r="r" b="b"/>
            <a:pathLst>
              <a:path w="95250" h="47625">
                <a:moveTo>
                  <a:pt x="0" y="47625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FFFFF"/>
            </a:solidFill>
          </a:ln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A7960768-DBCA-49BB-B0CB-7FDF76A8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2088" y="2600325"/>
            <a:ext cx="95250" cy="47625"/>
          </a:xfrm>
          <a:custGeom xmlns:a="http://schemas.openxmlformats.org/drawingml/2006/main">
            <a:rect l="l" t="t" r="r" b="b"/>
            <a:pathLst>
              <a:path w="95250" h="47625">
                <a:moveTo>
                  <a:pt x="0" y="0"/>
                </a:moveTo>
                <a:lnTo>
                  <a:pt x="9525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FFFFF"/>
            </a:solidFill>
          </a:ln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160505A-6B07-47C9-8CE5-9FFA7672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9212" y="2695575"/>
            <a:ext cx="142875" cy="9525"/>
          </a:xfrm>
          <a:custGeom xmlns:a="http://schemas.openxmlformats.org/drawingml/2006/main">
            <a:rect l="l" t="t" r="r" b="b"/>
            <a:pathLst>
              <a:path w="142875" h="952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FFFFF"/>
            </a:solidFill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C7350F68-C27F-4F9E-ABDE-7E6DC5DE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3025" y="2457450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0" y="238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FFFFF"/>
            </a:solidFill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E4338E7E-BA21-46A3-8CA1-97C78A0F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8275" y="2457450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0" y="238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FFFFF"/>
            </a:solidFill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7FEC8231-0400-4334-9F1D-C67A3A18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82546" y="1991678"/>
            <a:ext cx="2231288" cy="49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>
                <a:solidFill>
                  <a:srgbClr val="4B45B7"/>
                </a:solidFill>
                <a:latin typeface="+mn-lt"/>
                <a:ea typeface="+mn-lt"/>
                <a:cs typeface="+mn-lt"/>
              </a:rPr>
              <a:t>Agent 控制面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8F0936AD-4253-484C-A26B-ECFC9DD4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84070" y="2443162"/>
            <a:ext cx="4445127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>
                <a:solidFill>
                  <a:schemeClr val="dk1"/>
                </a:solidFill>
                <a:latin typeface="+mn-lt"/>
                <a:ea typeface="+mn-lt"/>
                <a:cs typeface="+mn-lt"/>
              </a:rPr>
              <a:t>理解 · 追问 · 规划 · 检索 · 解释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B55D815-BCFA-410A-A9C0-4E64E48B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87118" y="2879408"/>
            <a:ext cx="6014085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把邮件、聊天和规则文档转成带来源的候选事件与白名单任务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96749E6F-7DBC-4DAC-BF0B-1695FE44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05750" y="2114550"/>
            <a:ext cx="2933700" cy="9525"/>
          </a:xfrm>
          <a:custGeom xmlns:a="http://schemas.openxmlformats.org/drawingml/2006/main">
            <a:rect l="l" t="t" r="r" b="b"/>
            <a:pathLst>
              <a:path w="2933700" h="9525">
                <a:moveTo>
                  <a:pt x="0" y="0"/>
                </a:moveTo>
                <a:lnTo>
                  <a:pt x="2933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3"/>
            </a:solidFill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2DF2EA6F-A22F-4FAE-B97D-011FD29B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97368" y="1774508"/>
            <a:ext cx="1182910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4B45B7"/>
                </a:solidFill>
                <a:latin typeface="+mn-lt"/>
                <a:ea typeface="+mn-lt"/>
                <a:cs typeface="+mn-lt"/>
              </a:rPr>
              <a:t>关键参与点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D35A5C2E-D577-4048-8626-C4C457E3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97368" y="2279332"/>
            <a:ext cx="3426352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chemeClr val="dk1"/>
                </a:solidFill>
                <a:latin typeface="+mn-lt"/>
                <a:ea typeface="+mn-lt"/>
                <a:cs typeface="+mn-lt"/>
              </a:rPr>
              <a:t>原文 span · 缺失/冲突 · 工具计划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2A530242-5957-4AC7-AE69-6D860ABF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97368" y="2679382"/>
            <a:ext cx="3415246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chemeClr val="dk1"/>
                </a:solidFill>
                <a:latin typeface="+mn-lt"/>
                <a:ea typeface="+mn-lt"/>
                <a:cs typeface="+mn-lt"/>
              </a:rPr>
              <a:t>政策引用 · 多轮上下文 · 方案解释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A3EA34B4-95AC-40EE-A0F2-7201CE0D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3676650"/>
            <a:ext cx="10744200" cy="1885950"/>
          </a:xfrm>
          <a:custGeom xmlns:a="http://schemas.openxmlformats.org/drawingml/2006/main">
            <a:rect l="l" t="t" r="r" b="b"/>
            <a:pathLst>
              <a:path w="10744200" h="1885950">
                <a:moveTo>
                  <a:pt x="0" y="0"/>
                </a:moveTo>
                <a:lnTo>
                  <a:pt x="10744200" y="0"/>
                </a:lnTo>
                <a:lnTo>
                  <a:pt x="10744200" y="1885950"/>
                </a:lnTo>
                <a:lnTo>
                  <a:pt x="0" y="1885950"/>
                </a:lnTo>
                <a:close/>
              </a:path>
            </a:pathLst>
          </a:custGeom>
          <a:solidFill xmlns:a="http://schemas.openxmlformats.org/drawingml/2006/main">
            <a:schemeClr val="lt2"/>
          </a:solidFill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25" name="Ellipse 25">
            <a:extLst xmlns:a="http://schemas.openxmlformats.org/drawingml/2006/main">
              <a:ext uri="{FF2B5EF4-FFF2-40B4-BE49-F238E27FC236}">
                <a16:creationId xmlns:a16="http://schemas.microsoft.com/office/drawing/2014/main" id="{63CD24E1-009C-4D22-96CD-2F7BA18A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413385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25BC239E-EC67-4137-9346-A24F8F18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4201" y="4395788"/>
            <a:ext cx="465016" cy="424958"/>
          </a:xfrm>
          <a:custGeom xmlns:a="http://schemas.openxmlformats.org/drawingml/2006/main">
            <a:rect l="l" t="t" r="r" b="b"/>
            <a:pathLst>
              <a:path w="465016" h="424958">
                <a:moveTo>
                  <a:pt x="233590" y="424958"/>
                </a:moveTo>
                <a:cubicBezTo>
                  <a:pt x="84415" y="378717"/>
                  <a:pt x="0" y="221276"/>
                  <a:pt x="44042" y="71438"/>
                </a:cubicBezTo>
                <a:cubicBezTo>
                  <a:pt x="118231" y="74832"/>
                  <a:pt x="190827" y="49210"/>
                  <a:pt x="246449" y="0"/>
                </a:cubicBezTo>
                <a:cubicBezTo>
                  <a:pt x="302071" y="49210"/>
                  <a:pt x="374666" y="74832"/>
                  <a:pt x="448855" y="71438"/>
                </a:cubicBezTo>
                <a:cubicBezTo>
                  <a:pt x="465016" y="126423"/>
                  <a:pt x="464269" y="184998"/>
                  <a:pt x="446712" y="239554"/>
                </a:cubicBez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FFFFF"/>
            </a:solidFill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63BB3D0B-8BE6-4512-B28D-C6C51149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2088" y="4729162"/>
            <a:ext cx="142875" cy="95250"/>
          </a:xfrm>
          <a:custGeom xmlns:a="http://schemas.openxmlformats.org/drawingml/2006/main">
            <a:rect l="l" t="t" r="r" b="b"/>
            <a:pathLst>
              <a:path w="142875" h="95250">
                <a:moveTo>
                  <a:pt x="0" y="47625"/>
                </a:moveTo>
                <a:lnTo>
                  <a:pt x="47625" y="95250"/>
                </a:ln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FFFFF"/>
            </a:solidFill>
          </a:ln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BC9D7D97-3955-497F-B749-6DF5C264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82546" y="3896678"/>
            <a:ext cx="2549023" cy="49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确定性可信内核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BBBF3134-CFAD-444C-A436-3BFCC19B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84070" y="4348162"/>
            <a:ext cx="620549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>
                <a:solidFill>
                  <a:schemeClr val="dk1"/>
                </a:solidFill>
                <a:latin typeface="+mn-lt"/>
                <a:ea typeface="+mn-lt"/>
                <a:cs typeface="+mn-lt"/>
              </a:rPr>
              <a:t>BOM · 库存 · CP-SAT · verifier · 审批门禁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5295F0ED-68F4-41A4-A937-E996CEBD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87118" y="4784408"/>
            <a:ext cx="5569839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数值、可行性、状态转换和执行权限全部可重放、可测试</a:t>
            </a: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599EBFE0-CB67-4DE5-B15B-6237946C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05750" y="4095750"/>
            <a:ext cx="2933700" cy="9525"/>
          </a:xfrm>
          <a:custGeom xmlns:a="http://schemas.openxmlformats.org/drawingml/2006/main">
            <a:rect l="l" t="t" r="r" b="b"/>
            <a:pathLst>
              <a:path w="2933700" h="9525">
                <a:moveTo>
                  <a:pt x="0" y="0"/>
                </a:moveTo>
                <a:lnTo>
                  <a:pt x="2933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2"/>
            </a:solidFill>
          </a:ln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C98CB182-F0D6-4EC7-98FF-FD4313BD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97368" y="3755708"/>
            <a:ext cx="1679644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Agent 无权触碰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9C9F86C3-6C17-4155-9E54-62AD5693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97368" y="4260532"/>
            <a:ext cx="2971000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A82C34"/>
                </a:solidFill>
                <a:latin typeface="+mn-lt"/>
                <a:ea typeface="+mn-lt"/>
                <a:cs typeface="+mn-lt"/>
              </a:rPr>
              <a:t>算库存 · 伪造最优 · 自我批准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31F977A0-1D84-4693-BB60-F8A94658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97368" y="4660582"/>
            <a:ext cx="3185160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A82C34"/>
                </a:solidFill>
                <a:latin typeface="+mn-lt"/>
                <a:ea typeface="+mn-lt"/>
                <a:cs typeface="+mn-lt"/>
              </a:rPr>
              <a:t>写回 ERP/MES · 控制真实设备</a:t>
            </a:r>
          </a:p>
        </p:txBody>
      </p:sp>
      <p:sp>
        <p:nvSpPr>
          <p:cNvPr id="37" name="Line 37">
            <a:extLst xmlns:a="http://schemas.openxmlformats.org/drawingml/2006/main">
              <a:ext uri="{FF2B5EF4-FFF2-40B4-BE49-F238E27FC236}">
                <a16:creationId xmlns:a16="http://schemas.microsoft.com/office/drawing/2014/main" id="{5D05328B-F6D8-486E-BABB-0918FF09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900" y="3514725"/>
            <a:ext cx="10744200" cy="9525"/>
          </a:xfrm>
          <a:custGeom xmlns:a="http://schemas.openxmlformats.org/drawingml/2006/main">
            <a:rect l="l" t="t" r="r" b="b"/>
            <a:pathLst>
              <a:path w="10744200" h="9525">
                <a:moveTo>
                  <a:pt x="0" y="0"/>
                </a:moveTo>
                <a:lnTo>
                  <a:pt x="10744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6"/>
            </a:solidFill>
          </a:ln>
        </p:spPr>
      </p:sp>
      <p:sp>
        <p:nvSpPr>
          <p:cNvPr id="38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5F50D754-9457-4D73-8D68-7B864349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72050" y="3305175"/>
            <a:ext cx="22479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9525">
            <a:solidFill>
              <a:srgbClr val="FFCF8C"/>
            </a:solidFill>
          </a:ln>
        </p:spPr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6D24DF77-DE1B-4C6F-AE35-56632F2F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0175" y="3505200"/>
            <a:ext cx="133350" cy="95250"/>
          </a:xfrm>
          <a:custGeom xmlns:a="http://schemas.openxmlformats.org/drawingml/2006/main">
            <a:rect l="l" t="t" r="r" b="b"/>
            <a:pathLst>
              <a:path w="133350" h="95250">
                <a:moveTo>
                  <a:pt x="0" y="19050"/>
                </a:moveTo>
                <a:cubicBezTo>
                  <a:pt x="0" y="8529"/>
                  <a:pt x="8529" y="0"/>
                  <a:pt x="19050" y="0"/>
                </a:cubicBezTo>
                <a:lnTo>
                  <a:pt x="114300" y="0"/>
                </a:lnTo>
                <a:cubicBezTo>
                  <a:pt x="124821" y="0"/>
                  <a:pt x="133350" y="8529"/>
                  <a:pt x="133350" y="19050"/>
                </a:cubicBezTo>
                <a:lnTo>
                  <a:pt x="133350" y="76200"/>
                </a:lnTo>
                <a:cubicBezTo>
                  <a:pt x="133350" y="86721"/>
                  <a:pt x="124821" y="95250"/>
                  <a:pt x="114300" y="95250"/>
                </a:cubicBezTo>
                <a:lnTo>
                  <a:pt x="19050" y="95250"/>
                </a:lnTo>
                <a:cubicBezTo>
                  <a:pt x="8529" y="95250"/>
                  <a:pt x="0" y="86721"/>
                  <a:pt x="0" y="76200"/>
                </a:cubicBez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B5B00"/>
            </a:solidFill>
          </a:ln>
        </p:spPr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A5FE4C18-1986-4615-A1F3-2A5840A6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7325" y="3543300"/>
            <a:ext cx="19050" cy="19050"/>
          </a:xfrm>
          <a:custGeom xmlns:a="http://schemas.openxmlformats.org/drawingml/2006/main">
            <a:rect l="l" t="t" r="r" b="b"/>
            <a:pathLst>
              <a:path w="19050" h="19050">
                <a:moveTo>
                  <a:pt x="0" y="9525"/>
                </a:moveTo>
                <a:cubicBezTo>
                  <a:pt x="0" y="14786"/>
                  <a:pt x="4264" y="19050"/>
                  <a:pt x="9525" y="19050"/>
                </a:cubicBezTo>
                <a:cubicBezTo>
                  <a:pt x="14786" y="19050"/>
                  <a:pt x="19050" y="14786"/>
                  <a:pt x="19050" y="9525"/>
                </a:cubicBezTo>
                <a:cubicBezTo>
                  <a:pt x="19050" y="4264"/>
                  <a:pt x="14786" y="0"/>
                  <a:pt x="9525" y="0"/>
                </a:cubicBezTo>
                <a:cubicBezTo>
                  <a:pt x="4264" y="0"/>
                  <a:pt x="0" y="4264"/>
                  <a:pt x="0" y="95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B5B00"/>
            </a:solidFill>
          </a:ln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5B031BB1-0660-416F-AF5B-1D020FDD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8750" y="3429000"/>
            <a:ext cx="76200" cy="76200"/>
          </a:xfrm>
          <a:custGeom xmlns:a="http://schemas.openxmlformats.org/drawingml/2006/main">
            <a:rect l="l" t="t" r="r" b="b"/>
            <a:pathLst>
              <a:path w="76200" h="76200">
                <a:moveTo>
                  <a:pt x="0" y="76200"/>
                </a:move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B5B00"/>
            </a:solidFill>
          </a:ln>
        </p:spPr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DB0FC2AD-0480-4722-908F-E06146DC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97068" y="3412808"/>
            <a:ext cx="2115826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9B5B00"/>
                </a:solidFill>
                <a:latin typeface="+mn-lt"/>
                <a:ea typeface="+mn-lt"/>
                <a:cs typeface="+mn-lt"/>
              </a:rPr>
              <a:t>不可越权的责任边界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0282C8E7-FEC2-4083-B3A6-1FF7D695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8170" y="5910262"/>
            <a:ext cx="7655814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概率能力负责提出候选；确定性系统负责证明与授权。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C380CBE4-2D2F-4441-B3CB-F06C707F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98606" y="6271260"/>
            <a:ext cx="18989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7E9AAA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170733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FF2BDC15-2762-4B8D-8ACA-496BFBA8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1312" y="411480"/>
            <a:ext cx="6348565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LangGraph 让审批真正暂停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CA7BC437-A1ED-4217-85D5-B0D3DD19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1218" y="1022032"/>
            <a:ext cx="6014085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批准绑定一份可验证快照；恢复后必须重新证明它仍然成立。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080C23D9-1E5E-4122-ABA6-5724EEEF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0768" y="1841182"/>
            <a:ext cx="1241217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chemeClr val="accent3"/>
                </a:solidFill>
                <a:latin typeface="+mn-lt"/>
                <a:ea typeface="+mn-lt"/>
                <a:cs typeface="+mn-lt"/>
              </a:rPr>
              <a:t>01 · 审批前</a:t>
            </a:r>
          </a:p>
        </p:txBody>
      </p:sp>
      <p:sp>
        <p:nvSpPr>
          <p:cNvPr id="5" name="Ellipse 5">
            <a:extLst xmlns:a="http://schemas.openxmlformats.org/drawingml/2006/main">
              <a:ext uri="{FF2B5EF4-FFF2-40B4-BE49-F238E27FC236}">
                <a16:creationId xmlns:a16="http://schemas.microsoft.com/office/drawing/2014/main" id="{6906326C-92E3-4D6D-A607-F8E57CAE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" y="2286000"/>
            <a:ext cx="2133600" cy="213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EFF"/>
          </a:solidFill>
          <a:ln xmlns:a="http://schemas.openxmlformats.org/drawingml/2006/main" w="28575">
            <a:solidFill>
              <a:schemeClr val="accent3"/>
            </a:solidFill>
          </a:ln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4C5A63F4-556D-4E23-9720-6B201754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39975" y="2805112"/>
            <a:ext cx="134937" cy="134937"/>
          </a:xfrm>
          <a:custGeom xmlns:a="http://schemas.openxmlformats.org/drawingml/2006/main">
            <a:rect l="l" t="t" r="r" b="b"/>
            <a:pathLst>
              <a:path w="134937" h="134937">
                <a:moveTo>
                  <a:pt x="0" y="0"/>
                </a:moveTo>
                <a:lnTo>
                  <a:pt x="0" y="107950"/>
                </a:lnTo>
                <a:cubicBezTo>
                  <a:pt x="0" y="122855"/>
                  <a:pt x="12083" y="134937"/>
                  <a:pt x="26987" y="134937"/>
                </a:cubicBezTo>
                <a:lnTo>
                  <a:pt x="134937" y="134937"/>
                </a:ln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chemeClr val="accent3"/>
            </a:solidFill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2F5B312E-D476-48FF-A619-BDD5E4B8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7087" y="2805112"/>
            <a:ext cx="377825" cy="485774"/>
          </a:xfrm>
          <a:custGeom xmlns:a="http://schemas.openxmlformats.org/drawingml/2006/main">
            <a:rect l="l" t="t" r="r" b="b"/>
            <a:pathLst>
              <a:path w="377825" h="485774">
                <a:moveTo>
                  <a:pt x="323850" y="485774"/>
                </a:moveTo>
                <a:lnTo>
                  <a:pt x="53975" y="485774"/>
                </a:lnTo>
                <a:cubicBezTo>
                  <a:pt x="24165" y="485774"/>
                  <a:pt x="0" y="461609"/>
                  <a:pt x="0" y="431799"/>
                </a:cubicBezTo>
                <a:lnTo>
                  <a:pt x="0" y="53975"/>
                </a:lnTo>
                <a:cubicBezTo>
                  <a:pt x="0" y="24165"/>
                  <a:pt x="24165" y="0"/>
                  <a:pt x="53975" y="0"/>
                </a:cubicBezTo>
                <a:lnTo>
                  <a:pt x="242887" y="0"/>
                </a:lnTo>
                <a:lnTo>
                  <a:pt x="377825" y="134937"/>
                </a:lnTo>
                <a:lnTo>
                  <a:pt x="377825" y="431799"/>
                </a:lnTo>
                <a:cubicBezTo>
                  <a:pt x="377825" y="461609"/>
                  <a:pt x="353659" y="485774"/>
                  <a:pt x="323850" y="485774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chemeClr val="accent3"/>
            </a:solidFill>
          </a:ln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066CEAFD-DEC8-4E66-B882-A849D904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05037" y="3074987"/>
            <a:ext cx="161925" cy="107950"/>
          </a:xfrm>
          <a:custGeom xmlns:a="http://schemas.openxmlformats.org/drawingml/2006/main">
            <a:rect l="l" t="t" r="r" b="b"/>
            <a:pathLst>
              <a:path w="161925" h="107950">
                <a:moveTo>
                  <a:pt x="0" y="53975"/>
                </a:moveTo>
                <a:lnTo>
                  <a:pt x="53975" y="107950"/>
                </a:ln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chemeClr val="accent3"/>
            </a:solidFill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686345EB-D760-41E1-9D4F-6A25778B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38490" y="3433762"/>
            <a:ext cx="1295019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冻结证据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88A1D43-75BC-4ECE-BC2F-1ECFE9F0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8020" y="3860482"/>
            <a:ext cx="1815960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solver + verifier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DB4837FC-31A5-46F0-9719-A2C97B57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52800" y="3352800"/>
            <a:ext cx="1181100" cy="9525"/>
          </a:xfrm>
          <a:custGeom xmlns:a="http://schemas.openxmlformats.org/drawingml/2006/main"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5"/>
            </a:solidFill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66723D0D-F162-4F96-90EA-1F5EDA94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43400" y="3219450"/>
            <a:ext cx="190500" cy="266700"/>
          </a:xfrm>
          <a:custGeom xmlns:a="http://schemas.openxmlformats.org/drawingml/2006/main">
            <a:rect l="l" t="t" r="r" b="b"/>
            <a:pathLst>
              <a:path w="190500" h="266700">
                <a:moveTo>
                  <a:pt x="0" y="0"/>
                </a:moveTo>
                <a:lnTo>
                  <a:pt x="190500" y="133350"/>
                </a:ln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5"/>
            </a:solidFill>
          </a:ln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8413F5C3-2CE0-4588-82A1-400E9520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54118" y="1841182"/>
            <a:ext cx="3130373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chemeClr val="accent2"/>
                </a:solidFill>
                <a:latin typeface="+mn-lt"/>
                <a:ea typeface="+mn-lt"/>
                <a:cs typeface="+mn-lt"/>
              </a:rPr>
              <a:t>02 · checkpoint + interrupt</a:t>
            </a:r>
          </a:p>
        </p:txBody>
      </p:sp>
      <p:sp>
        <p:nvSpPr>
          <p:cNvPr id="16" name="Ellipse 16">
            <a:extLst xmlns:a="http://schemas.openxmlformats.org/drawingml/2006/main">
              <a:ext uri="{FF2B5EF4-FFF2-40B4-BE49-F238E27FC236}">
                <a16:creationId xmlns:a16="http://schemas.microsoft.com/office/drawing/2014/main" id="{401DC12C-4D6D-44BA-AE55-44EA1DA5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76800" y="2133600"/>
            <a:ext cx="2438400" cy="2438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chemeClr val="accent2"/>
            </a:solidFill>
          </a:ln>
        </p:spPr>
      </p:sp>
      <p:sp>
        <p:nvSpPr>
          <p:cNvPr id="17" name="Ellipse 17">
            <a:extLst xmlns:a="http://schemas.openxmlformats.org/drawingml/2006/main">
              <a:ext uri="{FF2B5EF4-FFF2-40B4-BE49-F238E27FC236}">
                <a16:creationId xmlns:a16="http://schemas.microsoft.com/office/drawing/2014/main" id="{21DCAAE7-ECE1-4CC0-A022-A0F0BB48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2550" y="2419350"/>
            <a:ext cx="1866900" cy="1866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23A3E2AB-C9FA-4684-8EC1-A89CCA16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8420" y="2868930"/>
            <a:ext cx="1515161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PAUSE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14213A98-9501-45C0-B1BD-57C3D471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88064" y="3536632"/>
            <a:ext cx="2015871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等待人工批准或驳回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8AE0FA90-C48D-444C-BD34-EFE87D7D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5200" y="3352800"/>
            <a:ext cx="971550" cy="9525"/>
          </a:xfrm>
          <a:custGeom xmlns:a="http://schemas.openxmlformats.org/drawingml/2006/main">
            <a:rect l="l" t="t" r="r" b="b"/>
            <a:pathLst>
              <a:path w="971550" h="9525">
                <a:moveTo>
                  <a:pt x="0" y="0"/>
                </a:moveTo>
                <a:lnTo>
                  <a:pt x="971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5"/>
            </a:solidFill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93351C52-1859-450D-8AAC-4BEB3B6B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6250" y="3219450"/>
            <a:ext cx="190500" cy="266700"/>
          </a:xfrm>
          <a:custGeom xmlns:a="http://schemas.openxmlformats.org/drawingml/2006/main">
            <a:rect l="l" t="t" r="r" b="b"/>
            <a:pathLst>
              <a:path w="190500" h="266700">
                <a:moveTo>
                  <a:pt x="0" y="0"/>
                </a:moveTo>
                <a:lnTo>
                  <a:pt x="190500" y="133350"/>
                </a:ln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5"/>
            </a:solidFill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5E4B0D78-B62D-477F-9867-63704B7A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6968" y="1841182"/>
            <a:ext cx="1241217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16A085"/>
                </a:solidFill>
                <a:latin typeface="+mn-lt"/>
                <a:ea typeface="+mn-lt"/>
                <a:cs typeface="+mn-lt"/>
              </a:rPr>
              <a:t>03 · 恢复后</a:t>
            </a:r>
          </a:p>
        </p:txBody>
      </p:sp>
      <p:sp>
        <p:nvSpPr>
          <p:cNvPr id="24" name="Ellipse 24">
            <a:extLst xmlns:a="http://schemas.openxmlformats.org/drawingml/2006/main">
              <a:ext uri="{FF2B5EF4-FFF2-40B4-BE49-F238E27FC236}">
                <a16:creationId xmlns:a16="http://schemas.microsoft.com/office/drawing/2014/main" id="{8B481FA6-34FE-4D90-B509-10334E04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63000" y="2286000"/>
            <a:ext cx="2133600" cy="213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3"/>
          </a:solidFill>
          <a:ln xmlns:a="http://schemas.openxmlformats.org/drawingml/2006/main" w="28575">
            <a:solidFill>
              <a:srgbClr val="16A085"/>
            </a:solidFill>
          </a:ln>
        </p:spPr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35D1ED77-F90B-4E29-B244-A744A103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3900" y="2726437"/>
            <a:ext cx="431799" cy="199325"/>
          </a:xfrm>
          <a:custGeom xmlns:a="http://schemas.openxmlformats.org/drawingml/2006/main">
            <a:rect l="l" t="t" r="r" b="b"/>
            <a:pathLst>
              <a:path w="431799" h="199325">
                <a:moveTo>
                  <a:pt x="431799" y="199325"/>
                </a:moveTo>
                <a:cubicBezTo>
                  <a:pt x="418232" y="101699"/>
                  <a:pt x="341010" y="25227"/>
                  <a:pt x="243256" y="12613"/>
                </a:cubicBezTo>
                <a:cubicBezTo>
                  <a:pt x="145502" y="0"/>
                  <a:pt x="51398" y="54365"/>
                  <a:pt x="13494" y="145350"/>
                </a:cubicBezTo>
                <a:moveTo>
                  <a:pt x="0" y="37400"/>
                </a:moveTo>
                <a:lnTo>
                  <a:pt x="0" y="145350"/>
                </a:lnTo>
                <a:lnTo>
                  <a:pt x="107950" y="145350"/>
                </a:ln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rgbClr val="16A085"/>
            </a:solidFill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2F0302D8-2623-4A60-8FB1-883D1577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3900" y="2979737"/>
            <a:ext cx="431799" cy="199325"/>
          </a:xfrm>
          <a:custGeom xmlns:a="http://schemas.openxmlformats.org/drawingml/2006/main">
            <a:rect l="l" t="t" r="r" b="b"/>
            <a:pathLst>
              <a:path w="431799" h="199325">
                <a:moveTo>
                  <a:pt x="0" y="0"/>
                </a:moveTo>
                <a:cubicBezTo>
                  <a:pt x="13567" y="97626"/>
                  <a:pt x="90789" y="174098"/>
                  <a:pt x="188543" y="186711"/>
                </a:cubicBezTo>
                <a:cubicBezTo>
                  <a:pt x="286297" y="199325"/>
                  <a:pt x="380402" y="144960"/>
                  <a:pt x="418306" y="53975"/>
                </a:cubicBezTo>
                <a:moveTo>
                  <a:pt x="431799" y="161925"/>
                </a:moveTo>
                <a:lnTo>
                  <a:pt x="431799" y="53975"/>
                </a:lnTo>
                <a:lnTo>
                  <a:pt x="323850" y="53975"/>
                </a:lnTo>
              </a:path>
            </a:pathLst>
          </a:custGeom>
          <a:noFill xmlns:a="http://schemas.openxmlformats.org/drawingml/2006/main"/>
          <a:ln xmlns:a="http://schemas.openxmlformats.org/drawingml/2006/main" w="53975">
            <a:solidFill>
              <a:srgbClr val="16A085"/>
            </a:solidFill>
          </a:ln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E6ABF99E-51D7-411C-AB27-5FD49F91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2290" y="3395662"/>
            <a:ext cx="1295019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重新求解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DD477E6F-208D-4871-AF54-A878BB79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926" y="3831908"/>
            <a:ext cx="1793748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不信任旧内存对象</a:t>
            </a:r>
          </a:p>
        </p:txBody>
      </p:sp>
      <p:sp>
        <p:nvSpPr>
          <p:cNvPr id="31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F1BF389C-BA5B-41A5-91CE-FBED1287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1000" y="4762500"/>
            <a:ext cx="35814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F88384F4-0584-4E4D-B20A-42C15871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2168" y="4908232"/>
            <a:ext cx="1549413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scenario_hash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CD30F084-ECB2-480C-8F68-D6147889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7162" y="4908232"/>
            <a:ext cx="786420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650" b="1">
                <a:solidFill>
                  <a:srgbClr val="16A085"/>
                </a:solidFill>
                <a:latin typeface="+mn-lt"/>
                <a:ea typeface="+mn-lt"/>
                <a:cs typeface="+mn-lt"/>
              </a:rPr>
              <a:t>一致 ✓</a:t>
            </a:r>
          </a:p>
        </p:txBody>
      </p:sp>
      <p:sp>
        <p:nvSpPr>
          <p:cNvPr id="34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5DA92CD1-B3C3-4A6A-A8F9-0910CA9F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01000" y="5391150"/>
            <a:ext cx="35814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7ED8AE11-9BB3-40D6-B2A8-FC22FF1A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2168" y="5536882"/>
            <a:ext cx="1060742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plan_hash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180DE683-4C0C-4EF0-B7DD-08C240EC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47162" y="5536882"/>
            <a:ext cx="786420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650" b="1">
                <a:solidFill>
                  <a:srgbClr val="16A085"/>
                </a:solidFill>
                <a:latin typeface="+mn-lt"/>
                <a:ea typeface="+mn-lt"/>
                <a:cs typeface="+mn-lt"/>
              </a:rPr>
              <a:t>一致 ✓</a:t>
            </a:r>
          </a:p>
        </p:txBody>
      </p:sp>
      <p:sp>
        <p:nvSpPr>
          <p:cNvPr id="38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20F03AA0-A76D-4E73-AD90-9DAF6FDD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4762500"/>
            <a:ext cx="66865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401C30A0-5D5A-4385-9AE0-F50BF66D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156" y="4949190"/>
            <a:ext cx="4725276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批准且双 hash 一致 → 只生成 draft_only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561FE4B8-A89A-4F9E-B17E-98445DE5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156" y="5330190"/>
            <a:ext cx="514508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A82C34"/>
                </a:solidFill>
                <a:latin typeface="+mn-lt"/>
                <a:ea typeface="+mn-lt"/>
                <a:cs typeface="+mn-lt"/>
              </a:rPr>
              <a:t>驳回、场景变化或计划篡改 → 旧批准立即失效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2262AEA4-C938-4BE5-A492-BCC0BC1E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271260"/>
            <a:ext cx="6412706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当前 PoC 使用 InMemorySaver；生产化需要持久 checkpointer、RBAC 与多实例幂等。</a:t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E2407CA6-2A45-41F3-8737-168FDA0C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98606" y="6271260"/>
            <a:ext cx="18989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7E9AAA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155009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F6AC708D-903E-49C8-B715-C4B1C4A7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1312" y="411480"/>
            <a:ext cx="766953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公开工作簿原始行进入了运行链路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F6C77B12-74F3-43CB-86C7-DAE4B699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1218" y="1022032"/>
            <a:ext cx="6702666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不只说“参考了公开数据”，而是校验、抽取、溯源并验证数量守恒。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D3FC96F0-9CFC-4610-B8B7-9F722EE8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8368" y="1917382"/>
            <a:ext cx="461010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产品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3BB51ED-5895-4439-9AB7-125597B2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8462" y="2259330"/>
            <a:ext cx="1715826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28,049</a:t>
            </a:r>
          </a:p>
        </p:txBody>
      </p:sp>
      <p:sp>
        <p:nvSpPr>
          <p:cNvPr id="6" name="Line 6">
            <a:extLst xmlns:a="http://schemas.openxmlformats.org/drawingml/2006/main">
              <a:ext uri="{FF2B5EF4-FFF2-40B4-BE49-F238E27FC236}">
                <a16:creationId xmlns:a16="http://schemas.microsoft.com/office/drawing/2014/main" id="{F17596E9-C8B1-4108-96A6-DE9A8DCE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750" y="2857500"/>
            <a:ext cx="2476500" cy="9525"/>
          </a:xfrm>
          <a:custGeom xmlns:a="http://schemas.openxmlformats.org/drawingml/2006/main">
            <a:rect l="l" t="t" r="r" b="b"/>
            <a:pathLst>
              <a:path w="2476500" h="9525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291619F3-9597-4296-8113-DD9C2929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8368" y="3174682"/>
            <a:ext cx="802996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BOM 行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A0778DFE-8D99-4112-97C9-ADBA3D68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8462" y="3516630"/>
            <a:ext cx="1715826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87,059</a:t>
            </a:r>
          </a:p>
        </p:txBody>
      </p:sp>
      <p:sp>
        <p:nvSpPr>
          <p:cNvPr id="9" name="Line 9">
            <a:extLst xmlns:a="http://schemas.openxmlformats.org/drawingml/2006/main">
              <a:ext uri="{FF2B5EF4-FFF2-40B4-BE49-F238E27FC236}">
                <a16:creationId xmlns:a16="http://schemas.microsoft.com/office/drawing/2014/main" id="{3E4AEC42-370A-484D-8725-05C2A5BB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750" y="4114800"/>
            <a:ext cx="2476500" cy="9525"/>
          </a:xfrm>
          <a:custGeom xmlns:a="http://schemas.openxmlformats.org/drawingml/2006/main">
            <a:rect l="l" t="t" r="r" b="b"/>
            <a:pathLst>
              <a:path w="2476500" h="9525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E4C27A7B-7DA5-4CA1-82A8-80063064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8368" y="4431982"/>
            <a:ext cx="683133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需求行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37C228E8-51B9-46BA-BD3D-2EDB2B60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8462" y="4773930"/>
            <a:ext cx="1715826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chemeClr val="accent3"/>
                </a:solidFill>
                <a:latin typeface="Consolas"/>
                <a:ea typeface="Consolas"/>
                <a:cs typeface="Consolas"/>
              </a:rPr>
              <a:t>28,000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D7D792B-7DFE-4F26-A278-841781B3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8368" y="5384482"/>
            <a:ext cx="2226888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12 节点 · 11 条供应弧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55A488BD-1EC1-4A2F-87EA-BCF16A98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4750" y="2343150"/>
            <a:ext cx="9525" cy="2876550"/>
          </a:xfrm>
          <a:custGeom xmlns:a="http://schemas.openxmlformats.org/drawingml/2006/main">
            <a:rect l="l" t="t" r="r" b="b"/>
            <a:pathLst>
              <a:path w="9525" h="2876550">
                <a:moveTo>
                  <a:pt x="0" y="0"/>
                </a:moveTo>
                <a:lnTo>
                  <a:pt x="0" y="287655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chemeClr val="accent5"/>
            </a:solidFill>
          </a:ln>
        </p:spPr>
      </p:sp>
      <p:sp>
        <p:nvSpPr>
          <p:cNvPr id="15" name="Ellipse 15">
            <a:extLst xmlns:a="http://schemas.openxmlformats.org/drawingml/2006/main">
              <a:ext uri="{FF2B5EF4-FFF2-40B4-BE49-F238E27FC236}">
                <a16:creationId xmlns:a16="http://schemas.microsoft.com/office/drawing/2014/main" id="{202EA54D-E68B-409E-9851-B57BF32E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099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0A609D3D-E989-4E9E-9C39-FC0DC533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00450" y="2214562"/>
            <a:ext cx="228600" cy="85725"/>
          </a:xfrm>
          <a:custGeom xmlns:a="http://schemas.openxmlformats.org/drawingml/2006/main">
            <a:rect l="l" t="t" r="r" b="b"/>
            <a:pathLst>
              <a:path w="228600" h="85725">
                <a:moveTo>
                  <a:pt x="0" y="42862"/>
                </a:moveTo>
                <a:cubicBezTo>
                  <a:pt x="0" y="66535"/>
                  <a:pt x="51174" y="85725"/>
                  <a:pt x="114300" y="85725"/>
                </a:cubicBezTo>
                <a:cubicBezTo>
                  <a:pt x="177426" y="85725"/>
                  <a:pt x="228600" y="66535"/>
                  <a:pt x="228600" y="42862"/>
                </a:cubicBezTo>
                <a:cubicBezTo>
                  <a:pt x="228600" y="19190"/>
                  <a:pt x="177426" y="0"/>
                  <a:pt x="114300" y="0"/>
                </a:cubicBezTo>
                <a:cubicBezTo>
                  <a:pt x="51174" y="0"/>
                  <a:pt x="0" y="19190"/>
                  <a:pt x="0" y="42862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F148DACE-6D8C-4A58-8171-7617E7CA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00450" y="2257425"/>
            <a:ext cx="228600" cy="128588"/>
          </a:xfrm>
          <a:custGeom xmlns:a="http://schemas.openxmlformats.org/drawingml/2006/main">
            <a:rect l="l" t="t" r="r" b="b"/>
            <a:pathLst>
              <a:path w="228600" h="128588">
                <a:moveTo>
                  <a:pt x="0" y="0"/>
                </a:moveTo>
                <a:lnTo>
                  <a:pt x="0" y="85725"/>
                </a:lnTo>
                <a:cubicBezTo>
                  <a:pt x="0" y="109397"/>
                  <a:pt x="51174" y="128588"/>
                  <a:pt x="114300" y="128588"/>
                </a:cubicBezTo>
                <a:cubicBezTo>
                  <a:pt x="177426" y="128588"/>
                  <a:pt x="228600" y="109397"/>
                  <a:pt x="228600" y="85725"/>
                </a:cubicBez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E9AC0F7A-46D6-421A-9293-C105D66F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00450" y="2343150"/>
            <a:ext cx="228600" cy="128588"/>
          </a:xfrm>
          <a:custGeom xmlns:a="http://schemas.openxmlformats.org/drawingml/2006/main">
            <a:rect l="l" t="t" r="r" b="b"/>
            <a:pathLst>
              <a:path w="228600" h="128588">
                <a:moveTo>
                  <a:pt x="0" y="0"/>
                </a:moveTo>
                <a:lnTo>
                  <a:pt x="0" y="85725"/>
                </a:lnTo>
                <a:cubicBezTo>
                  <a:pt x="0" y="109397"/>
                  <a:pt x="51174" y="128588"/>
                  <a:pt x="114300" y="128588"/>
                </a:cubicBezTo>
                <a:cubicBezTo>
                  <a:pt x="177426" y="128588"/>
                  <a:pt x="228600" y="109397"/>
                  <a:pt x="228600" y="85725"/>
                </a:cubicBez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4FE58D5-D874-4B04-9BE5-F71814F3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9006" y="2072640"/>
            <a:ext cx="123956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原始 .xlsb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99BB8A65-F89F-4F72-8614-38641BF3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9768" y="2412682"/>
            <a:ext cx="2704033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完整文件 SHA-256 先校验</a:t>
            </a:r>
          </a:p>
        </p:txBody>
      </p:sp>
      <p:sp>
        <p:nvSpPr>
          <p:cNvPr id="23" name="Ellipse 23">
            <a:extLst xmlns:a="http://schemas.openxmlformats.org/drawingml/2006/main">
              <a:ext uri="{FF2B5EF4-FFF2-40B4-BE49-F238E27FC236}">
                <a16:creationId xmlns:a16="http://schemas.microsoft.com/office/drawing/2014/main" id="{C9CBA8AE-1EA3-4B26-B4AA-A6A4113A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09950" y="29908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6F5B5061-3ED2-496D-8B0C-961056A1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65669" y="3177540"/>
            <a:ext cx="298163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+mn-lt"/>
                <a:ea typeface="+mn-lt"/>
                <a:cs typeface="+mn-lt"/>
              </a:rPr>
              <a:t>61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380E1927-832A-4758-A7BE-D6138494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9006" y="3025140"/>
            <a:ext cx="1722981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第 61 期原始行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531E5FB9-D172-46D1-9910-A6ABC658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9768" y="3365182"/>
            <a:ext cx="3912718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3 个重复 BOM 配置 · 217 条逐车需求</a:t>
            </a:r>
          </a:p>
        </p:txBody>
      </p:sp>
      <p:sp>
        <p:nvSpPr>
          <p:cNvPr id="28" name="Ellipse 28">
            <a:extLst xmlns:a="http://schemas.openxmlformats.org/drawingml/2006/main">
              <a:ext uri="{FF2B5EF4-FFF2-40B4-BE49-F238E27FC236}">
                <a16:creationId xmlns:a16="http://schemas.microsoft.com/office/drawing/2014/main" id="{C2A0A0E0-CFBD-4483-871F-9246B842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09950" y="3943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8D43C41F-9351-402B-863A-499FFCD5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1875" y="4333875"/>
            <a:ext cx="57150" cy="57150"/>
          </a:xfrm>
          <a:custGeom xmlns:a="http://schemas.openxmlformats.org/drawingml/2006/main">
            <a:rect l="l" t="t" r="r" b="b"/>
            <a:pathLst>
              <a:path w="57150" h="57150">
                <a:moveTo>
                  <a:pt x="57150" y="28575"/>
                </a:move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A564E2B7-A9F3-4931-8A0A-2AD43C1E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4750" y="4105275"/>
            <a:ext cx="57150" cy="57150"/>
          </a:xfrm>
          <a:custGeom xmlns:a="http://schemas.openxmlformats.org/drawingml/2006/main">
            <a:rect l="l" t="t" r="r" b="b"/>
            <a:pathLst>
              <a:path w="57150" h="57150">
                <a:moveTo>
                  <a:pt x="57150" y="28575"/>
                </a:move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B23EEC3B-C09D-4DDE-81FE-1F4F6D62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4750" y="4333875"/>
            <a:ext cx="57150" cy="57150"/>
          </a:xfrm>
          <a:custGeom xmlns:a="http://schemas.openxmlformats.org/drawingml/2006/main">
            <a:rect l="l" t="t" r="r" b="b"/>
            <a:pathLst>
              <a:path w="57150" h="57150">
                <a:moveTo>
                  <a:pt x="57150" y="28575"/>
                </a:move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3258A2A9-9662-4988-8A3C-9B955A8B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43312" y="4219575"/>
            <a:ext cx="57150" cy="57150"/>
          </a:xfrm>
          <a:custGeom xmlns:a="http://schemas.openxmlformats.org/drawingml/2006/main">
            <a:rect l="l" t="t" r="r" b="b"/>
            <a:pathLst>
              <a:path w="57150" h="57150">
                <a:moveTo>
                  <a:pt x="57150" y="28575"/>
                </a:move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503A8B78-06F0-46CB-9E02-ABC1D54A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86188" y="4219575"/>
            <a:ext cx="57150" cy="57150"/>
          </a:xfrm>
          <a:custGeom xmlns:a="http://schemas.openxmlformats.org/drawingml/2006/main">
            <a:rect l="l" t="t" r="r" b="b"/>
            <a:pathLst>
              <a:path w="57150" h="57150">
                <a:moveTo>
                  <a:pt x="57150" y="28575"/>
                </a:move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9A350A70-F1FA-4AD7-9ABB-BFC78DDE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15566" y="4272439"/>
            <a:ext cx="41148" cy="65808"/>
          </a:xfrm>
          <a:custGeom xmlns:a="http://schemas.openxmlformats.org/drawingml/2006/main">
            <a:rect l="l" t="t" r="r" b="b"/>
            <a:pathLst>
              <a:path w="41148" h="65808">
                <a:moveTo>
                  <a:pt x="0" y="65808"/>
                </a:moveTo>
                <a:lnTo>
                  <a:pt x="411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0CAB50FD-4863-4057-88E1-99E176C1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7047" y="4158124"/>
            <a:ext cx="41105" cy="65780"/>
          </a:xfrm>
          <a:custGeom xmlns:a="http://schemas.openxmlformats.org/drawingml/2006/main">
            <a:rect l="l" t="t" r="r" b="b"/>
            <a:pathLst>
              <a:path w="41105" h="65780">
                <a:moveTo>
                  <a:pt x="0" y="65780"/>
                </a:moveTo>
                <a:lnTo>
                  <a:pt x="411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4BDAECC7-81D9-4117-BD31-BC86ACAA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7104" y="4272510"/>
            <a:ext cx="41091" cy="65722"/>
          </a:xfrm>
          <a:custGeom xmlns:a="http://schemas.openxmlformats.org/drawingml/2006/main">
            <a:rect l="l" t="t" r="r" b="b"/>
            <a:pathLst>
              <a:path w="41091" h="65722">
                <a:moveTo>
                  <a:pt x="0" y="0"/>
                </a:moveTo>
                <a:lnTo>
                  <a:pt x="41091" y="65722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CBB9FD7D-B229-4B1F-A0A2-9F5ACEBA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58513" y="4158139"/>
            <a:ext cx="41162" cy="65865"/>
          </a:xfrm>
          <a:custGeom xmlns:a="http://schemas.openxmlformats.org/drawingml/2006/main">
            <a:rect l="l" t="t" r="r" b="b"/>
            <a:pathLst>
              <a:path w="41162" h="65865">
                <a:moveTo>
                  <a:pt x="0" y="0"/>
                </a:moveTo>
                <a:lnTo>
                  <a:pt x="41162" y="6586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0BB2B6C0-1307-473A-A9FB-A8B7057F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9006" y="3977640"/>
            <a:ext cx="1506714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lineage.json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36A4ECB3-FA85-4448-8FF1-9E6F5875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9768" y="4317682"/>
            <a:ext cx="4253027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需求、BOM、库存、容量保留工作表行号</a:t>
            </a:r>
          </a:p>
        </p:txBody>
      </p:sp>
      <p:sp>
        <p:nvSpPr>
          <p:cNvPr id="42" name="Ellipse 42">
            <a:extLst xmlns:a="http://schemas.openxmlformats.org/drawingml/2006/main">
              <a:ext uri="{FF2B5EF4-FFF2-40B4-BE49-F238E27FC236}">
                <a16:creationId xmlns:a16="http://schemas.microsoft.com/office/drawing/2014/main" id="{52D7D3C3-B87B-4063-BA63-F4B91F07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09950" y="48958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>
            <a:noFill/>
          </a:ln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3E4B92F8-752A-4D5C-A666-1100C6C0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66881" y="5072062"/>
            <a:ext cx="279010" cy="254975"/>
          </a:xfrm>
          <a:custGeom xmlns:a="http://schemas.openxmlformats.org/drawingml/2006/main">
            <a:rect l="l" t="t" r="r" b="b"/>
            <a:pathLst>
              <a:path w="279010" h="254975">
                <a:moveTo>
                  <a:pt x="140154" y="254975"/>
                </a:moveTo>
                <a:cubicBezTo>
                  <a:pt x="50649" y="227230"/>
                  <a:pt x="0" y="132765"/>
                  <a:pt x="26425" y="42862"/>
                </a:cubicBezTo>
                <a:cubicBezTo>
                  <a:pt x="70939" y="44899"/>
                  <a:pt x="114496" y="29526"/>
                  <a:pt x="147869" y="0"/>
                </a:cubicBezTo>
                <a:cubicBezTo>
                  <a:pt x="181242" y="29526"/>
                  <a:pt x="224800" y="44899"/>
                  <a:pt x="269313" y="42862"/>
                </a:cubicBezTo>
                <a:cubicBezTo>
                  <a:pt x="279010" y="75854"/>
                  <a:pt x="278561" y="110999"/>
                  <a:pt x="268027" y="143732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72755E3C-91BB-4A81-9E34-448D72DB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57612" y="5272088"/>
            <a:ext cx="85725" cy="57150"/>
          </a:xfrm>
          <a:custGeom xmlns:a="http://schemas.openxmlformats.org/drawingml/2006/main">
            <a:rect l="l" t="t" r="r" b="b"/>
            <a:pathLst>
              <a:path w="85725" h="57150">
                <a:moveTo>
                  <a:pt x="0" y="28575"/>
                </a:moveTo>
                <a:lnTo>
                  <a:pt x="28575" y="57150"/>
                </a:ln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108C7D8D-56E5-44A2-9A8D-71D6CB94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9006" y="4930140"/>
            <a:ext cx="115051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217 → 217</a:t>
            </a:r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F9629DE8-35F8-4808-B837-37418BA6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9768" y="5270182"/>
            <a:ext cx="1982553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聚合前后数量差为 0</a:t>
            </a:r>
          </a:p>
        </p:txBody>
      </p:sp>
      <p:sp>
        <p:nvSpPr>
          <p:cNvPr id="50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3282B7A4-9634-4CE3-B225-1C2404A6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6250" y="1790700"/>
            <a:ext cx="318135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9A3469A8-0EC7-4738-B9A5-5A8710BA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4756" y="1977390"/>
            <a:ext cx="233025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公开层 · CC BY 4.0</a:t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A2930AD2-F2FA-4CAB-A50B-5925BC28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5518" y="2393632"/>
            <a:ext cx="1976476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chemeClr val="dk1"/>
                </a:solidFill>
                <a:latin typeface="+mn-lt"/>
                <a:ea typeface="+mn-lt"/>
                <a:cs typeface="+mn-lt"/>
              </a:rPr>
              <a:t>BOM · 需求 · 库存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1A76ADFB-2A91-4774-813E-F1D6BE5B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5518" y="2736532"/>
            <a:ext cx="2304631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chemeClr val="dk1"/>
                </a:solidFill>
                <a:latin typeface="+mn-lt"/>
                <a:ea typeface="+mn-lt"/>
                <a:cs typeface="+mn-lt"/>
              </a:rPr>
              <a:t>提前期 · 容量 · 供应弧</a:t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B1979D35-BAED-4680-B397-CADD0592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7042" y="3092768"/>
            <a:ext cx="3284982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行业背景随机化数据，不是企业原始流水</a:t>
            </a:r>
          </a:p>
        </p:txBody>
      </p:sp>
      <p:sp>
        <p:nvSpPr>
          <p:cNvPr id="55" name="Rectangle 55">
            <a:extLst xmlns:a="http://schemas.openxmlformats.org/drawingml/2006/main">
              <a:ext uri="{FF2B5EF4-FFF2-40B4-BE49-F238E27FC236}">
                <a16:creationId xmlns:a16="http://schemas.microsoft.com/office/drawing/2014/main" id="{B15AE957-9326-4D60-8071-744F31B2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6250" y="3695700"/>
            <a:ext cx="318135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9050">
            <a:solidFill>
              <a:srgbClr val="FFCF8C"/>
            </a:solidFill>
          </a:ln>
        </p:spPr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924E0D1E-3FD1-4160-8AD8-2A7BD97C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4756" y="3882390"/>
            <a:ext cx="2829759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9B5B00"/>
                </a:solidFill>
                <a:latin typeface="+mn-lt"/>
                <a:ea typeface="+mn-lt"/>
                <a:cs typeface="+mn-lt"/>
              </a:rPr>
              <a:t>模拟层 · seed 20260809</a:t>
            </a:r>
          </a:p>
        </p:txBody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6051FF2D-525B-41EB-B9E4-01966C99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5518" y="4298632"/>
            <a:ext cx="2304631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chemeClr val="dk1"/>
                </a:solidFill>
                <a:latin typeface="+mn-lt"/>
                <a:ea typeface="+mn-lt"/>
                <a:cs typeface="+mn-lt"/>
              </a:rPr>
              <a:t>客户 · 邮件 · 应急报价</a:t>
            </a:r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A35E0818-7463-45DA-8A9E-FC2B72B9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5518" y="4641532"/>
            <a:ext cx="2304631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chemeClr val="dk1"/>
                </a:solidFill>
                <a:latin typeface="+mn-lt"/>
                <a:ea typeface="+mn-lt"/>
                <a:cs typeface="+mn-lt"/>
              </a:rPr>
              <a:t>预算 · 审批 · 随机事故</a:t>
            </a:r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F1989213-53ED-43D9-9BB0-476200A4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7042" y="4997768"/>
            <a:ext cx="2739771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不能归因于数据集作者或真实企业</a:t>
            </a:r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C2845656-CF5C-4930-A0A1-EFC8877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5985510"/>
            <a:ext cx="6782476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Moetz, Quetschlich &amp; Otto · DOI 10.17632/pr3sdy5vp3.1 · Mendeley Data · CC BY 4.0</a:t>
            </a:r>
          </a:p>
        </p:txBody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01922889-E206-46C7-8311-C2E74479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98606" y="6271260"/>
            <a:ext cx="18989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7E9AAA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64422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19E8C209-ED77-4C28-A458-8162C025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1312" y="411480"/>
            <a:ext cx="9196121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同一组硬约束，给出三种真正不同的取舍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F4DFBD0E-823A-44AA-A195-0DFA95D9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1218" y="1022032"/>
            <a:ext cx="6014085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不是改标题：服务、应急量和成本随策略偏好发生真实变化。</a:t>
            </a:r>
          </a:p>
        </p:txBody>
      </p:sp>
      <p:sp>
        <p:nvSpPr>
          <p:cNvPr id="4" name="Line 4">
            <a:extLst xmlns:a="http://schemas.openxmlformats.org/drawingml/2006/main">
              <a:ext uri="{FF2B5EF4-FFF2-40B4-BE49-F238E27FC236}">
                <a16:creationId xmlns:a16="http://schemas.microsoft.com/office/drawing/2014/main" id="{31582404-7370-4097-B1D9-B627F40D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4750" y="1866900"/>
            <a:ext cx="6286500" cy="9525"/>
          </a:xfrm>
          <a:custGeom xmlns:a="http://schemas.openxmlformats.org/drawingml/2006/main">
            <a:rect l="l" t="t" r="r" b="b"/>
            <a:pathLst>
              <a:path w="6286500" h="9525">
                <a:moveTo>
                  <a:pt x="0" y="0"/>
                </a:moveTo>
                <a:lnTo>
                  <a:pt x="6286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5" name="Line 5">
            <a:extLst xmlns:a="http://schemas.openxmlformats.org/drawingml/2006/main">
              <a:ext uri="{FF2B5EF4-FFF2-40B4-BE49-F238E27FC236}">
                <a16:creationId xmlns:a16="http://schemas.microsoft.com/office/drawing/2014/main" id="{BCD532FF-2C8A-49F7-AE5F-7D4F6A14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4750" y="1790700"/>
            <a:ext cx="9525" cy="152400"/>
          </a:xfrm>
          <a:custGeom xmlns:a="http://schemas.openxmlformats.org/drawingml/2006/main">
            <a:rect l="l" t="t" r="r" b="b"/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6" name="Line 6">
            <a:extLst xmlns:a="http://schemas.openxmlformats.org/drawingml/2006/main">
              <a:ext uri="{FF2B5EF4-FFF2-40B4-BE49-F238E27FC236}">
                <a16:creationId xmlns:a16="http://schemas.microsoft.com/office/drawing/2014/main" id="{19115F10-A36B-47FB-993E-79D3E250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0" y="1790700"/>
            <a:ext cx="9525" cy="152400"/>
          </a:xfrm>
          <a:custGeom xmlns:a="http://schemas.openxmlformats.org/drawingml/2006/main">
            <a:rect l="l" t="t" r="r" b="b"/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7" name="Line 7">
            <a:extLst xmlns:a="http://schemas.openxmlformats.org/drawingml/2006/main">
              <a:ext uri="{FF2B5EF4-FFF2-40B4-BE49-F238E27FC236}">
                <a16:creationId xmlns:a16="http://schemas.microsoft.com/office/drawing/2014/main" id="{2EAEDF86-5F08-4EA3-98AA-688B28A6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01250" y="1790700"/>
            <a:ext cx="9525" cy="152400"/>
          </a:xfrm>
          <a:custGeom xmlns:a="http://schemas.openxmlformats.org/drawingml/2006/main">
            <a:rect l="l" t="t" r="r" b="b"/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8438DD1D-602B-44FB-AFDE-3F08A989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64229" y="1546860"/>
            <a:ext cx="101041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0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10F34033-2DBB-4131-BE72-02A29CD3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13627" y="1546860"/>
            <a:ext cx="488747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约 109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93954470-806D-449C-BE78-69423008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6877" y="1546860"/>
            <a:ext cx="488747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217 台</a:t>
            </a:r>
          </a:p>
        </p:txBody>
      </p:sp>
      <p:sp>
        <p:nvSpPr>
          <p:cNvPr id="11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BC59A54-3429-4CAE-8C44-1B98EC3F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4750" y="2343150"/>
            <a:ext cx="62865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DCEBF0"/>
          </a:solidFill>
          <a:ln xmlns:a="http://schemas.openxmlformats.org/drawingml/2006/main">
            <a:noFill/>
          </a:ln>
        </p:spPr>
      </p:sp>
      <p:sp>
        <p:nvSpPr>
          <p:cNvPr id="12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3B99F3A-F1B3-42A8-9B6A-28674FAB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4750" y="2343150"/>
            <a:ext cx="26384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4530CFC4-9C49-4989-BBC2-AF909D93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42848" y="2462212"/>
            <a:ext cx="372704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91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2E1158C-514A-41AF-A614-46C4B3D5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25375" y="2526982"/>
            <a:ext cx="894150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126 延迟</a:t>
            </a:r>
          </a:p>
        </p:txBody>
      </p:sp>
      <p:sp>
        <p:nvSpPr>
          <p:cNvPr id="16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20DC5BA-434E-4B74-9CF4-CB3E617C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4750" y="3467100"/>
            <a:ext cx="62865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DCEBF0"/>
          </a:solidFill>
          <a:ln xmlns:a="http://schemas.openxmlformats.org/drawingml/2006/main">
            <a:noFill/>
          </a:ln>
        </p:spPr>
      </p:sp>
      <p:sp>
        <p:nvSpPr>
          <p:cNvPr id="17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5BAF3EE-DA87-4F6B-BD88-773F5C0C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4750" y="3467100"/>
            <a:ext cx="130492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640E5E81-8A47-4159-8809-A656B56E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76098" y="3586162"/>
            <a:ext cx="372704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45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198C746C-9BEB-4113-B1C5-9A560119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77675" y="3650932"/>
            <a:ext cx="894150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172 延迟</a:t>
            </a:r>
          </a:p>
        </p:txBody>
      </p:sp>
      <p:sp>
        <p:nvSpPr>
          <p:cNvPr id="21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4CF9A66-2531-4D8D-AA96-B4EC063A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4750" y="4591050"/>
            <a:ext cx="62865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DCEBF0"/>
          </a:solidFill>
          <a:ln xmlns:a="http://schemas.openxmlformats.org/drawingml/2006/main">
            <a:noFill/>
          </a:ln>
        </p:spPr>
      </p:sp>
      <p:sp>
        <p:nvSpPr>
          <p:cNvPr id="22" name="Line 22">
            <a:extLst xmlns:a="http://schemas.openxmlformats.org/drawingml/2006/main">
              <a:ext uri="{FF2B5EF4-FFF2-40B4-BE49-F238E27FC236}">
                <a16:creationId xmlns:a16="http://schemas.microsoft.com/office/drawing/2014/main" id="{EB8B7B9A-4C88-4474-812B-1D4F7F0E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4750" y="4591050"/>
            <a:ext cx="9525" cy="552450"/>
          </a:xfrm>
          <a:custGeom xmlns:a="http://schemas.openxmlformats.org/drawingml/2006/main">
            <a:rect l="l" t="t" r="r" b="b"/>
            <a:pathLst>
              <a:path w="9525" h="552450">
                <a:moveTo>
                  <a:pt x="0" y="0"/>
                </a:moveTo>
                <a:lnTo>
                  <a:pt x="0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chemeClr val="accent6"/>
            </a:solidFill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D7D07293-CD39-4976-B46A-1C913DDD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10925" y="4774882"/>
            <a:ext cx="894150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217 延迟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901D1EFC-1C2D-43EB-834C-E2AEEED5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846" y="2296478"/>
            <a:ext cx="1107243" cy="49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保交付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01EC6006-9C3A-4B30-B3C8-1F63E833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7418" y="2717482"/>
            <a:ext cx="1516094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应急 91 · ¥728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239F1FCD-D35C-4825-A89C-7C79833B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846" y="3420428"/>
            <a:ext cx="746798" cy="49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>
                <a:solidFill>
                  <a:srgbClr val="4B45B7"/>
                </a:solidFill>
                <a:latin typeface="+mn-lt"/>
                <a:ea typeface="+mn-lt"/>
                <a:cs typeface="+mn-lt"/>
              </a:rPr>
              <a:t>平衡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EAC01224-2862-4C47-92F4-52FD1B68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7418" y="3841432"/>
            <a:ext cx="1516094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应急 45 · ¥360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D8391BAB-347F-4EFA-B8F3-C9F42029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846" y="4544378"/>
            <a:ext cx="1107243" cy="49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>
                <a:solidFill>
                  <a:srgbClr val="9B5B00"/>
                </a:solidFill>
                <a:latin typeface="+mn-lt"/>
                <a:ea typeface="+mn-lt"/>
                <a:cs typeface="+mn-lt"/>
              </a:rPr>
              <a:t>少变更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3F603118-F8E9-41DE-AB79-D36C051C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7418" y="4965382"/>
            <a:ext cx="1149591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应急 0 · ¥0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51CD2DEE-7C6F-4959-88BB-DE3D731E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6154" y="2013585"/>
            <a:ext cx="729082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6A085"/>
                </a:solidFill>
                <a:latin typeface="+mn-lt"/>
                <a:ea typeface="+mn-lt"/>
                <a:cs typeface="+mn-lt"/>
              </a:rPr>
              <a:t>OPTIMAL</a:t>
            </a: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45338D65-D02B-4E0D-A051-19498EC9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47041" y="2419350"/>
            <a:ext cx="372013" cy="339966"/>
          </a:xfrm>
          <a:custGeom xmlns:a="http://schemas.openxmlformats.org/drawingml/2006/main">
            <a:rect l="l" t="t" r="r" b="b"/>
            <a:pathLst>
              <a:path w="372013" h="339966">
                <a:moveTo>
                  <a:pt x="186872" y="339966"/>
                </a:moveTo>
                <a:cubicBezTo>
                  <a:pt x="67532" y="302974"/>
                  <a:pt x="0" y="177021"/>
                  <a:pt x="35234" y="57150"/>
                </a:cubicBezTo>
                <a:cubicBezTo>
                  <a:pt x="94585" y="59866"/>
                  <a:pt x="152661" y="39368"/>
                  <a:pt x="197159" y="0"/>
                </a:cubicBezTo>
                <a:cubicBezTo>
                  <a:pt x="241657" y="39368"/>
                  <a:pt x="299733" y="59866"/>
                  <a:pt x="359084" y="57150"/>
                </a:cubicBezTo>
                <a:cubicBezTo>
                  <a:pt x="372013" y="101139"/>
                  <a:pt x="371415" y="147998"/>
                  <a:pt x="357369" y="1916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A085"/>
            </a:solidFill>
          </a:ln>
        </p:spPr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BEDCEA0E-D77C-4060-9FB0-0BC3CFDD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01350" y="2686050"/>
            <a:ext cx="114300" cy="76200"/>
          </a:xfrm>
          <a:custGeom xmlns:a="http://schemas.openxmlformats.org/drawingml/2006/main">
            <a:rect l="l" t="t" r="r" b="b"/>
            <a:pathLst>
              <a:path w="114300" h="76200">
                <a:moveTo>
                  <a:pt x="0" y="38100"/>
                </a:moveTo>
                <a:lnTo>
                  <a:pt x="38100" y="76200"/>
                </a:ln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A085"/>
            </a:solidFill>
          </a:ln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58AEA92F-7E17-4182-A3C3-E021CCEA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23093" y="2918460"/>
            <a:ext cx="642214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116956"/>
                </a:solidFill>
                <a:latin typeface="+mn-lt"/>
                <a:ea typeface="+mn-lt"/>
                <a:cs typeface="+mn-lt"/>
              </a:rPr>
              <a:t>verified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7E676BDD-ECE5-4611-8CAE-8CA42B7A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47041" y="3543300"/>
            <a:ext cx="372013" cy="339966"/>
          </a:xfrm>
          <a:custGeom xmlns:a="http://schemas.openxmlformats.org/drawingml/2006/main">
            <a:rect l="l" t="t" r="r" b="b"/>
            <a:pathLst>
              <a:path w="372013" h="339966">
                <a:moveTo>
                  <a:pt x="186872" y="339966"/>
                </a:moveTo>
                <a:cubicBezTo>
                  <a:pt x="67532" y="302974"/>
                  <a:pt x="0" y="177021"/>
                  <a:pt x="35234" y="57150"/>
                </a:cubicBezTo>
                <a:cubicBezTo>
                  <a:pt x="94585" y="59866"/>
                  <a:pt x="152661" y="39368"/>
                  <a:pt x="197159" y="0"/>
                </a:cubicBezTo>
                <a:cubicBezTo>
                  <a:pt x="241657" y="39368"/>
                  <a:pt x="299733" y="59866"/>
                  <a:pt x="359084" y="57150"/>
                </a:cubicBezTo>
                <a:cubicBezTo>
                  <a:pt x="372013" y="101139"/>
                  <a:pt x="371415" y="147998"/>
                  <a:pt x="357369" y="1916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A085"/>
            </a:solidFill>
          </a:ln>
        </p:spPr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A4FEB3AD-D4C6-4626-AD06-C5CC4CA8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01350" y="3810000"/>
            <a:ext cx="114300" cy="76200"/>
          </a:xfrm>
          <a:custGeom xmlns:a="http://schemas.openxmlformats.org/drawingml/2006/main">
            <a:rect l="l" t="t" r="r" b="b"/>
            <a:pathLst>
              <a:path w="114300" h="76200">
                <a:moveTo>
                  <a:pt x="0" y="38100"/>
                </a:moveTo>
                <a:lnTo>
                  <a:pt x="38100" y="76200"/>
                </a:ln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A085"/>
            </a:solidFill>
          </a:ln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D04128F4-B783-4A17-BBD9-4EC74A1E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23093" y="4042410"/>
            <a:ext cx="642214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116956"/>
                </a:solidFill>
                <a:latin typeface="+mn-lt"/>
                <a:ea typeface="+mn-lt"/>
                <a:cs typeface="+mn-lt"/>
              </a:rPr>
              <a:t>verified</a:t>
            </a:r>
          </a:p>
        </p:txBody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B34BC5C4-B4B8-4C47-A885-EA6F79F7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47041" y="4667250"/>
            <a:ext cx="372013" cy="339966"/>
          </a:xfrm>
          <a:custGeom xmlns:a="http://schemas.openxmlformats.org/drawingml/2006/main">
            <a:rect l="l" t="t" r="r" b="b"/>
            <a:pathLst>
              <a:path w="372013" h="339966">
                <a:moveTo>
                  <a:pt x="186872" y="339966"/>
                </a:moveTo>
                <a:cubicBezTo>
                  <a:pt x="67532" y="302974"/>
                  <a:pt x="0" y="177021"/>
                  <a:pt x="35234" y="57150"/>
                </a:cubicBezTo>
                <a:cubicBezTo>
                  <a:pt x="94585" y="59866"/>
                  <a:pt x="152661" y="39368"/>
                  <a:pt x="197159" y="0"/>
                </a:cubicBezTo>
                <a:cubicBezTo>
                  <a:pt x="241657" y="39368"/>
                  <a:pt x="299733" y="59866"/>
                  <a:pt x="359084" y="57150"/>
                </a:cubicBezTo>
                <a:cubicBezTo>
                  <a:pt x="372013" y="101139"/>
                  <a:pt x="371415" y="147998"/>
                  <a:pt x="357369" y="191643"/>
                </a:cubicBez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A085"/>
            </a:solidFill>
          </a:ln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F583D7CD-47B5-4FFB-8111-02D8601A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01350" y="4933950"/>
            <a:ext cx="114300" cy="76200"/>
          </a:xfrm>
          <a:custGeom xmlns:a="http://schemas.openxmlformats.org/drawingml/2006/main">
            <a:rect l="l" t="t" r="r" b="b"/>
            <a:pathLst>
              <a:path w="114300" h="76200">
                <a:moveTo>
                  <a:pt x="0" y="38100"/>
                </a:moveTo>
                <a:lnTo>
                  <a:pt x="38100" y="76200"/>
                </a:ln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A085"/>
            </a:solidFill>
          </a:ln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B4E16B93-27B4-4925-AA7F-E45FB1F9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23093" y="5166360"/>
            <a:ext cx="642214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116956"/>
                </a:solidFill>
                <a:latin typeface="+mn-lt"/>
                <a:ea typeface="+mn-lt"/>
                <a:cs typeface="+mn-lt"/>
              </a:rPr>
              <a:t>verified</a:t>
            </a:r>
          </a:p>
        </p:txBody>
      </p:sp>
      <p:sp>
        <p:nvSpPr>
          <p:cNvPr id="47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F0A6E264-7C64-4437-8A15-912940B2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619750"/>
            <a:ext cx="102870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>
            <a:noFill/>
          </a:ln>
        </p:spPr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11C501CC-019F-4813-AA9E-CF42276E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9818" y="5746432"/>
            <a:ext cx="7180231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9B5B00"/>
                </a:solidFill>
                <a:latin typeface="+mn-lt"/>
                <a:ea typeface="+mn-lt"/>
                <a:cs typeface="+mn-lt"/>
              </a:rPr>
              <a:t>应急来源最多 100 件，订单必须整批交付；系统不会拆单制造漂亮数字。</a:t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6720DB26-0A92-48B4-B2CA-DDA1FD86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271260"/>
            <a:ext cx="5254295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模拟项：应急上限、单价、预算；91 / 45 / 0 为 solver artifact 结果。</a:t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A8674846-EF2A-445A-BC76-E5C39D0A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98606" y="6271260"/>
            <a:ext cx="18989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7E9AAA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529941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88DDF696-FF89-4C97-A02B-7159DE0D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1312" y="411480"/>
            <a:ext cx="10722712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真实界面把证据、方案和审批放在同一条路径上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07D10B0D-61AD-442C-897C-CD666492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1218" y="1022032"/>
            <a:ext cx="6987235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启动事故、比较方案、查看排程、批准或驳回，再下载完整 JSON。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53ABCD2-0E33-4FCF-92BB-0DA92C63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2133600"/>
            <a:ext cx="5619750" cy="3390900"/>
          </a:xfrm>
          <a:prstGeom xmlns:a="http://schemas.openxmlformats.org/drawingml/2006/main" prst="roundRect">
            <a:avLst>
              <a:gd name="adj" fmla="val 39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chemeClr val="accent5"/>
            </a:solidFill>
          </a:ln>
        </p:spPr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A05F335-0169-44C8-84BF-EE1A6157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2133600"/>
            <a:ext cx="5619750" cy="304800"/>
          </a:xfrm>
          <a:prstGeom xmlns:a="http://schemas.openxmlformats.org/drawingml/2006/main" prst="roundRect">
            <a:avLst>
              <a:gd name="adj" fmla="val 4375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</p:sp>
      <p:sp>
        <p:nvSpPr>
          <p:cNvPr id="6" name="Ellipse 6">
            <a:extLst xmlns:a="http://schemas.openxmlformats.org/drawingml/2006/main">
              <a:ext uri="{FF2B5EF4-FFF2-40B4-BE49-F238E27FC236}">
                <a16:creationId xmlns:a16="http://schemas.microsoft.com/office/drawing/2014/main" id="{979FFDC5-1972-4D02-8160-5F3005CC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7725" y="2238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>
            <a:noFill/>
          </a:ln>
        </p:spPr>
      </p:sp>
      <p:sp>
        <p:nvSpPr>
          <p:cNvPr id="7" name="Ellipse 7">
            <a:extLst xmlns:a="http://schemas.openxmlformats.org/drawingml/2006/main">
              <a:ext uri="{FF2B5EF4-FFF2-40B4-BE49-F238E27FC236}">
                <a16:creationId xmlns:a16="http://schemas.microsoft.com/office/drawing/2014/main" id="{0682449A-CE43-433B-BC79-1CF11DA7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9175" y="2238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</p:sp>
      <p:sp>
        <p:nvSpPr>
          <p:cNvPr id="8" name="Ellipse 8">
            <a:extLst xmlns:a="http://schemas.openxmlformats.org/drawingml/2006/main">
              <a:ext uri="{FF2B5EF4-FFF2-40B4-BE49-F238E27FC236}">
                <a16:creationId xmlns:a16="http://schemas.microsoft.com/office/drawing/2014/main" id="{0ED014A1-2971-48F5-82E7-25068665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0625" y="2238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>
            <a:noFill/>
          </a:ln>
        </p:spPr>
      </p:sp>
      <p:pic>
        <p:nvPicPr>
          <p:cNvPr id="41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4cf4839e94a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21808" y="2533650"/>
            <a:ext cx="5147733" cy="2895600"/>
          </a:xfrm>
          <a:prstGeom xmlns:a="http://schemas.openxmlformats.org/drawingml/2006/main" prst="rect">
            <a:avLst/>
          </a:prstGeom>
        </p:spPr>
      </p:pic>
      <p:sp>
        <p:nvSpPr>
          <p:cNvPr id="11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0C262F3-A1FE-48B1-9059-9B137DCE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9650" y="1638300"/>
            <a:ext cx="6572250" cy="3962400"/>
          </a:xfrm>
          <a:prstGeom xmlns:a="http://schemas.openxmlformats.org/drawingml/2006/main" prst="roundRect">
            <a:avLst>
              <a:gd name="adj" fmla="val 33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chemeClr val="accent2"/>
            </a:solidFill>
          </a:ln>
        </p:spPr>
      </p:sp>
      <p:sp>
        <p:nvSpPr>
          <p:cNvPr id="12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4550A6D-3B55-4D3A-A0A5-198229A2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9650" y="1638300"/>
            <a:ext cx="657225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</p:sp>
      <p:sp>
        <p:nvSpPr>
          <p:cNvPr id="13" name="Ellipse 13">
            <a:extLst xmlns:a="http://schemas.openxmlformats.org/drawingml/2006/main">
              <a:ext uri="{FF2B5EF4-FFF2-40B4-BE49-F238E27FC236}">
                <a16:creationId xmlns:a16="http://schemas.microsoft.com/office/drawing/2014/main" id="{BB3D0D3E-E43B-4484-8D16-8FBD122E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0625" y="1752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>
            <a:noFill/>
          </a:ln>
        </p:spPr>
      </p:sp>
      <p:sp>
        <p:nvSpPr>
          <p:cNvPr id="14" name="Ellipse 14">
            <a:extLst xmlns:a="http://schemas.openxmlformats.org/drawingml/2006/main">
              <a:ext uri="{FF2B5EF4-FFF2-40B4-BE49-F238E27FC236}">
                <a16:creationId xmlns:a16="http://schemas.microsoft.com/office/drawing/2014/main" id="{EC3F4A7E-976F-4469-A7B7-AC06AA73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075" y="1752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</p:sp>
      <p:sp>
        <p:nvSpPr>
          <p:cNvPr id="15" name="Ellipse 15">
            <a:extLst xmlns:a="http://schemas.openxmlformats.org/drawingml/2006/main">
              <a:ext uri="{FF2B5EF4-FFF2-40B4-BE49-F238E27FC236}">
                <a16:creationId xmlns:a16="http://schemas.microsoft.com/office/drawing/2014/main" id="{69215715-1268-463A-9AFB-D0B86277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43525" y="1752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>
            <a:noFill/>
          </a:ln>
        </p:spPr>
      </p:sp>
      <p:pic>
        <p:nvPicPr>
          <p:cNvPr id="47" name="Imag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caf964e934b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091642" y="2076450"/>
            <a:ext cx="6028267" cy="3390900"/>
          </a:xfrm>
          <a:prstGeom xmlns:a="http://schemas.openxmlformats.org/drawingml/2006/main" prst="rect">
            <a:avLst/>
          </a:prstGeom>
        </p:spPr>
      </p:pic>
      <p:sp>
        <p:nvSpPr>
          <p:cNvPr id="18" name="Ellipse 18">
            <a:extLst xmlns:a="http://schemas.openxmlformats.org/drawingml/2006/main">
              <a:ext uri="{FF2B5EF4-FFF2-40B4-BE49-F238E27FC236}">
                <a16:creationId xmlns:a16="http://schemas.microsoft.com/office/drawing/2014/main" id="{CF8FC183-3D55-42E2-BDFD-1708AD0E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6300" y="1543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F38F61A4-E4FE-4353-80F7-831BE14F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3887" y="1701165"/>
            <a:ext cx="15822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+mn-lt"/>
                <a:ea typeface="+mn-lt"/>
                <a:cs typeface="+mn-lt"/>
              </a:rPr>
              <a:t>1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8ED286BE-2ECA-48B3-B947-8AC34A49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5618" y="1707832"/>
            <a:ext cx="1182910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4B45B7"/>
                </a:solidFill>
                <a:latin typeface="+mn-lt"/>
                <a:ea typeface="+mn-lt"/>
                <a:cs typeface="+mn-lt"/>
              </a:rPr>
              <a:t>输入可追溯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D943DBBF-0A2D-4CD0-972D-97AB355A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09850" y="1828800"/>
            <a:ext cx="609600" cy="361950"/>
          </a:xfrm>
          <a:custGeom xmlns:a="http://schemas.openxmlformats.org/drawingml/2006/main">
            <a:rect l="l" t="t" r="r" b="b"/>
            <a:pathLst>
              <a:path w="609600" h="361950">
                <a:moveTo>
                  <a:pt x="0" y="0"/>
                </a:moveTo>
                <a:lnTo>
                  <a:pt x="609600" y="0"/>
                </a:lnTo>
                <a:lnTo>
                  <a:pt x="609600" y="3619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3"/>
            </a:solidFill>
          </a:ln>
        </p:spPr>
      </p:sp>
      <p:sp>
        <p:nvSpPr>
          <p:cNvPr id="22" name="Ellipse 22">
            <a:extLst xmlns:a="http://schemas.openxmlformats.org/drawingml/2006/main">
              <a:ext uri="{FF2B5EF4-FFF2-40B4-BE49-F238E27FC236}">
                <a16:creationId xmlns:a16="http://schemas.microsoft.com/office/drawing/2014/main" id="{52DE137F-25F7-409E-A259-8F6740BB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96300" y="1162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860F7A16-D87D-40CC-A9CD-F086E568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83887" y="1320165"/>
            <a:ext cx="15822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+mn-lt"/>
                <a:ea typeface="+mn-lt"/>
                <a:cs typeface="+mn-lt"/>
              </a:rPr>
              <a:t>2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A1EBBDE6-BB74-4DE5-BDDD-E32F39DC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35618" y="1326832"/>
            <a:ext cx="1416139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三方案可验证</a:t>
            </a:r>
          </a:p>
        </p:txBody>
      </p:sp>
      <p:sp>
        <p:nvSpPr>
          <p:cNvPr id="25" name="Ellipse 25">
            <a:extLst xmlns:a="http://schemas.openxmlformats.org/drawingml/2006/main">
              <a:ext uri="{FF2B5EF4-FFF2-40B4-BE49-F238E27FC236}">
                <a16:creationId xmlns:a16="http://schemas.microsoft.com/office/drawing/2014/main" id="{FD54991C-A2F3-46E5-9C57-7C2AF5E1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2600" y="5524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>
            <a:noFill/>
          </a:ln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AB4C8A3-7789-4722-BBF2-F017D370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60187" y="5682615"/>
            <a:ext cx="15822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+mn-lt"/>
                <a:ea typeface="+mn-lt"/>
                <a:cs typeface="+mn-lt"/>
              </a:rPr>
              <a:t>3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66201E61-9503-4350-BD7E-0301C33A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11918" y="5689282"/>
            <a:ext cx="1684352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116956"/>
                </a:solidFill>
                <a:latin typeface="+mn-lt"/>
                <a:ea typeface="+mn-lt"/>
                <a:cs typeface="+mn-lt"/>
              </a:rPr>
              <a:t>人工批准 / 驳回</a:t>
            </a:r>
          </a:p>
        </p:txBody>
      </p:sp>
      <p:sp>
        <p:nvSpPr>
          <p:cNvPr id="29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799D1F9C-2B52-4EE3-9A0C-1058068A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905500"/>
            <a:ext cx="72009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2167FA66-F8E9-49AC-B9B3-1EB30D61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3242" y="6007418"/>
            <a:ext cx="470165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Replay 保障无密钥稳定复现；它不代表 live 模型准确率。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83B4B6F5-5FF3-4911-B9E9-6C78682B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98606" y="6271260"/>
            <a:ext cx="18989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7E9AAA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6233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03B61207-5259-424E-A797-9C5D37C4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1312" y="411480"/>
            <a:ext cx="7987522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随机事故 Agent 专门负责“找麻烦”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315B0F26-4919-4E06-B0C3-4D3AE975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1218" y="1022032"/>
            <a:ext cx="6236208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受限、可复现、覆盖五类异常；它没有求解、批准或写回权限。</a:t>
            </a:r>
          </a:p>
        </p:txBody>
      </p:sp>
      <p:sp>
        <p:nvSpPr>
          <p:cNvPr id="4" name="Ellipse 4">
            <a:extLst xmlns:a="http://schemas.openxmlformats.org/drawingml/2006/main">
              <a:ext uri="{FF2B5EF4-FFF2-40B4-BE49-F238E27FC236}">
                <a16:creationId xmlns:a16="http://schemas.microsoft.com/office/drawing/2014/main" id="{B379DC9B-FC4D-48F3-9599-59462DF8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00400" y="1676400"/>
            <a:ext cx="3962400" cy="3962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C0A74B2D-AEBC-4E72-B6D2-29215359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62300" y="1866900"/>
            <a:ext cx="4019550" cy="3086100"/>
          </a:xfrm>
          <a:custGeom xmlns:a="http://schemas.openxmlformats.org/drawingml/2006/main">
            <a:rect l="l" t="t" r="r" b="b"/>
            <a:pathLst>
              <a:path w="4019550" h="3086100">
                <a:moveTo>
                  <a:pt x="2019300" y="838200"/>
                </a:moveTo>
                <a:lnTo>
                  <a:pt x="2019300" y="0"/>
                </a:lnTo>
                <a:moveTo>
                  <a:pt x="2800350" y="1219200"/>
                </a:moveTo>
                <a:lnTo>
                  <a:pt x="3886200" y="457200"/>
                </a:lnTo>
                <a:moveTo>
                  <a:pt x="2800350" y="2362200"/>
                </a:moveTo>
                <a:lnTo>
                  <a:pt x="4019550" y="2952750"/>
                </a:lnTo>
                <a:moveTo>
                  <a:pt x="1238250" y="2362200"/>
                </a:moveTo>
                <a:lnTo>
                  <a:pt x="76200" y="3086100"/>
                </a:lnTo>
                <a:moveTo>
                  <a:pt x="1238250" y="1219200"/>
                </a:move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chemeClr val="accent2"/>
            </a:solidFill>
          </a:ln>
        </p:spPr>
      </p:sp>
      <p:sp>
        <p:nvSpPr>
          <p:cNvPr id="6" name="Ellipse 6">
            <a:extLst xmlns:a="http://schemas.openxmlformats.org/drawingml/2006/main">
              <a:ext uri="{FF2B5EF4-FFF2-40B4-BE49-F238E27FC236}">
                <a16:creationId xmlns:a16="http://schemas.microsoft.com/office/drawing/2014/main" id="{9170A8B6-2AD3-4AB5-B69F-827ED3DD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91000" y="2667000"/>
            <a:ext cx="1981200" cy="1981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99384969-A4C8-4FD1-80E5-4EE69A78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0150" y="3162300"/>
            <a:ext cx="342900" cy="228600"/>
          </a:xfrm>
          <a:custGeom xmlns:a="http://schemas.openxmlformats.org/drawingml/2006/main">
            <a:rect l="l" t="t" r="r" b="b"/>
            <a:pathLst>
              <a:path w="342900" h="228600">
                <a:moveTo>
                  <a:pt x="0" y="57150"/>
                </a:moveTo>
                <a:cubicBezTo>
                  <a:pt x="0" y="25587"/>
                  <a:pt x="25587" y="0"/>
                  <a:pt x="57150" y="0"/>
                </a:cubicBezTo>
                <a:lnTo>
                  <a:pt x="285750" y="0"/>
                </a:lnTo>
                <a:cubicBezTo>
                  <a:pt x="317313" y="0"/>
                  <a:pt x="342900" y="25587"/>
                  <a:pt x="342900" y="57150"/>
                </a:cubicBezTo>
                <a:lnTo>
                  <a:pt x="342900" y="171450"/>
                </a:lnTo>
                <a:cubicBezTo>
                  <a:pt x="342900" y="203013"/>
                  <a:pt x="317313" y="228600"/>
                  <a:pt x="285750" y="228600"/>
                </a:cubicBezTo>
                <a:lnTo>
                  <a:pt x="57150" y="228600"/>
                </a:lnTo>
                <a:cubicBezTo>
                  <a:pt x="25587" y="228600"/>
                  <a:pt x="0" y="203013"/>
                  <a:pt x="0" y="171450"/>
                </a:cubicBez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FFFFF"/>
            </a:solidFill>
          </a:ln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30905AE1-37ED-47DB-9885-EF6C1E26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1600" y="3105150"/>
            <a:ext cx="9525" cy="57150"/>
          </a:xfrm>
          <a:custGeom xmlns:a="http://schemas.openxmlformats.org/drawingml/2006/main">
            <a:rect l="l" t="t" r="r" b="b"/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FFFFF"/>
            </a:solidFill>
          </a:ln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3117B00E-DA90-4413-B24D-41BAFA1C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95875" y="3390900"/>
            <a:ext cx="9525" cy="257175"/>
          </a:xfrm>
          <a:custGeom xmlns:a="http://schemas.openxmlformats.org/drawingml/2006/main">
            <a:rect l="l" t="t" r="r" b="b"/>
            <a:pathLst>
              <a:path w="952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FFFFF"/>
            </a:solidFill>
          </a:ln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CA22FBF-C93E-46E8-B57D-11CFAFD1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7325" y="3390900"/>
            <a:ext cx="9525" cy="257175"/>
          </a:xfrm>
          <a:custGeom xmlns:a="http://schemas.openxmlformats.org/drawingml/2006/main">
            <a:rect l="l" t="t" r="r" b="b"/>
            <a:pathLst>
              <a:path w="952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FFFFF"/>
            </a:solidFill>
          </a:ln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98733872-9A71-454A-94B6-3D99F529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81575" y="3448050"/>
            <a:ext cx="114300" cy="57150"/>
          </a:xfrm>
          <a:custGeom xmlns:a="http://schemas.openxmlformats.org/drawingml/2006/main">
            <a:rect l="l" t="t" r="r" b="b"/>
            <a:pathLst>
              <a:path w="114300" h="57150">
                <a:moveTo>
                  <a:pt x="0" y="5715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FFFFF"/>
            </a:solidFill>
          </a:ln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71E0F737-8196-4C43-B57B-6FFF0A73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67325" y="3448050"/>
            <a:ext cx="114300" cy="57150"/>
          </a:xfrm>
          <a:custGeom xmlns:a="http://schemas.openxmlformats.org/drawingml/2006/main">
            <a:rect l="l" t="t" r="r" b="b"/>
            <a:pathLst>
              <a:path w="114300" h="57150">
                <a:moveTo>
                  <a:pt x="0" y="0"/>
                </a:moveTo>
                <a:lnTo>
                  <a:pt x="11430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FFFFF"/>
            </a:solidFill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356D63A1-6728-4B6A-8E9B-80AE0382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95875" y="3562350"/>
            <a:ext cx="171450" cy="9525"/>
          </a:xfrm>
          <a:custGeom xmlns:a="http://schemas.openxmlformats.org/drawingml/2006/main">
            <a:rect l="l" t="t" r="r" b="b"/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FFFFF"/>
            </a:solidFill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9F9F48BC-80F0-4FBB-B85E-19A3D322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24450" y="3276600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0" y="286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FFFFF"/>
            </a:solidFill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071F8022-A2C0-4C6B-8E36-59797754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38750" y="3276600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0" y="286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FFFFFF"/>
            </a:solidFill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F2FE61FC-ADC4-40BF-9064-3C3F15E2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92581" y="3863340"/>
            <a:ext cx="578038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+mn-lt"/>
                <a:ea typeface="+mn-lt"/>
                <a:cs typeface="+mn-lt"/>
              </a:rPr>
              <a:t>seed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982196DB-B299-4D6E-826C-5329C1D5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84547" y="4184332"/>
            <a:ext cx="994105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>
                <a:solidFill>
                  <a:srgbClr val="B7E5EF"/>
                </a:solidFill>
                <a:latin typeface="Consolas"/>
                <a:ea typeface="Consolas"/>
                <a:cs typeface="Consolas"/>
              </a:rPr>
              <a:t>20260810</a:t>
            </a:r>
          </a:p>
        </p:txBody>
      </p:sp>
      <p:sp>
        <p:nvSpPr>
          <p:cNvPr id="19" name="Ellipse 19">
            <a:extLst xmlns:a="http://schemas.openxmlformats.org/drawingml/2006/main">
              <a:ext uri="{FF2B5EF4-FFF2-40B4-BE49-F238E27FC236}">
                <a16:creationId xmlns:a16="http://schemas.microsoft.com/office/drawing/2014/main" id="{001BD454-34AA-484E-9A39-2C735D79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48200" y="12573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chemeClr val="accent2"/>
            </a:solidFill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2BBDC682-7A18-4462-9129-4AEE5054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0150" y="1504950"/>
            <a:ext cx="342900" cy="266700"/>
          </a:xfrm>
          <a:custGeom xmlns:a="http://schemas.openxmlformats.org/drawingml/2006/main">
            <a:rect l="l" t="t" r="r" b="b"/>
            <a:pathLst>
              <a:path w="342900" h="266700">
                <a:moveTo>
                  <a:pt x="0" y="38100"/>
                </a:moveTo>
                <a:cubicBezTo>
                  <a:pt x="0" y="17058"/>
                  <a:pt x="17058" y="0"/>
                  <a:pt x="38100" y="0"/>
                </a:cubicBezTo>
                <a:lnTo>
                  <a:pt x="304800" y="0"/>
                </a:lnTo>
                <a:cubicBezTo>
                  <a:pt x="325842" y="0"/>
                  <a:pt x="342900" y="17058"/>
                  <a:pt x="342900" y="38100"/>
                </a:cubicBezTo>
                <a:lnTo>
                  <a:pt x="342900" y="228600"/>
                </a:lnTo>
                <a:cubicBezTo>
                  <a:pt x="342900" y="249642"/>
                  <a:pt x="325842" y="266700"/>
                  <a:pt x="3048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1"/>
            </a:solidFill>
          </a:ln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8D17E981-6F59-449D-A641-74C50FC6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0150" y="1543050"/>
            <a:ext cx="342900" cy="114300"/>
          </a:xfrm>
          <a:custGeom xmlns:a="http://schemas.openxmlformats.org/drawingml/2006/main">
            <a:rect l="l" t="t" r="r" b="b"/>
            <a:pathLst>
              <a:path w="342900" h="114300">
                <a:moveTo>
                  <a:pt x="0" y="0"/>
                </a:moveTo>
                <a:lnTo>
                  <a:pt x="171450" y="114300"/>
                </a:ln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chemeClr val="accent1"/>
            </a:solidFill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9724B66F-B443-41AA-9249-AD663777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3094" y="1949768"/>
            <a:ext cx="777011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供应延期</a:t>
            </a:r>
          </a:p>
        </p:txBody>
      </p:sp>
      <p:sp>
        <p:nvSpPr>
          <p:cNvPr id="25" name="Ellipse 25">
            <a:extLst xmlns:a="http://schemas.openxmlformats.org/drawingml/2006/main">
              <a:ext uri="{FF2B5EF4-FFF2-40B4-BE49-F238E27FC236}">
                <a16:creationId xmlns:a16="http://schemas.microsoft.com/office/drawing/2014/main" id="{82CCB3AF-8973-4239-A98E-3B4B8837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00850" y="1504950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chemeClr val="accent6"/>
            </a:solidFill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FD98CDA5-B795-476F-B500-FD450054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91400" y="1862138"/>
            <a:ext cx="9525" cy="82550"/>
          </a:xfrm>
          <a:custGeom xmlns:a="http://schemas.openxmlformats.org/drawingml/2006/main">
            <a:rect l="l" t="t" r="r" b="b"/>
            <a:pathLst>
              <a:path w="9525" h="82550">
                <a:moveTo>
                  <a:pt x="0" y="0"/>
                </a:moveTo>
                <a:lnTo>
                  <a:pt x="0" y="82550"/>
                </a:lnTo>
              </a:path>
            </a:pathLst>
          </a:custGeom>
          <a:noFill xmlns:a="http://schemas.openxmlformats.org/drawingml/2006/main"/>
          <a:ln xmlns:a="http://schemas.openxmlformats.org/drawingml/2006/main" w="41275">
            <a:solidFill>
              <a:schemeClr val="accent6"/>
            </a:solidFill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C6B25491-A354-46E1-8DB3-126B25B5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83269" y="1731456"/>
            <a:ext cx="416248" cy="357612"/>
          </a:xfrm>
          <a:custGeom xmlns:a="http://schemas.openxmlformats.org/drawingml/2006/main">
            <a:rect l="l" t="t" r="r" b="b"/>
            <a:pathLst>
              <a:path w="416248" h="357612">
                <a:moveTo>
                  <a:pt x="174348" y="19053"/>
                </a:moveTo>
                <a:lnTo>
                  <a:pt x="7060" y="298361"/>
                </a:lnTo>
                <a:cubicBezTo>
                  <a:pt x="43" y="310514"/>
                  <a:pt x="0" y="325478"/>
                  <a:pt x="6948" y="337670"/>
                </a:cubicBezTo>
                <a:cubicBezTo>
                  <a:pt x="13896" y="349863"/>
                  <a:pt x="26791" y="357454"/>
                  <a:pt x="40823" y="357612"/>
                </a:cubicBezTo>
                <a:lnTo>
                  <a:pt x="375440" y="357612"/>
                </a:lnTo>
                <a:cubicBezTo>
                  <a:pt x="389466" y="357450"/>
                  <a:pt x="402355" y="349862"/>
                  <a:pt x="409301" y="337676"/>
                </a:cubicBezTo>
                <a:cubicBezTo>
                  <a:pt x="416248" y="325489"/>
                  <a:pt x="416210" y="310533"/>
                  <a:pt x="409203" y="298382"/>
                </a:cubicBezTo>
                <a:lnTo>
                  <a:pt x="241916" y="19032"/>
                </a:lnTo>
                <a:cubicBezTo>
                  <a:pt x="234757" y="7217"/>
                  <a:pt x="221946" y="0"/>
                  <a:pt x="208132" y="0"/>
                </a:cubicBezTo>
                <a:cubicBezTo>
                  <a:pt x="194317" y="0"/>
                  <a:pt x="181507" y="7217"/>
                  <a:pt x="174348" y="19032"/>
                </a:cubicBezTo>
              </a:path>
            </a:pathLst>
          </a:custGeom>
          <a:noFill xmlns:a="http://schemas.openxmlformats.org/drawingml/2006/main"/>
          <a:ln xmlns:a="http://schemas.openxmlformats.org/drawingml/2006/main" w="41275">
            <a:solidFill>
              <a:schemeClr val="accent6"/>
            </a:solidFill>
          </a:ln>
        </p:spPr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E0845A7A-E51E-4829-92E7-A4D75DF0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91400" y="2006601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2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275">
            <a:solidFill>
              <a:schemeClr val="accent6"/>
            </a:solidFill>
          </a:ln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064A0F33-EADA-4030-9878-FDE7299D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02894" y="2235518"/>
            <a:ext cx="777011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供应中断</a:t>
            </a:r>
          </a:p>
        </p:txBody>
      </p:sp>
      <p:sp>
        <p:nvSpPr>
          <p:cNvPr id="32" name="Ellipse 32">
            <a:extLst xmlns:a="http://schemas.openxmlformats.org/drawingml/2006/main">
              <a:ext uri="{FF2B5EF4-FFF2-40B4-BE49-F238E27FC236}">
                <a16:creationId xmlns:a16="http://schemas.microsoft.com/office/drawing/2014/main" id="{872FC786-15F6-47AE-BF32-D94450E6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34200" y="4419600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chemeClr val="accent3"/>
            </a:solidFill>
          </a:ln>
        </p:spPr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F7F6899B-35F9-4B17-B2A6-1921D18E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39013" y="4838700"/>
            <a:ext cx="123825" cy="165100"/>
          </a:xfrm>
          <a:custGeom xmlns:a="http://schemas.openxmlformats.org/drawingml/2006/main">
            <a:rect l="l" t="t" r="r" b="b"/>
            <a:pathLst>
              <a:path w="123825" h="165100">
                <a:moveTo>
                  <a:pt x="0" y="20638"/>
                </a:moveTo>
                <a:cubicBezTo>
                  <a:pt x="0" y="9240"/>
                  <a:pt x="9240" y="0"/>
                  <a:pt x="20638" y="0"/>
                </a:cubicBezTo>
                <a:lnTo>
                  <a:pt x="103188" y="0"/>
                </a:lnTo>
                <a:cubicBezTo>
                  <a:pt x="114585" y="0"/>
                  <a:pt x="123825" y="9240"/>
                  <a:pt x="123825" y="20638"/>
                </a:cubicBezTo>
                <a:lnTo>
                  <a:pt x="123825" y="144463"/>
                </a:lnTo>
                <a:cubicBezTo>
                  <a:pt x="123825" y="155861"/>
                  <a:pt x="114585" y="165100"/>
                  <a:pt x="103188" y="165100"/>
                </a:cubicBezTo>
                <a:lnTo>
                  <a:pt x="20638" y="165100"/>
                </a:lnTo>
                <a:cubicBezTo>
                  <a:pt x="9240" y="165100"/>
                  <a:pt x="0" y="155861"/>
                  <a:pt x="0" y="144463"/>
                </a:cubicBezTo>
                <a:lnTo>
                  <a:pt x="0" y="20638"/>
                </a:lnTo>
              </a:path>
            </a:pathLst>
          </a:custGeom>
          <a:noFill xmlns:a="http://schemas.openxmlformats.org/drawingml/2006/main"/>
          <a:ln xmlns:a="http://schemas.openxmlformats.org/drawingml/2006/main" w="41275">
            <a:solidFill>
              <a:schemeClr val="accent3"/>
            </a:solidFill>
          </a:ln>
        </p:spPr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C36783A0-9E89-437C-AC45-50D14AA0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6663" y="4756150"/>
            <a:ext cx="123825" cy="247650"/>
          </a:xfrm>
          <a:custGeom xmlns:a="http://schemas.openxmlformats.org/drawingml/2006/main">
            <a:rect l="l" t="t" r="r" b="b"/>
            <a:pathLst>
              <a:path w="123825" h="247650">
                <a:moveTo>
                  <a:pt x="0" y="20638"/>
                </a:moveTo>
                <a:cubicBezTo>
                  <a:pt x="0" y="9240"/>
                  <a:pt x="9240" y="0"/>
                  <a:pt x="20638" y="0"/>
                </a:cubicBezTo>
                <a:lnTo>
                  <a:pt x="103188" y="0"/>
                </a:lnTo>
                <a:cubicBezTo>
                  <a:pt x="114585" y="0"/>
                  <a:pt x="123825" y="9240"/>
                  <a:pt x="123825" y="20638"/>
                </a:cubicBezTo>
                <a:lnTo>
                  <a:pt x="123825" y="227013"/>
                </a:lnTo>
                <a:cubicBezTo>
                  <a:pt x="123825" y="238411"/>
                  <a:pt x="114585" y="247650"/>
                  <a:pt x="103188" y="247650"/>
                </a:cubicBezTo>
                <a:lnTo>
                  <a:pt x="20638" y="247650"/>
                </a:lnTo>
                <a:cubicBezTo>
                  <a:pt x="9240" y="247650"/>
                  <a:pt x="0" y="238411"/>
                  <a:pt x="0" y="227013"/>
                </a:cubicBezTo>
                <a:lnTo>
                  <a:pt x="0" y="20638"/>
                </a:lnTo>
              </a:path>
            </a:pathLst>
          </a:custGeom>
          <a:noFill xmlns:a="http://schemas.openxmlformats.org/drawingml/2006/main"/>
          <a:ln xmlns:a="http://schemas.openxmlformats.org/drawingml/2006/main" w="41275">
            <a:solidFill>
              <a:schemeClr val="accent3"/>
            </a:solidFill>
          </a:ln>
        </p:spPr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14C27848-4357-4292-8FB9-C7576961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62838" y="4673600"/>
            <a:ext cx="123825" cy="330201"/>
          </a:xfrm>
          <a:custGeom xmlns:a="http://schemas.openxmlformats.org/drawingml/2006/main">
            <a:rect l="l" t="t" r="r" b="b"/>
            <a:pathLst>
              <a:path w="123825" h="330201">
                <a:moveTo>
                  <a:pt x="0" y="20638"/>
                </a:moveTo>
                <a:cubicBezTo>
                  <a:pt x="0" y="9240"/>
                  <a:pt x="9240" y="0"/>
                  <a:pt x="20638" y="0"/>
                </a:cubicBezTo>
                <a:lnTo>
                  <a:pt x="103188" y="0"/>
                </a:lnTo>
                <a:cubicBezTo>
                  <a:pt x="114585" y="0"/>
                  <a:pt x="123825" y="9240"/>
                  <a:pt x="123825" y="20638"/>
                </a:cubicBezTo>
                <a:lnTo>
                  <a:pt x="123825" y="309563"/>
                </a:lnTo>
                <a:cubicBezTo>
                  <a:pt x="123825" y="320961"/>
                  <a:pt x="114585" y="330201"/>
                  <a:pt x="103188" y="330201"/>
                </a:cubicBezTo>
                <a:lnTo>
                  <a:pt x="20638" y="330201"/>
                </a:lnTo>
                <a:cubicBezTo>
                  <a:pt x="9240" y="330201"/>
                  <a:pt x="0" y="320961"/>
                  <a:pt x="0" y="309563"/>
                </a:cubicBezTo>
                <a:lnTo>
                  <a:pt x="0" y="20638"/>
                </a:lnTo>
              </a:path>
            </a:pathLst>
          </a:custGeom>
          <a:noFill xmlns:a="http://schemas.openxmlformats.org/drawingml/2006/main"/>
          <a:ln xmlns:a="http://schemas.openxmlformats.org/drawingml/2006/main" w="41275">
            <a:solidFill>
              <a:schemeClr val="accent3"/>
            </a:solidFill>
          </a:ln>
        </p:spPr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81401186-FD01-461E-B3A7-7712FE61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59650" y="5003801"/>
            <a:ext cx="288925" cy="9525"/>
          </a:xfrm>
          <a:custGeom xmlns:a="http://schemas.openxmlformats.org/drawingml/2006/main">
            <a:rect l="l" t="t" r="r" b="b"/>
            <a:pathLst>
              <a:path w="288925" h="9525">
                <a:moveTo>
                  <a:pt x="0" y="0"/>
                </a:moveTo>
                <a:lnTo>
                  <a:pt x="288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275">
            <a:solidFill>
              <a:schemeClr val="accent3"/>
            </a:solidFill>
          </a:ln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C8EFA424-E182-4B04-AC04-61FA0C70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36244" y="5150168"/>
            <a:ext cx="777011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需求激增</a:t>
            </a:r>
          </a:p>
        </p:txBody>
      </p:sp>
      <p:sp>
        <p:nvSpPr>
          <p:cNvPr id="40" name="Ellipse 40">
            <a:extLst xmlns:a="http://schemas.openxmlformats.org/drawingml/2006/main">
              <a:ext uri="{FF2B5EF4-FFF2-40B4-BE49-F238E27FC236}">
                <a16:creationId xmlns:a16="http://schemas.microsoft.com/office/drawing/2014/main" id="{31B57D1E-F146-481A-B770-8DEC33F9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4100" y="4552950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5484D"/>
            </a:solidFill>
          </a:ln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DD76C6E7-9B2E-4CA6-BAE8-B780CFD9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49550" y="4910138"/>
            <a:ext cx="206375" cy="247650"/>
          </a:xfrm>
          <a:custGeom xmlns:a="http://schemas.openxmlformats.org/drawingml/2006/main">
            <a:rect l="l" t="t" r="r" b="b"/>
            <a:pathLst>
              <a:path w="206375" h="247650">
                <a:moveTo>
                  <a:pt x="0" y="247650"/>
                </a:moveTo>
                <a:cubicBezTo>
                  <a:pt x="23671" y="164688"/>
                  <a:pt x="40924" y="81993"/>
                  <a:pt x="41275" y="0"/>
                </a:cubicBezTo>
                <a:lnTo>
                  <a:pt x="165100" y="0"/>
                </a:lnTo>
                <a:cubicBezTo>
                  <a:pt x="165451" y="81993"/>
                  <a:pt x="182704" y="164688"/>
                  <a:pt x="206375" y="2476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41275">
            <a:solidFill>
              <a:srgbClr val="E5484D"/>
            </a:solidFill>
          </a:ln>
        </p:spPr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2AB1B193-7EF6-40EF-9B80-C31F19E8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24969" y="4992688"/>
            <a:ext cx="134144" cy="165100"/>
          </a:xfrm>
          <a:custGeom xmlns:a="http://schemas.openxmlformats.org/drawingml/2006/main">
            <a:rect l="l" t="t" r="r" b="b"/>
            <a:pathLst>
              <a:path w="134144" h="165100">
                <a:moveTo>
                  <a:pt x="0" y="0"/>
                </a:moveTo>
                <a:lnTo>
                  <a:pt x="92869" y="0"/>
                </a:lnTo>
                <a:cubicBezTo>
                  <a:pt x="93385" y="53905"/>
                  <a:pt x="111319" y="109296"/>
                  <a:pt x="134144" y="1651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41275">
            <a:solidFill>
              <a:srgbClr val="E5484D"/>
            </a:solidFill>
          </a:ln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758F7798-A539-4B89-8783-98BC03CE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52738" y="4806608"/>
            <a:ext cx="247650" cy="41959"/>
          </a:xfrm>
          <a:custGeom xmlns:a="http://schemas.openxmlformats.org/drawingml/2006/main">
            <a:rect l="l" t="t" r="r" b="b"/>
            <a:pathLst>
              <a:path w="247650" h="41959">
                <a:moveTo>
                  <a:pt x="0" y="20979"/>
                </a:moveTo>
                <a:cubicBezTo>
                  <a:pt x="9518" y="7720"/>
                  <a:pt x="24957" y="0"/>
                  <a:pt x="41275" y="342"/>
                </a:cubicBezTo>
                <a:cubicBezTo>
                  <a:pt x="57593" y="0"/>
                  <a:pt x="73033" y="7720"/>
                  <a:pt x="82550" y="20979"/>
                </a:cubicBezTo>
                <a:cubicBezTo>
                  <a:pt x="92068" y="34239"/>
                  <a:pt x="107507" y="41959"/>
                  <a:pt x="123825" y="41617"/>
                </a:cubicBezTo>
                <a:cubicBezTo>
                  <a:pt x="140144" y="41959"/>
                  <a:pt x="155583" y="34239"/>
                  <a:pt x="165100" y="20979"/>
                </a:cubicBezTo>
                <a:cubicBezTo>
                  <a:pt x="174618" y="7720"/>
                  <a:pt x="190057" y="0"/>
                  <a:pt x="206375" y="342"/>
                </a:cubicBezTo>
                <a:cubicBezTo>
                  <a:pt x="222694" y="0"/>
                  <a:pt x="238133" y="7720"/>
                  <a:pt x="247650" y="20979"/>
                </a:cubicBezTo>
              </a:path>
            </a:pathLst>
          </a:custGeom>
          <a:noFill xmlns:a="http://schemas.openxmlformats.org/drawingml/2006/main"/>
          <a:ln xmlns:a="http://schemas.openxmlformats.org/drawingml/2006/main" w="41275">
            <a:solidFill>
              <a:srgbClr val="E5484D"/>
            </a:solidFill>
          </a:ln>
        </p:spPr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C9289E4E-6731-49EE-AF3F-6CA1014F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28913" y="5157788"/>
            <a:ext cx="392113" cy="9525"/>
          </a:xfrm>
          <a:custGeom xmlns:a="http://schemas.openxmlformats.org/drawingml/2006/main">
            <a:rect l="l" t="t" r="r" b="b"/>
            <a:pathLst>
              <a:path w="392113" h="9525">
                <a:moveTo>
                  <a:pt x="0" y="0"/>
                </a:moveTo>
                <a:lnTo>
                  <a:pt x="3921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275">
            <a:solidFill>
              <a:srgbClr val="E5484D"/>
            </a:solidFill>
          </a:ln>
        </p:spPr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ADD7A045-3E8D-4327-B891-054493B9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26144" y="5283518"/>
            <a:ext cx="777011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产线停机</a:t>
            </a:r>
          </a:p>
        </p:txBody>
      </p:sp>
      <p:sp>
        <p:nvSpPr>
          <p:cNvPr id="48" name="Ellipse 48">
            <a:extLst xmlns:a="http://schemas.openxmlformats.org/drawingml/2006/main">
              <a:ext uri="{FF2B5EF4-FFF2-40B4-BE49-F238E27FC236}">
                <a16:creationId xmlns:a16="http://schemas.microsoft.com/office/drawing/2014/main" id="{9049C5FA-584D-496F-BF78-D9FF8ADD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28850" y="1504950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A085"/>
            </a:solidFill>
          </a:ln>
        </p:spPr>
      </p:sp>
      <p:sp>
        <p:nvSpPr>
          <p:cNvPr id="49" name="Freeform 49">
            <a:extLst xmlns:a="http://schemas.openxmlformats.org/drawingml/2006/main">
              <a:ext uri="{FF2B5EF4-FFF2-40B4-BE49-F238E27FC236}">
                <a16:creationId xmlns:a16="http://schemas.microsoft.com/office/drawing/2014/main" id="{7ADDB0FA-C344-460E-9B6A-909A7023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54300" y="1738313"/>
            <a:ext cx="330201" cy="123825"/>
          </a:xfrm>
          <a:custGeom xmlns:a="http://schemas.openxmlformats.org/drawingml/2006/main">
            <a:rect l="l" t="t" r="r" b="b"/>
            <a:pathLst>
              <a:path w="330201" h="123825">
                <a:moveTo>
                  <a:pt x="0" y="61913"/>
                </a:moveTo>
                <a:cubicBezTo>
                  <a:pt x="0" y="96106"/>
                  <a:pt x="73918" y="123825"/>
                  <a:pt x="165100" y="123825"/>
                </a:cubicBezTo>
                <a:cubicBezTo>
                  <a:pt x="256283" y="123825"/>
                  <a:pt x="330201" y="96106"/>
                  <a:pt x="330201" y="61913"/>
                </a:cubicBezTo>
                <a:cubicBezTo>
                  <a:pt x="330201" y="27719"/>
                  <a:pt x="256283" y="0"/>
                  <a:pt x="165100" y="0"/>
                </a:cubicBezTo>
                <a:cubicBezTo>
                  <a:pt x="73918" y="0"/>
                  <a:pt x="0" y="27719"/>
                  <a:pt x="0" y="61913"/>
                </a:cubicBezTo>
              </a:path>
            </a:pathLst>
          </a:custGeom>
          <a:noFill xmlns:a="http://schemas.openxmlformats.org/drawingml/2006/main"/>
          <a:ln xmlns:a="http://schemas.openxmlformats.org/drawingml/2006/main" w="41275">
            <a:solidFill>
              <a:srgbClr val="16A085"/>
            </a:solidFill>
          </a:ln>
        </p:spPr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15E86050-EDF8-49B4-A4CD-A2E64DF2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54300" y="1800225"/>
            <a:ext cx="330201" cy="185738"/>
          </a:xfrm>
          <a:custGeom xmlns:a="http://schemas.openxmlformats.org/drawingml/2006/main">
            <a:rect l="l" t="t" r="r" b="b"/>
            <a:pathLst>
              <a:path w="330201" h="185738">
                <a:moveTo>
                  <a:pt x="0" y="0"/>
                </a:moveTo>
                <a:lnTo>
                  <a:pt x="0" y="123825"/>
                </a:lnTo>
                <a:cubicBezTo>
                  <a:pt x="0" y="158019"/>
                  <a:pt x="73918" y="185738"/>
                  <a:pt x="165100" y="185738"/>
                </a:cubicBezTo>
                <a:cubicBezTo>
                  <a:pt x="256283" y="185738"/>
                  <a:pt x="330201" y="158019"/>
                  <a:pt x="330201" y="123825"/>
                </a:cubicBezTo>
                <a:lnTo>
                  <a:pt x="3302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275">
            <a:solidFill>
              <a:srgbClr val="16A085"/>
            </a:solidFill>
          </a:ln>
        </p:spPr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FE566FE5-4C69-45FD-B479-901AE34F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54300" y="1924050"/>
            <a:ext cx="330201" cy="185738"/>
          </a:xfrm>
          <a:custGeom xmlns:a="http://schemas.openxmlformats.org/drawingml/2006/main">
            <a:rect l="l" t="t" r="r" b="b"/>
            <a:pathLst>
              <a:path w="330201" h="185738">
                <a:moveTo>
                  <a:pt x="0" y="0"/>
                </a:moveTo>
                <a:lnTo>
                  <a:pt x="0" y="123825"/>
                </a:lnTo>
                <a:cubicBezTo>
                  <a:pt x="0" y="158019"/>
                  <a:pt x="73918" y="185738"/>
                  <a:pt x="165100" y="185738"/>
                </a:cubicBezTo>
                <a:cubicBezTo>
                  <a:pt x="256283" y="185738"/>
                  <a:pt x="330201" y="158019"/>
                  <a:pt x="330201" y="123825"/>
                </a:cubicBezTo>
                <a:lnTo>
                  <a:pt x="3302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275">
            <a:solidFill>
              <a:srgbClr val="16A085"/>
            </a:solidFill>
          </a:ln>
        </p:spPr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CBEA9CB5-1B59-488B-BBCD-D57EB7AE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30894" y="2235518"/>
            <a:ext cx="777011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库存损失</a:t>
            </a:r>
          </a:p>
        </p:txBody>
      </p:sp>
      <p:sp>
        <p:nvSpPr>
          <p:cNvPr id="56" name="Rectangle 56">
            <a:extLst xmlns:a="http://schemas.openxmlformats.org/drawingml/2006/main">
              <a:ext uri="{FF2B5EF4-FFF2-40B4-BE49-F238E27FC236}">
                <a16:creationId xmlns:a16="http://schemas.microsoft.com/office/drawing/2014/main" id="{F42C8662-0D54-46F5-AB78-695E5FF7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91550" y="1771650"/>
            <a:ext cx="2876550" cy="3314700"/>
          </a:xfrm>
          <a:prstGeom xmlns:a="http://schemas.openxmlformats.org/drawingml/2006/main" prst="roundRect">
            <a:avLst>
              <a:gd name="adj" fmla="val 6623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6E7CB604-8C1E-478B-97AC-281C5015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87206" y="2015490"/>
            <a:ext cx="2308174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每次都回到同一闭环</a:t>
            </a:r>
          </a:p>
        </p:txBody>
      </p:sp>
      <p:sp>
        <p:nvSpPr>
          <p:cNvPr id="58" name="Freeform 58">
            <a:extLst xmlns:a="http://schemas.openxmlformats.org/drawingml/2006/main">
              <a:ext uri="{FF2B5EF4-FFF2-40B4-BE49-F238E27FC236}">
                <a16:creationId xmlns:a16="http://schemas.microsoft.com/office/drawing/2014/main" id="{729BB7CE-AD21-41A8-B533-FE9C0767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67800" y="2743200"/>
            <a:ext cx="1809750" cy="1771650"/>
          </a:xfrm>
          <a:custGeom xmlns:a="http://schemas.openxmlformats.org/drawingml/2006/main">
            <a:rect l="l" t="t" r="r" b="b"/>
            <a:pathLst>
              <a:path w="1809750" h="1771650">
                <a:moveTo>
                  <a:pt x="0" y="0"/>
                </a:moveTo>
                <a:lnTo>
                  <a:pt x="1809750" y="0"/>
                </a:lnTo>
                <a:lnTo>
                  <a:pt x="1809750" y="1771650"/>
                </a:lnTo>
                <a:lnTo>
                  <a:pt x="0" y="1771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chemeClr val="accent2"/>
            </a:solidFill>
          </a:ln>
        </p:spPr>
      </p:sp>
      <p:sp>
        <p:nvSpPr>
          <p:cNvPr id="59" name="Ellipse 59">
            <a:extLst xmlns:a="http://schemas.openxmlformats.org/drawingml/2006/main">
              <a:ext uri="{FF2B5EF4-FFF2-40B4-BE49-F238E27FC236}">
                <a16:creationId xmlns:a16="http://schemas.microsoft.com/office/drawing/2014/main" id="{23203893-176E-44A4-9EF5-DE9D219D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20150" y="24955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2"/>
            </a:solidFill>
          </a:ln>
        </p:spPr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87176904-BEEF-4334-87E8-EF1C4894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08465" y="2673668"/>
            <a:ext cx="11866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1</a:t>
            </a:r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B651D57E-3805-4D0C-B1B2-2390160F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21368" y="2641282"/>
            <a:ext cx="1130103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chemeClr val="dk1"/>
                </a:solidFill>
                <a:latin typeface="+mn-lt"/>
                <a:ea typeface="+mn-lt"/>
                <a:cs typeface="+mn-lt"/>
              </a:rPr>
              <a:t>LangGraph</a:t>
            </a:r>
          </a:p>
        </p:txBody>
      </p:sp>
      <p:sp>
        <p:nvSpPr>
          <p:cNvPr id="62" name="Ellipse 62">
            <a:extLst xmlns:a="http://schemas.openxmlformats.org/drawingml/2006/main">
              <a:ext uri="{FF2B5EF4-FFF2-40B4-BE49-F238E27FC236}">
                <a16:creationId xmlns:a16="http://schemas.microsoft.com/office/drawing/2014/main" id="{C5A7D326-3E16-43BC-85D6-2A39E94A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29900" y="24955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3"/>
            </a:solidFill>
          </a:ln>
        </p:spPr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0A8B65C5-B3A8-489F-938D-1BD97D2F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18215" y="2673668"/>
            <a:ext cx="11866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4B45B7"/>
                </a:solidFill>
                <a:latin typeface="+mn-lt"/>
                <a:ea typeface="+mn-lt"/>
                <a:cs typeface="+mn-lt"/>
              </a:rPr>
              <a:t>2</a:t>
            </a:r>
          </a:p>
        </p:txBody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6F676A15-A34F-4D90-B2F3-83C50007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21418" y="3117532"/>
            <a:ext cx="694239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chemeClr val="dk1"/>
                </a:solidFill>
                <a:latin typeface="+mn-lt"/>
                <a:ea typeface="+mn-lt"/>
                <a:cs typeface="+mn-lt"/>
              </a:rPr>
              <a:t>solver</a:t>
            </a:r>
          </a:p>
        </p:txBody>
      </p:sp>
      <p:sp>
        <p:nvSpPr>
          <p:cNvPr id="65" name="Ellipse 65">
            <a:extLst xmlns:a="http://schemas.openxmlformats.org/drawingml/2006/main">
              <a:ext uri="{FF2B5EF4-FFF2-40B4-BE49-F238E27FC236}">
                <a16:creationId xmlns:a16="http://schemas.microsoft.com/office/drawing/2014/main" id="{CF057C96-8CF5-4BBF-9E25-DE706406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29900" y="4267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A085"/>
            </a:solidFill>
          </a:ln>
        </p:spPr>
      </p:sp>
      <p:sp>
        <p:nvSpPr>
          <p:cNvPr id="66" name="TextBox 66">
            <a:extLst xmlns:a="http://schemas.openxmlformats.org/drawingml/2006/main">
              <a:ext uri="{FF2B5EF4-FFF2-40B4-BE49-F238E27FC236}">
                <a16:creationId xmlns:a16="http://schemas.microsoft.com/office/drawing/2014/main" id="{EDDDEB3D-252C-439A-8B5D-C02BA771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18215" y="4445318"/>
            <a:ext cx="11866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116956"/>
                </a:solidFill>
                <a:latin typeface="+mn-lt"/>
                <a:ea typeface="+mn-lt"/>
                <a:cs typeface="+mn-lt"/>
              </a:rPr>
              <a:t>3</a:t>
            </a:r>
          </a:p>
        </p:txBody>
      </p:sp>
      <p:sp>
        <p:nvSpPr>
          <p:cNvPr id="67" name="TextBox 67">
            <a:extLst xmlns:a="http://schemas.openxmlformats.org/drawingml/2006/main">
              <a:ext uri="{FF2B5EF4-FFF2-40B4-BE49-F238E27FC236}">
                <a16:creationId xmlns:a16="http://schemas.microsoft.com/office/drawing/2014/main" id="{48F24830-5E90-40B9-B93E-A554E8F2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1868" y="3974782"/>
            <a:ext cx="883044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chemeClr val="dk1"/>
                </a:solidFill>
                <a:latin typeface="+mn-lt"/>
                <a:ea typeface="+mn-lt"/>
                <a:cs typeface="+mn-lt"/>
              </a:rPr>
              <a:t>verifier</a:t>
            </a:r>
          </a:p>
        </p:txBody>
      </p:sp>
      <p:sp>
        <p:nvSpPr>
          <p:cNvPr id="68" name="Ellipse 68">
            <a:extLst xmlns:a="http://schemas.openxmlformats.org/drawingml/2006/main">
              <a:ext uri="{FF2B5EF4-FFF2-40B4-BE49-F238E27FC236}">
                <a16:creationId xmlns:a16="http://schemas.microsoft.com/office/drawing/2014/main" id="{F849EF8B-40FC-4B78-86FD-07DBA24B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20150" y="4267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0035604D-4400-462F-A533-447D69C1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08465" y="4445318"/>
            <a:ext cx="118669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FFFFF"/>
                </a:solidFill>
                <a:latin typeface="+mn-lt"/>
                <a:ea typeface="+mn-lt"/>
                <a:cs typeface="+mn-lt"/>
              </a:rPr>
              <a:t>4</a:t>
            </a:r>
          </a:p>
        </p:txBody>
      </p:sp>
      <p:sp>
        <p:nvSpPr>
          <p:cNvPr id="70" name="TextBox 70">
            <a:extLst xmlns:a="http://schemas.openxmlformats.org/drawingml/2006/main">
              <a:ext uri="{FF2B5EF4-FFF2-40B4-BE49-F238E27FC236}">
                <a16:creationId xmlns:a16="http://schemas.microsoft.com/office/drawing/2014/main" id="{F393329A-DDB2-4F5D-924D-B60B5DDC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21368" y="4412932"/>
            <a:ext cx="461010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chemeClr val="dk1"/>
                </a:solidFill>
                <a:latin typeface="+mn-lt"/>
                <a:ea typeface="+mn-lt"/>
                <a:cs typeface="+mn-lt"/>
              </a:rPr>
              <a:t>人审</a:t>
            </a:r>
          </a:p>
        </p:txBody>
      </p:sp>
      <p:sp>
        <p:nvSpPr>
          <p:cNvPr id="72" name="TextBox 72">
            <a:extLst xmlns:a="http://schemas.openxmlformats.org/drawingml/2006/main">
              <a:ext uri="{FF2B5EF4-FFF2-40B4-BE49-F238E27FC236}">
                <a16:creationId xmlns:a16="http://schemas.microsoft.com/office/drawing/2014/main" id="{27B7DA77-0A56-4724-A39A-D14529E1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83168" y="5346382"/>
            <a:ext cx="2500654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同 seed → 完全相同事件</a:t>
            </a:r>
          </a:p>
        </p:txBody>
      </p:sp>
      <p:sp>
        <p:nvSpPr>
          <p:cNvPr id="73" name="TextBox 73">
            <a:extLst xmlns:a="http://schemas.openxmlformats.org/drawingml/2006/main">
              <a:ext uri="{FF2B5EF4-FFF2-40B4-BE49-F238E27FC236}">
                <a16:creationId xmlns:a16="http://schemas.microsoft.com/office/drawing/2014/main" id="{85F31E0B-2488-4302-BB98-546A3AAB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84692" y="5721668"/>
            <a:ext cx="183108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只作用于隔离场景副本</a:t>
            </a:r>
          </a:p>
        </p:txBody>
      </p:sp>
      <p:sp>
        <p:nvSpPr>
          <p:cNvPr id="74" name="TextBox 74">
            <a:extLst xmlns:a="http://schemas.openxmlformats.org/drawingml/2006/main">
              <a:ext uri="{FF2B5EF4-FFF2-40B4-BE49-F238E27FC236}">
                <a16:creationId xmlns:a16="http://schemas.microsoft.com/office/drawing/2014/main" id="{4E1AB0D2-92F4-4B92-9E8F-87F3C12D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271260"/>
            <a:ext cx="4664964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所有随机事故与 email / chat / MES 文案均为确定性模拟输入。</a:t>
            </a:r>
          </a:p>
        </p:txBody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4C20D985-DABC-4FFD-AE6D-0A8C6205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98606" y="6271260"/>
            <a:ext cx="18989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7E9AAA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871598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6836EB1E-7CE5-4CB5-9CE1-47CE2F93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1312" y="411480"/>
            <a:ext cx="6702689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我们验证的不只是“程序没崩”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E4C6DC89-093E-47A4-8FA8-2B668D55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1218" y="1022032"/>
            <a:ext cx="7046957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测试覆盖数据 lineage、求解可行性、审批失效、计划篡改和提示注入。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18F094D9-90F9-43CB-BFE2-7AC062D5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2057400"/>
            <a:ext cx="2800350" cy="3048000"/>
          </a:xfrm>
          <a:custGeom xmlns:a="http://schemas.openxmlformats.org/drawingml/2006/main">
            <a:rect l="l" t="t" r="r" b="b"/>
            <a:pathLst>
              <a:path w="2800350" h="3048000">
                <a:moveTo>
                  <a:pt x="0" y="0"/>
                </a:moveTo>
                <a:lnTo>
                  <a:pt x="2800350" y="0"/>
                </a:lnTo>
                <a:lnTo>
                  <a:pt x="2800350" y="3048000"/>
                </a:lnTo>
                <a:lnTo>
                  <a:pt x="0" y="30480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5" name="Ellipse 5">
            <a:extLst xmlns:a="http://schemas.openxmlformats.org/drawingml/2006/main">
              <a:ext uri="{FF2B5EF4-FFF2-40B4-BE49-F238E27FC236}">
                <a16:creationId xmlns:a16="http://schemas.microsoft.com/office/drawing/2014/main" id="{0247FAD3-B10B-4EF4-A2C4-559F4F80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33500" y="2381250"/>
            <a:ext cx="1981200" cy="1981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2"/>
          </a:solidFill>
          <a:ln xmlns:a="http://schemas.openxmlformats.org/drawingml/2006/main" w="57150">
            <a:solidFill>
              <a:schemeClr val="accent2"/>
            </a:solidFill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B5F10C43-F64D-4843-B01E-54AFC40F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85238" y="2731770"/>
            <a:ext cx="8777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32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43779C09-A254-43A7-ACF4-572C8A2B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8876" y="3558540"/>
            <a:ext cx="129044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自动化测试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4E1763F2-6F0B-4027-817A-64E9E776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002" y="4470082"/>
            <a:ext cx="2782195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数据 · 图状态 · 求解 · 工单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661D724D-69D1-4C96-ACA5-CE230FDF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5800" y="2057400"/>
            <a:ext cx="2800350" cy="3048000"/>
          </a:xfrm>
          <a:custGeom xmlns:a="http://schemas.openxmlformats.org/drawingml/2006/main">
            <a:rect l="l" t="t" r="r" b="b"/>
            <a:pathLst>
              <a:path w="2800350" h="3048000">
                <a:moveTo>
                  <a:pt x="0" y="0"/>
                </a:moveTo>
                <a:lnTo>
                  <a:pt x="2800350" y="0"/>
                </a:lnTo>
                <a:lnTo>
                  <a:pt x="2800350" y="3048000"/>
                </a:lnTo>
                <a:lnTo>
                  <a:pt x="0" y="30480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F4015017-961B-4B75-B255-987E25B9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29200" y="2343150"/>
            <a:ext cx="1714500" cy="2571750"/>
          </a:xfrm>
          <a:custGeom xmlns:a="http://schemas.openxmlformats.org/drawingml/2006/main">
            <a:rect l="l" t="t" r="r" b="b"/>
            <a:pathLst>
              <a:path w="1714500" h="2571750">
                <a:moveTo>
                  <a:pt x="857250" y="0"/>
                </a:moveTo>
                <a:lnTo>
                  <a:pt x="1714500" y="438150"/>
                </a:lnTo>
                <a:lnTo>
                  <a:pt x="1714500" y="1409700"/>
                </a:lnTo>
                <a:cubicBezTo>
                  <a:pt x="1714500" y="1962150"/>
                  <a:pt x="1333500" y="2362200"/>
                  <a:pt x="857250" y="2571750"/>
                </a:cubicBezTo>
                <a:cubicBezTo>
                  <a:pt x="381000" y="2362200"/>
                  <a:pt x="0" y="1962150"/>
                  <a:pt x="0" y="1409700"/>
                </a:cubicBezTo>
                <a:lnTo>
                  <a:pt x="0" y="438150"/>
                </a:lnTo>
                <a:close/>
              </a:path>
            </a:pathLst>
          </a:custGeom>
          <a:solidFill xmlns:a="http://schemas.openxmlformats.org/drawingml/2006/main">
            <a:srgbClr val="F0EEFF"/>
          </a:solidFill>
          <a:ln xmlns:a="http://schemas.openxmlformats.org/drawingml/2006/main" w="38100">
            <a:solidFill>
              <a:schemeClr val="accent3"/>
            </a:solidFill>
          </a:ln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2C793BE9-0209-4BDB-83E3-9929362F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34483" y="2948940"/>
            <a:ext cx="1903933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 b="1">
                <a:solidFill>
                  <a:srgbClr val="4B45B7"/>
                </a:solidFill>
                <a:latin typeface="Consolas"/>
                <a:ea typeface="Consolas"/>
                <a:cs typeface="Consolas"/>
              </a:rPr>
              <a:t>15/15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B60C3188-2E7B-461F-8C87-7C7BC354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7659" y="3708082"/>
            <a:ext cx="1917582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求解 + 状态机对抗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B4B86F62-30BB-486B-82F0-E7BD9075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84380" y="4470082"/>
            <a:ext cx="3404140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篡改 · stale approval · 违规工序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ACE654E7-A95E-493C-A073-7EF5CA48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77200" y="2057400"/>
            <a:ext cx="2800350" cy="3048000"/>
          </a:xfrm>
          <a:custGeom xmlns:a="http://schemas.openxmlformats.org/drawingml/2006/main">
            <a:rect l="l" t="t" r="r" b="b"/>
            <a:pathLst>
              <a:path w="2800350" h="3048000">
                <a:moveTo>
                  <a:pt x="0" y="0"/>
                </a:moveTo>
                <a:lnTo>
                  <a:pt x="2800350" y="0"/>
                </a:lnTo>
                <a:lnTo>
                  <a:pt x="2800350" y="3048000"/>
                </a:lnTo>
                <a:lnTo>
                  <a:pt x="0" y="30480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D74AB44D-FB38-4AF7-811A-2BD03BDD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43950" y="2724150"/>
            <a:ext cx="1466850" cy="1485900"/>
          </a:xfrm>
          <a:custGeom xmlns:a="http://schemas.openxmlformats.org/drawingml/2006/main">
            <a:rect l="l" t="t" r="r" b="b"/>
            <a:pathLst>
              <a:path w="1466850" h="1485900">
                <a:moveTo>
                  <a:pt x="0" y="0"/>
                </a:moveTo>
                <a:lnTo>
                  <a:pt x="1466850" y="0"/>
                </a:lnTo>
                <a:lnTo>
                  <a:pt x="1466850" y="1485900"/>
                </a:lnTo>
                <a:lnTo>
                  <a:pt x="0" y="1485900"/>
                </a:lnTo>
                <a:close/>
              </a:path>
            </a:pathLst>
          </a:custGeom>
          <a:solidFill xmlns:a="http://schemas.openxmlformats.org/drawingml/2006/main">
            <a:srgbClr val="E8F7F3"/>
          </a:solidFill>
          <a:ln xmlns:a="http://schemas.openxmlformats.org/drawingml/2006/main" w="38100">
            <a:solidFill>
              <a:srgbClr val="16A085"/>
            </a:solidFill>
          </a:ln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3523F146-3DEB-4C6C-9172-F1FC0FA5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53500" y="2495550"/>
            <a:ext cx="1466850" cy="1485900"/>
          </a:xfrm>
          <a:custGeom xmlns:a="http://schemas.openxmlformats.org/drawingml/2006/main">
            <a:rect l="l" t="t" r="r" b="b"/>
            <a:pathLst>
              <a:path w="1466850" h="1485900">
                <a:moveTo>
                  <a:pt x="0" y="0"/>
                </a:moveTo>
                <a:lnTo>
                  <a:pt x="1466850" y="0"/>
                </a:lnTo>
                <a:lnTo>
                  <a:pt x="1466850" y="14859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A085">
                <a:alpha val="50000"/>
              </a:srgbClr>
            </a:solidFill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4279D86D-8B00-4FDE-A5C1-8EF15C0A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5408" y="2872740"/>
            <a:ext cx="1903933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 b="1">
                <a:solidFill>
                  <a:srgbClr val="116956"/>
                </a:solidFill>
                <a:latin typeface="Consolas"/>
                <a:ea typeface="Consolas"/>
                <a:cs typeface="Consolas"/>
              </a:rPr>
              <a:t>30/30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65C97D4B-01F5-4A2F-A95A-A3D3ECFC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69306" y="3650932"/>
            <a:ext cx="1416139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录制回放合同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02A323AA-5AB2-4448-9D4D-EB65CCA0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36255" y="4470082"/>
            <a:ext cx="2682240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两次一致 · 禁止工具调用 0</a:t>
            </a:r>
          </a:p>
        </p:txBody>
      </p:sp>
      <p:sp>
        <p:nvSpPr>
          <p:cNvPr id="21" name="Line 21">
            <a:extLst xmlns:a="http://schemas.openxmlformats.org/drawingml/2006/main">
              <a:ext uri="{FF2B5EF4-FFF2-40B4-BE49-F238E27FC236}">
                <a16:creationId xmlns:a16="http://schemas.microsoft.com/office/drawing/2014/main" id="{395C0D21-7E63-4E1F-95F9-6F4C7506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" y="5562600"/>
            <a:ext cx="10972800" cy="9525"/>
          </a:xfrm>
          <a:custGeom xmlns:a="http://schemas.openxmlformats.org/drawingml/2006/main"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E5484D"/>
            </a:solidFill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C7F54E98-A853-4DE5-823E-D976875E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6775" y="5850731"/>
            <a:ext cx="9525" cy="60325"/>
          </a:xfrm>
          <a:custGeom xmlns:a="http://schemas.openxmlformats.org/drawingml/2006/main">
            <a:rect l="l" t="t" r="r" b="b"/>
            <a:pathLst>
              <a:path w="9525" h="60325">
                <a:moveTo>
                  <a:pt x="0" y="0"/>
                </a:moveTo>
                <a:lnTo>
                  <a:pt x="0" y="60325"/>
                </a:lnTo>
              </a:path>
            </a:pathLst>
          </a:custGeom>
          <a:noFill xmlns:a="http://schemas.openxmlformats.org/drawingml/2006/main"/>
          <a:ln xmlns:a="http://schemas.openxmlformats.org/drawingml/2006/main" w="30162">
            <a:solidFill>
              <a:srgbClr val="E5484D"/>
            </a:solidFill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52EB3F6C-92F1-452E-8B36-96F834E7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4679" y="5755233"/>
            <a:ext cx="304180" cy="261331"/>
          </a:xfrm>
          <a:custGeom xmlns:a="http://schemas.openxmlformats.org/drawingml/2006/main">
            <a:rect l="l" t="t" r="r" b="b"/>
            <a:pathLst>
              <a:path w="304180" h="261331">
                <a:moveTo>
                  <a:pt x="127408" y="13923"/>
                </a:moveTo>
                <a:lnTo>
                  <a:pt x="5160" y="218032"/>
                </a:lnTo>
                <a:cubicBezTo>
                  <a:pt x="31" y="226913"/>
                  <a:pt x="0" y="237848"/>
                  <a:pt x="5077" y="246758"/>
                </a:cubicBezTo>
                <a:cubicBezTo>
                  <a:pt x="10155" y="255668"/>
                  <a:pt x="19578" y="261215"/>
                  <a:pt x="29832" y="261331"/>
                </a:cubicBezTo>
                <a:lnTo>
                  <a:pt x="274359" y="261331"/>
                </a:lnTo>
                <a:cubicBezTo>
                  <a:pt x="284609" y="261212"/>
                  <a:pt x="294027" y="255667"/>
                  <a:pt x="299104" y="246762"/>
                </a:cubicBezTo>
                <a:cubicBezTo>
                  <a:pt x="304180" y="237857"/>
                  <a:pt x="304153" y="226927"/>
                  <a:pt x="299032" y="218048"/>
                </a:cubicBezTo>
                <a:lnTo>
                  <a:pt x="176784" y="13908"/>
                </a:lnTo>
                <a:cubicBezTo>
                  <a:pt x="171553" y="5274"/>
                  <a:pt x="162191" y="0"/>
                  <a:pt x="152096" y="0"/>
                </a:cubicBezTo>
                <a:cubicBezTo>
                  <a:pt x="142001" y="0"/>
                  <a:pt x="132639" y="5274"/>
                  <a:pt x="127408" y="13908"/>
                </a:cubicBezTo>
              </a:path>
            </a:pathLst>
          </a:custGeom>
          <a:noFill xmlns:a="http://schemas.openxmlformats.org/drawingml/2006/main"/>
          <a:ln xmlns:a="http://schemas.openxmlformats.org/drawingml/2006/main" w="30162">
            <a:solidFill>
              <a:srgbClr val="E5484D"/>
            </a:solidFill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6536D05B-5F50-4FEC-80A4-F36D4E23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6775" y="5956299"/>
            <a:ext cx="9525" cy="9525"/>
          </a:xfrm>
          <a:custGeom xmlns:a="http://schemas.openxmlformats.org/drawingml/2006/main">
            <a:rect l="l" t="t" r="r" b="b"/>
            <a:pathLst>
              <a:path w="9525" h="9525">
                <a:moveTo>
                  <a:pt x="0" y="0"/>
                </a:moveTo>
                <a:lnTo>
                  <a:pt x="1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162">
            <a:solidFill>
              <a:srgbClr val="E5484D"/>
            </a:solidFill>
          </a:ln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4FBFD856-D4F5-4A3D-A6F9-E5DE3EAB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7770" y="5738812"/>
            <a:ext cx="538183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A82C34"/>
                </a:solidFill>
                <a:latin typeface="+mn-lt"/>
                <a:ea typeface="+mn-lt"/>
                <a:cs typeface="+mn-lt"/>
              </a:rPr>
              <a:t>30 / 30 replay ≠ 在线模型 100% 准确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13BDB0C9-DF3E-4EE5-9CD8-C69CC8C3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45630" y="5800725"/>
            <a:ext cx="44577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它证明版本化回归与门禁稳定，不冒充泛化性能。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BC2642D3-00F9-4571-8ECF-F3AF1D46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98606" y="6271260"/>
            <a:ext cx="18989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7E9AAA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950831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2DC96DCE-DD35-49CA-B013-63081E25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1312" y="411480"/>
            <a:ext cx="8965308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让 Agent 有边界，才能让方案走得更远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338BB6CB-1CFB-4231-940A-B20079E1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1218" y="1022032"/>
            <a:ext cx="7468362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有界不替代成熟 ERP / APS，而是成为其上方可审计的异常处置决策层。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870A83F1-0849-43AA-974D-3BBA225C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" y="2038350"/>
            <a:ext cx="5162550" cy="3067050"/>
          </a:xfrm>
          <a:custGeom xmlns:a="http://schemas.openxmlformats.org/drawingml/2006/main">
            <a:rect l="l" t="t" r="r" b="b"/>
            <a:pathLst>
              <a:path w="5162550" h="3067050">
                <a:moveTo>
                  <a:pt x="0" y="0"/>
                </a:moveTo>
                <a:lnTo>
                  <a:pt x="5162550" y="0"/>
                </a:lnTo>
                <a:lnTo>
                  <a:pt x="5162550" y="3067050"/>
                </a:lnTo>
                <a:lnTo>
                  <a:pt x="0" y="3067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6488B9B7-D347-4919-8249-B63C6022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6112" y="2221230"/>
            <a:ext cx="207203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能力有界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44A00C5C-6AE7-4285-BE0A-80884465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4400" y="2857500"/>
            <a:ext cx="2876550" cy="9525"/>
          </a:xfrm>
          <a:custGeom xmlns:a="http://schemas.openxmlformats.org/drawingml/2006/main">
            <a:rect l="l" t="t" r="r" b="b"/>
            <a:pathLst>
              <a:path w="2876550" h="9525">
                <a:moveTo>
                  <a:pt x="0" y="0"/>
                </a:moveTo>
                <a:lnTo>
                  <a:pt x="2876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chemeClr val="accent2"/>
            </a:solidFill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0F737DF4-E026-4A95-BE5C-938F36D3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34262" y="3173730"/>
            <a:ext cx="207203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rgbClr val="00A2C0"/>
                </a:solidFill>
                <a:latin typeface="+mn-lt"/>
                <a:ea typeface="+mn-lt"/>
                <a:cs typeface="+mn-lt"/>
              </a:rPr>
              <a:t>方案可证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4E5A1664-4621-4559-ADC4-D5E20966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2550" y="3810000"/>
            <a:ext cx="2876550" cy="9525"/>
          </a:xfrm>
          <a:custGeom xmlns:a="http://schemas.openxmlformats.org/drawingml/2006/main">
            <a:rect l="l" t="t" r="r" b="b"/>
            <a:pathLst>
              <a:path w="2876550" h="9525">
                <a:moveTo>
                  <a:pt x="0" y="0"/>
                </a:moveTo>
                <a:lnTo>
                  <a:pt x="2876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chemeClr val="accent3"/>
            </a:solidFill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CF9245A4-B719-4D6C-B815-F970F657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72412" y="4126230"/>
            <a:ext cx="207203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rgbClr val="4B45B7"/>
                </a:solidFill>
                <a:latin typeface="+mn-lt"/>
                <a:ea typeface="+mn-lt"/>
                <a:cs typeface="+mn-lt"/>
              </a:rPr>
              <a:t>决策在人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B570D59-7C59-48BA-91CA-2B19384F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90700" y="4762500"/>
            <a:ext cx="2876550" cy="9525"/>
          </a:xfrm>
          <a:custGeom xmlns:a="http://schemas.openxmlformats.org/drawingml/2006/main">
            <a:rect l="l" t="t" r="r" b="b"/>
            <a:pathLst>
              <a:path w="2876550" h="9525">
                <a:moveTo>
                  <a:pt x="0" y="0"/>
                </a:moveTo>
                <a:lnTo>
                  <a:pt x="2876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16A085"/>
            </a:solidFill>
          </a:ln>
        </p:spPr>
      </p:sp>
      <p:sp>
        <p:nvSpPr>
          <p:cNvPr id="12" name="Ellipse 12">
            <a:extLst xmlns:a="http://schemas.openxmlformats.org/drawingml/2006/main">
              <a:ext uri="{FF2B5EF4-FFF2-40B4-BE49-F238E27FC236}">
                <a16:creationId xmlns:a16="http://schemas.microsoft.com/office/drawing/2014/main" id="{AB176CB3-DB17-4BC9-9463-A96FB8E5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86550" y="1543050"/>
            <a:ext cx="3390900" cy="3390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chemeClr val="accent2"/>
            </a:solidFill>
          </a:ln>
        </p:spPr>
      </p:sp>
      <p:sp>
        <p:nvSpPr>
          <p:cNvPr id="13" name="Ellipse 13">
            <a:extLst xmlns:a="http://schemas.openxmlformats.org/drawingml/2006/main">
              <a:ext uri="{FF2B5EF4-FFF2-40B4-BE49-F238E27FC236}">
                <a16:creationId xmlns:a16="http://schemas.microsoft.com/office/drawing/2014/main" id="{1BF274E0-B475-447A-94F5-781A1DF1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29450" y="1885950"/>
            <a:ext cx="2705100" cy="2705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accent5"/>
            </a:solidFill>
          </a:ln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67C27E83-9AB6-43FA-8D31-6E401F4B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36776" y="2453640"/>
            <a:ext cx="1290447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请现场验证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8C4753A0-A978-4A51-966C-AD855C8E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18753" y="2908935"/>
            <a:ext cx="2126494" cy="528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70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换一个 seed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B8258711-1A37-486F-AD70-8B5223D1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13332" y="3395662"/>
            <a:ext cx="1537335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50">
                <a:solidFill>
                  <a:schemeClr val="dk1"/>
                </a:solidFill>
                <a:latin typeface="+mn-lt"/>
                <a:ea typeface="+mn-lt"/>
                <a:cs typeface="+mn-lt"/>
              </a:rPr>
              <a:t>比较三方案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A20D636-D846-4A2A-87AB-A4DD9024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61885" y="3814762"/>
            <a:ext cx="184023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50">
                <a:solidFill>
                  <a:srgbClr val="E5484D"/>
                </a:solidFill>
                <a:latin typeface="+mn-lt"/>
                <a:ea typeface="+mn-lt"/>
                <a:cs typeface="+mn-lt"/>
              </a:rPr>
              <a:t>再试一次驳回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8CFFC690-6AAA-4CD2-8E95-76BB9139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82000" y="1143000"/>
            <a:ext cx="2266950" cy="400050"/>
          </a:xfrm>
          <a:custGeom xmlns:a="http://schemas.openxmlformats.org/drawingml/2006/main">
            <a:rect l="l" t="t" r="r" b="b"/>
            <a:pathLst>
              <a:path w="2266950" h="400050">
                <a:moveTo>
                  <a:pt x="0" y="400050"/>
                </a:moveTo>
                <a:lnTo>
                  <a:pt x="0" y="0"/>
                </a:lnTo>
                <a:lnTo>
                  <a:pt x="2266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chemeClr val="accent2"/>
            </a:solidFill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5422EE61-1555-49D1-886F-BC530CA1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01250" y="4933950"/>
            <a:ext cx="1295400" cy="495300"/>
          </a:xfrm>
          <a:custGeom xmlns:a="http://schemas.openxmlformats.org/drawingml/2006/main">
            <a:rect l="l" t="t" r="r" b="b"/>
            <a:pathLst>
              <a:path w="1295400" h="495300">
                <a:moveTo>
                  <a:pt x="0" y="0"/>
                </a:moveTo>
                <a:lnTo>
                  <a:pt x="0" y="495300"/>
                </a:lnTo>
                <a:lnTo>
                  <a:pt x="1295400" y="4953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chemeClr val="accent3"/>
            </a:solidFill>
          </a:ln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E0A606C7-8186-4C54-9FB9-D36188D3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38912" y="5276850"/>
            <a:ext cx="185738" cy="228600"/>
          </a:xfrm>
          <a:custGeom xmlns:a="http://schemas.openxmlformats.org/drawingml/2006/main">
            <a:rect l="l" t="t" r="r" b="b"/>
            <a:pathLst>
              <a:path w="185738" h="228600">
                <a:moveTo>
                  <a:pt x="0" y="0"/>
                </a:moveTo>
                <a:lnTo>
                  <a:pt x="0" y="228600"/>
                </a:lnTo>
                <a:lnTo>
                  <a:pt x="185738" y="1143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chemeClr val="accent2"/>
            </a:solidFill>
          </a:ln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4042E8E4-C5BE-46DE-9F83-4EA528CD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06768" y="5289232"/>
            <a:ext cx="1128453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在线 Demo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1559C4F0-30FD-438E-8D88-EA9CC50A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1792" y="5321618"/>
            <a:ext cx="2012823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上线后写入链接与二维码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47F15B4C-288B-4DDB-965F-0F461D86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38925" y="5757862"/>
            <a:ext cx="71438" cy="71438"/>
          </a:xfrm>
          <a:custGeom xmlns:a="http://schemas.openxmlformats.org/drawingml/2006/main">
            <a:rect l="l" t="t" r="r" b="b"/>
            <a:pathLst>
              <a:path w="71438" h="71438">
                <a:moveTo>
                  <a:pt x="0" y="0"/>
                </a:moveTo>
                <a:lnTo>
                  <a:pt x="0" y="57150"/>
                </a:lnTo>
                <a:cubicBezTo>
                  <a:pt x="0" y="65041"/>
                  <a:pt x="6397" y="71438"/>
                  <a:pt x="14288" y="71438"/>
                </a:cubicBezTo>
                <a:lnTo>
                  <a:pt x="71438" y="7143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chemeClr val="accent3"/>
            </a:solidFill>
          </a:ln>
        </p:spPr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B5415B7C-A8B9-4B90-B748-314F9094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10338" y="5757862"/>
            <a:ext cx="200025" cy="257175"/>
          </a:xfrm>
          <a:custGeom xmlns:a="http://schemas.openxmlformats.org/drawingml/2006/main">
            <a:rect l="l" t="t" r="r" b="b"/>
            <a:pathLst>
              <a:path w="200025" h="257175">
                <a:moveTo>
                  <a:pt x="171450" y="257175"/>
                </a:moveTo>
                <a:lnTo>
                  <a:pt x="28575" y="257175"/>
                </a:lnTo>
                <a:cubicBezTo>
                  <a:pt x="12793" y="257175"/>
                  <a:pt x="0" y="244382"/>
                  <a:pt x="0" y="22860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lnTo>
                  <a:pt x="128588" y="0"/>
                </a:lnTo>
                <a:lnTo>
                  <a:pt x="200025" y="71438"/>
                </a:lnTo>
                <a:lnTo>
                  <a:pt x="200025" y="228600"/>
                </a:lnTo>
                <a:cubicBezTo>
                  <a:pt x="200025" y="244382"/>
                  <a:pt x="187232" y="257175"/>
                  <a:pt x="171450" y="257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chemeClr val="accent3"/>
            </a:solidFill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319F8A0A-BF39-404D-B4C8-C9F79420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67488" y="5900738"/>
            <a:ext cx="85725" cy="57150"/>
          </a:xfrm>
          <a:custGeom xmlns:a="http://schemas.openxmlformats.org/drawingml/2006/main">
            <a:rect l="l" t="t" r="r" b="b"/>
            <a:pathLst>
              <a:path w="85725" h="57150">
                <a:moveTo>
                  <a:pt x="0" y="28575"/>
                </a:moveTo>
                <a:lnTo>
                  <a:pt x="28575" y="57150"/>
                </a:ln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chemeClr val="accent3"/>
            </a:solidFill>
          </a:ln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FD29DBB8-CD62-4E2E-8702-B45516D5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06768" y="5784532"/>
            <a:ext cx="1182910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 b="1">
                <a:solidFill>
                  <a:srgbClr val="4B45B7"/>
                </a:solidFill>
                <a:latin typeface="+mn-lt"/>
                <a:ea typeface="+mn-lt"/>
                <a:cs typeface="+mn-lt"/>
              </a:rPr>
              <a:t>源码与视频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8907EB83-A48E-403C-B4E8-6577B28D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1792" y="5816918"/>
            <a:ext cx="1831086" cy="264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发布前验收完成后公开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86357761-1C0A-4164-BB04-24BC3C86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1218" y="5441632"/>
            <a:ext cx="7568946" cy="322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50">
                <a:solidFill>
                  <a:schemeClr val="dk1"/>
                </a:solidFill>
                <a:latin typeface="+mn-lt"/>
                <a:ea typeface="+mn-lt"/>
                <a:cs typeface="+mn-lt"/>
              </a:rPr>
              <a:t>输入可以不确定，方案必须可复算；建议可以自动生成，决定必须由人承担。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8CA0C296-7D81-41A0-981E-4CA33A78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3504" y="6118860"/>
            <a:ext cx="4508449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B7388"/>
                </a:solidFill>
                <a:latin typeface="+mn-lt"/>
                <a:ea typeface="+mn-lt"/>
                <a:cs typeface="+mn-lt"/>
              </a:rPr>
              <a:t>PoC 仅生成 draft_only · 不连接真实 ERP/MES · 不控制设备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93F97A31-85E0-414D-B7AC-39542FCA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98606" y="6271260"/>
            <a:ext cx="189890" cy="2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>
                <a:solidFill>
                  <a:srgbClr val="7E9AAA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34572062"/>
      </p:ext>
    </p:extLst>
  </p:cSld>
</p:sld>
</file>

<file path=ppt/theme/theme1.xml><?xml version="1.0" encoding="utf-8"?>
<a:theme xmlns:a="http://schemas.openxmlformats.org/drawingml/2006/main" name="youjie_goai_pitch">
  <a:themeElements>
    <a:clrScheme name="youjie_goai_pitch">
      <a:dk1>
        <a:srgbClr val="17324D"/>
      </a:dk1>
      <a:lt1>
        <a:srgbClr val="F7FBFF"/>
      </a:lt1>
      <a:dk2>
        <a:srgbClr val="1F497D"/>
      </a:dk2>
      <a:lt2>
        <a:srgbClr val="EAF7FC"/>
      </a:lt2>
      <a:accent1>
        <a:srgbClr val="0B4F6C"/>
      </a:accent1>
      <a:accent2>
        <a:srgbClr val="00B8D9"/>
      </a:accent2>
      <a:accent3>
        <a:srgbClr val="6C63FF"/>
      </a:accent3>
      <a:accent4>
        <a:srgbClr val="0B4F6C"/>
      </a:accent4>
      <a:accent5>
        <a:srgbClr val="B7E5EF"/>
      </a:accent5>
      <a:accent6>
        <a:srgbClr val="FF9D2E"/>
      </a:accent6>
      <a:hlink>
        <a:srgbClr val="00B8D9"/>
      </a:hlink>
      <a:folHlink>
        <a:srgbClr val="6C63FF"/>
      </a:folHlink>
    </a:clrScheme>
    <a:fontScheme name="youjie_goai_pitch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youjie_goai_pit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2026-08-09T05:30:10.2500000Z</dcterms:created>
  <dcterms:modified xsi:type="dcterms:W3CDTF">2026-08-09T05:30:10.2500000Z</dcterms:modified>
</coreProperties>
</file>