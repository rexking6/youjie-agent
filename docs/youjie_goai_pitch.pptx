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337e5a63cf84424" /><Relationship Type="http://schemas.openxmlformats.org/officeDocument/2006/relationships/extended-properties" Target="/docProps/app.xml" Id="R2bd1abb6ba784f40" /><Relationship Type="http://schemas.openxmlformats.org/officeDocument/2006/relationships/officeDocument" Target="/ppt/presentation.xml" Id="R1e238b4062944f8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40964d97c214496"/>
  </p:sldMasterIdLst>
  <p:notesMasterIdLst>
    <p:notesMasterId xmlns:r="http://schemas.openxmlformats.org/officeDocument/2006/relationships" r:id="R0fef9b4f80224a7a"/>
  </p:notesMasterIdLst>
  <p:sldIdLst>
    <p:sldId xmlns:r="http://schemas.openxmlformats.org/officeDocument/2006/relationships" id="256" r:id="R8175842298ec4ac6"/>
    <p:sldId xmlns:r="http://schemas.openxmlformats.org/officeDocument/2006/relationships" id="257" r:id="R776923547bff43c6"/>
    <p:sldId xmlns:r="http://schemas.openxmlformats.org/officeDocument/2006/relationships" id="258" r:id="Re7ba5942ddff40aa"/>
    <p:sldId xmlns:r="http://schemas.openxmlformats.org/officeDocument/2006/relationships" id="259" r:id="R9f64136f1296458e"/>
    <p:sldId xmlns:r="http://schemas.openxmlformats.org/officeDocument/2006/relationships" id="260" r:id="R051fd9ed90884bc2"/>
    <p:sldId xmlns:r="http://schemas.openxmlformats.org/officeDocument/2006/relationships" id="261" r:id="R16cca54be80642e4"/>
    <p:sldId xmlns:r="http://schemas.openxmlformats.org/officeDocument/2006/relationships" id="262" r:id="Reea97c1e88db4ebe"/>
    <p:sldId xmlns:r="http://schemas.openxmlformats.org/officeDocument/2006/relationships" id="263" r:id="R247185b27b0645be"/>
    <p:sldId xmlns:r="http://schemas.openxmlformats.org/officeDocument/2006/relationships" id="264" r:id="Rb5daa09ad82a40df"/>
    <p:sldId xmlns:r="http://schemas.openxmlformats.org/officeDocument/2006/relationships" id="265" r:id="Re434c082d6a34964"/>
    <p:sldId xmlns:r="http://schemas.openxmlformats.org/officeDocument/2006/relationships" id="266" r:id="R094158e13c43426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7398d93c2ca48d5" /><Relationship Type="http://schemas.openxmlformats.org/officeDocument/2006/relationships/slideMaster" Target="/ppt/slideMasters/slideMaster1.xml" Id="Rd40964d97c214496" /><Relationship Type="http://schemas.openxmlformats.org/officeDocument/2006/relationships/notesMaster" Target="/ppt/notesMasters/notesMaster1.xml" Id="R0fef9b4f80224a7a" /><Relationship Type="http://schemas.openxmlformats.org/officeDocument/2006/relationships/presProps" Target="/ppt/presProps.xml" Id="R0fb32eb5d0b843e7" /><Relationship Type="http://schemas.openxmlformats.org/officeDocument/2006/relationships/viewProps" Target="/ppt/viewProps.xml" Id="R687ddcc039c54158" /><Relationship Type="http://schemas.openxmlformats.org/officeDocument/2006/relationships/tableStyles" Target="/ppt/tableStyles.xml" Id="Rd29d70884fc645e3" /><Relationship Type="http://schemas.openxmlformats.org/officeDocument/2006/relationships/slide" Target="/ppt/slides/slide1.xml" Id="R8175842298ec4ac6" /><Relationship Type="http://schemas.openxmlformats.org/officeDocument/2006/relationships/slide" Target="/ppt/slides/slide2.xml" Id="R776923547bff43c6" /><Relationship Type="http://schemas.openxmlformats.org/officeDocument/2006/relationships/slide" Target="/ppt/slides/slide3.xml" Id="Re7ba5942ddff40aa" /><Relationship Type="http://schemas.openxmlformats.org/officeDocument/2006/relationships/slide" Target="/ppt/slides/slide4.xml" Id="R9f64136f1296458e" /><Relationship Type="http://schemas.openxmlformats.org/officeDocument/2006/relationships/slide" Target="/ppt/slides/slide5.xml" Id="R051fd9ed90884bc2" /><Relationship Type="http://schemas.openxmlformats.org/officeDocument/2006/relationships/slide" Target="/ppt/slides/slide6.xml" Id="R16cca54be80642e4" /><Relationship Type="http://schemas.openxmlformats.org/officeDocument/2006/relationships/slide" Target="/ppt/slides/slide7.xml" Id="Reea97c1e88db4ebe" /><Relationship Type="http://schemas.openxmlformats.org/officeDocument/2006/relationships/slide" Target="/ppt/slides/slide8.xml" Id="R247185b27b0645be" /><Relationship Type="http://schemas.openxmlformats.org/officeDocument/2006/relationships/slide" Target="/ppt/slides/slide9.xml" Id="Rb5daa09ad82a40df" /><Relationship Type="http://schemas.openxmlformats.org/officeDocument/2006/relationships/slide" Target="/ppt/slides/slide10.xml" Id="Re434c082d6a34964" /><Relationship Type="http://schemas.openxmlformats.org/officeDocument/2006/relationships/slide" Target="/ppt/slides/slide11.xml" Id="R094158e13c43426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e0b5e1c0d824ef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youjie_goai_pitch">
  <a:themeElements>
    <a:clrScheme name="youjie_goai_pitch">
      <a:dk1>
        <a:srgbClr val="17324D"/>
      </a:dk1>
      <a:lt1>
        <a:srgbClr val="F7FBFF"/>
      </a:lt1>
      <a:dk2>
        <a:srgbClr val="1F497D"/>
      </a:dk2>
      <a:lt2>
        <a:srgbClr val="EAF7FC"/>
      </a:lt2>
      <a:accent1>
        <a:srgbClr val="0B4F6C"/>
      </a:accent1>
      <a:accent2>
        <a:srgbClr val="00B8D9"/>
      </a:accent2>
      <a:accent3>
        <a:srgbClr val="6C63FF"/>
      </a:accent3>
      <a:accent4>
        <a:srgbClr val="0B4F6C"/>
      </a:accent4>
      <a:accent5>
        <a:srgbClr val="B7E5EF"/>
      </a:accent5>
      <a:accent6>
        <a:srgbClr val="FF9D2E"/>
      </a:accent6>
      <a:hlink>
        <a:srgbClr val="00B8D9"/>
      </a:hlink>
      <a:folHlink>
        <a:srgbClr val="6C63FF"/>
      </a:folHlink>
    </a:clrScheme>
    <a:fontScheme name="youjie_goai_pitch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youjie_goai_pitch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12536bd437f49f2" /><Relationship Type="http://schemas.openxmlformats.org/officeDocument/2006/relationships/notesMaster" Target="/ppt/notesMasters/notesMaster1.xml" Id="Rb161d88af43b4b3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aefc24b551c4577" /><Relationship Type="http://schemas.openxmlformats.org/officeDocument/2006/relationships/notesMaster" Target="/ppt/notesMasters/notesMaster1.xml" Id="Rebbde7b3fdcb46b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ce8e1b7ed4d4f16" /><Relationship Type="http://schemas.openxmlformats.org/officeDocument/2006/relationships/notesMaster" Target="/ppt/notesMasters/notesMaster1.xml" Id="R06d3e22683ee498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3998b51673f433c" /><Relationship Type="http://schemas.openxmlformats.org/officeDocument/2006/relationships/notesMaster" Target="/ppt/notesMasters/notesMaster1.xml" Id="R3a879aea71e842e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8157db595934621" /><Relationship Type="http://schemas.openxmlformats.org/officeDocument/2006/relationships/notesMaster" Target="/ppt/notesMasters/notesMaster1.xml" Id="R10a840706f03468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267c9126cdc4781" /><Relationship Type="http://schemas.openxmlformats.org/officeDocument/2006/relationships/notesMaster" Target="/ppt/notesMasters/notesMaster1.xml" Id="R6e9766aefd70406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b49d1102c824caa" /><Relationship Type="http://schemas.openxmlformats.org/officeDocument/2006/relationships/notesMaster" Target="/ppt/notesMasters/notesMaster1.xml" Id="Re9bac76d1a66446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0c7b8652cf247a3" /><Relationship Type="http://schemas.openxmlformats.org/officeDocument/2006/relationships/notesMaster" Target="/ppt/notesMasters/notesMaster1.xml" Id="R6c1a8a13195c4d3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5fd4253aede4dd7" /><Relationship Type="http://schemas.openxmlformats.org/officeDocument/2006/relationships/notesMaster" Target="/ppt/notesMasters/notesMaster1.xml" Id="Rb6973b6242b44ab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5f253cb8ed247c3" /><Relationship Type="http://schemas.openxmlformats.org/officeDocument/2006/relationships/notesMaster" Target="/ppt/notesMasters/notesMaster1.xml" Id="R66fd046218834ff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dae209e7206453a" /><Relationship Type="http://schemas.openxmlformats.org/officeDocument/2006/relationships/notesMaster" Target="/ppt/notesMasters/notesMaster1.xml" Id="R9d6b77f000544ab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这个作品叫有界，是一个面向制造计划员的供应链异常研判与恢复计划智能体。它的核心不是让大模型替人做决定，而是让不确定的输入进入一条可复算、可验证、可追责的流程：能力有界，方案可证，决策在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先看最具体的场景。一个模拟座椅供应商发来邮件，说 Q2J 未来四十八小时无法正常发运；这一个异常同时影响三个 BOM 配置，对应九十一、八十一和四十五台车，总计二百一十七台。邮件和事故是模拟的，但这二百一十七条需求来自公开汽车供应链工作簿的原始行，所以我们既保留工业对象关系，也把模拟边界说清楚。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这件事不是让模型读完邮件后给一句建议。Agent 要先提取事故、校验实体和缺失字段，再规划白名单调查动作，读取数据快照和规则，调用求解器生成三套方案，并交给独立验证器复核。LangGraph 在人工审批处真正暂停；批准后才重算并生成草稿工单，驳回则直接结束且工单为零。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这里 AI 不是装饰，它负责最适合概率模型的部分：理解邮件和聊天、保留原文证据、发现缺失或冲突、规划工具、检索政策并解释方案。与此同时，BOM 展开、库存守恒、产能排程、可行性验证和审批权限全部留在确定性可信内核里。换句话说，AI 可以提出候选，但不能自己算出一个不可核验的答案，更不能自我批准或控制设备。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人工审批不是前端按钮改一个状态。求解和验证完成后，LangGraph checkpoint 保存线程并触发 interrupt；恢复时系统从原场景重新求解，而不是继续相信审批前的内存对象。只有新的 scenario hash 和 plan hash 都与审批看到的证据一致，系统才生成 draft only 工单；如果场景变化、候选被篡改或人选择驳回，旧批准都会失效。当前演示使用内存 checkpointer，生产化仍需持久化、RBAC 和幂等机制。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主演示实际使用 Mendeley Data 的汽车供应链工作簿，而不只是参考它的字段。原数据包含二万八千零四十九个产品、八万七千零五十九条 BOM 和二万八千条需求；程序先校验完整文件的 SHA-256，再从第六十一期抽取二百一十七条逐车需求，并在 lineage 文件中保留需求、BOM、库存和容量的工作表行号。聚合成三张比赛订单后，数量仍然是二百一十七，差为零。客户名、事故邮件、应急报价、预算和审批属于明确标注的模拟层；公开数据是行业背景随机化数据，不冒充企业原始流水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在相同硬约束下，三套方案产生了真实差异。保交付方案让九十一台按首个交期完成，使用九十一件应急供应，恢复成本七百二十八元；平衡方案是四十五台、四十五件和三百六十元；少变更方案不使用应急供应，因此首个交期按时数量为零。三套方案都是求解器最优状态，并由独立 verifier 重放通过。这里的应急上限、单价和预算是模拟参数；系统遵守整批交付，不会为了漂亮数字偷偷拆单。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这些机制已经进入可运行的 Streamlit 界面，而不是停在架构图里。评委可以从公开数据证据和固定邮件启动同一条 LangGraph 线程，比较三套方案、查看排程与验证状态，再批准或驳回，并下载包含工具轨迹和 hash 的完整 JSON。默认 replay 模式让演示在没有模型密钥时仍可复现，但它不代表在线模型准确率。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除了固定邮件，我们还做了一个专门找麻烦的随机事故 Agent。它根据 seed 从场景中的真实实体和合法范围生成供应延期、供应中断、库存损失、产线停机和需求激增，再把事件交给完全相同的 LangGraph、solver、verifier 和人审链路。相同 seed 会产生完全相同的事件；它只修改隔离场景副本，没有求解、批准、写回或设备控制权限。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我们验证的不只是程序能跑通一次。当前有三十二个自动化测试，旧的十五个求解和状态机对抗场景全部通过，三十条 Agent 录制回放合同连续两次输出一致，禁止工具调用次数为零。覆盖项包括数据溯源、错误工序、旧批准、计划篡改、提示注入和伪造结果。必须强调，三十比三十是版本化 replay 回归证据，不是在线模型百分之百准确的声明。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有界不打算重做 ERP 或 APS，它要成为这些成熟系统上方可审计的异常处置决策层。输入可以不确定，方案必须可复算；建议可以自动生成，决定必须由人承担。请扫描二维码打开在线 Demo，换一个 seed，比较三套方案，再亲自试一次驳回，看系统是否真的守住边界。源码和完整演示视频已公开在 github.com/RexKing6/youjie-agent。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b63d90b33d9469d" /></Relationships>
</file>

<file path=ppt/slideLayouts/slideLayout1.xml><?xml version="1.0" encoding="utf-8"?>
<p:sldLayout xmlns:p="http://schemas.openxmlformats.org/presentationml/2006/main" type="blank" preserve="1">
  <p:cSld name="youjie_goai_pitch — 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3313CFF8-A59D-4C9B-8935-828220566CE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D90B41D1-F88E-4D2A-96CA-356F2AE0A91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4E1206E2-D665-4AD6-ACF7-A9D4C323673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e5376584f3d4213" /><Relationship Type="http://schemas.openxmlformats.org/officeDocument/2006/relationships/slideLayout" Target="/ppt/slideLayouts/slideLayout1.xml" Id="Rae6b90c91caa4d1f" /></Relationships>
</file>

<file path=ppt/slideMasters/slideMaster1.xml><?xml version="1.0" encoding="utf-8"?>
<p:sldMaster xmlns:p="http://schemas.openxmlformats.org/presentationml/2006/main">
  <p:cSld name="youjie_goai_pitch — 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ADC5183-7EC0-439B-9DF8-229D05DB5615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F60DD84-1FE8-4125-9838-D76830AAF9F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E235AEB-9829-44AF-88AF-B9CB55840DD2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e6b90c91caa4d1f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225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195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185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17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155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14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125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11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225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21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95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5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7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55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4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25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1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youjie_goai_pitch">
  <a:themeElements>
    <a:clrScheme name="youjie_goai_pitch">
      <a:dk1>
        <a:srgbClr val="17324D"/>
      </a:dk1>
      <a:lt1>
        <a:srgbClr val="F7FBFF"/>
      </a:lt1>
      <a:dk2>
        <a:srgbClr val="1F497D"/>
      </a:dk2>
      <a:lt2>
        <a:srgbClr val="EAF7FC"/>
      </a:lt2>
      <a:accent1>
        <a:srgbClr val="0B4F6C"/>
      </a:accent1>
      <a:accent2>
        <a:srgbClr val="00B8D9"/>
      </a:accent2>
      <a:accent3>
        <a:srgbClr val="6C63FF"/>
      </a:accent3>
      <a:accent4>
        <a:srgbClr val="0B4F6C"/>
      </a:accent4>
      <a:accent5>
        <a:srgbClr val="B7E5EF"/>
      </a:accent5>
      <a:accent6>
        <a:srgbClr val="FF9D2E"/>
      </a:accent6>
      <a:hlink>
        <a:srgbClr val="00B8D9"/>
      </a:hlink>
      <a:folHlink>
        <a:srgbClr val="6C63FF"/>
      </a:folHlink>
    </a:clrScheme>
    <a:fontScheme name="youjie_goai_pitch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youjie_goai_pitch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45cdef5e4143cb" /><Relationship Type="http://schemas.openxmlformats.org/officeDocument/2006/relationships/notesSlide" Target="/ppt/notesSlides/notesSlide1.xml" Id="R2113f18268024c0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13cf23dad548a7" /><Relationship Type="http://schemas.openxmlformats.org/officeDocument/2006/relationships/notesSlide" Target="/ppt/notesSlides/notesSlide2.xml" Id="R4aa1867aa0294e4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7c2becc125439f" /><Relationship Type="http://schemas.openxmlformats.org/officeDocument/2006/relationships/notesSlide" Target="/ppt/notesSlides/notesSlide3.xml" Id="R9bfa3e1d73ee428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022016e7b84ae1" /><Relationship Type="http://schemas.openxmlformats.org/officeDocument/2006/relationships/notesSlide" Target="/ppt/notesSlides/notesSlide4.xml" Id="Re1d29727e2aa418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ee00be19764659" /><Relationship Type="http://schemas.openxmlformats.org/officeDocument/2006/relationships/notesSlide" Target="/ppt/notesSlides/notesSlide5.xml" Id="R5b9820bb69a64bf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ae9c51bab5435d" /><Relationship Type="http://schemas.openxmlformats.org/officeDocument/2006/relationships/notesSlide" Target="/ppt/notesSlides/notesSlide6.xml" Id="Re5017873bc974d4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5b0eef1fdd4530" /><Relationship Type="http://schemas.openxmlformats.org/officeDocument/2006/relationships/notesSlide" Target="/ppt/notesSlides/notesSlide7.xml" Id="R670cf70c74cc447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eac5773ea24c86" /><Relationship Type="http://schemas.openxmlformats.org/officeDocument/2006/relationships/image" Target="/ppt/media/image.png" Id="Rda2ff5c8f8ae4bdf" /><Relationship Type="http://schemas.openxmlformats.org/officeDocument/2006/relationships/image" Target="/ppt/media/image2.png" Id="R36f4b21b115e456f" /><Relationship Type="http://schemas.openxmlformats.org/officeDocument/2006/relationships/notesSlide" Target="/ppt/notesSlides/notesSlide8.xml" Id="R6386168100b44e6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482ed5ef394db8" /><Relationship Type="http://schemas.openxmlformats.org/officeDocument/2006/relationships/notesSlide" Target="/ppt/notesSlides/notesSlide9.xml" Id="R97b2d55b7d6a47e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c7047fa84a44a3" /><Relationship Type="http://schemas.openxmlformats.org/officeDocument/2006/relationships/notesSlide" Target="/ppt/notesSlides/notesSlide10.xml" Id="R370157e0af4e4ce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50c932c71d4109" /><Relationship Type="http://schemas.openxmlformats.org/officeDocument/2006/relationships/image" Target="/ppt/media/image3.png" Id="R4e12f5ab99bf48e1" /><Relationship Type="http://schemas.openxmlformats.org/officeDocument/2006/relationships/notesSlide" Target="/ppt/notesSlides/notesSlide11.xml" Id="R7d71008efd384ad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828F6B00-F4AB-4774-83DA-02F739276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876300"/>
            <a:ext cx="4743450" cy="247650"/>
          </a:xfrm>
          <a:custGeom xmlns:a="http://schemas.openxmlformats.org/drawingml/2006/main">
            <a:rect l="l" t="t" r="r" b="b"/>
            <a:pathLst>
              <a:path w="4743450" h="247650">
                <a:moveTo>
                  <a:pt x="0" y="247650"/>
                </a:moveTo>
                <a:lnTo>
                  <a:pt x="2724150" y="247650"/>
                </a:lnTo>
                <a:cubicBezTo>
                  <a:pt x="3162300" y="247650"/>
                  <a:pt x="3333750" y="0"/>
                  <a:pt x="3771900" y="0"/>
                </a:cubicBezTo>
                <a:lnTo>
                  <a:pt x="47434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chemeClr val="accent5"/>
            </a:solidFill>
          </a:ln>
        </p:spPr>
      </p:sp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12592819-E464-434F-A129-6F099D80C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667750" y="0"/>
            <a:ext cx="3524250" cy="1257300"/>
          </a:xfrm>
          <a:custGeom xmlns:a="http://schemas.openxmlformats.org/drawingml/2006/main">
            <a:rect l="l" t="t" r="r" b="b"/>
            <a:pathLst>
              <a:path w="3524250" h="1257300">
                <a:moveTo>
                  <a:pt x="0" y="0"/>
                </a:moveTo>
                <a:lnTo>
                  <a:pt x="0" y="838200"/>
                </a:lnTo>
                <a:cubicBezTo>
                  <a:pt x="0" y="1123950"/>
                  <a:pt x="247650" y="1257300"/>
                  <a:pt x="533400" y="1257300"/>
                </a:cubicBezTo>
                <a:lnTo>
                  <a:pt x="3524250" y="12573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chemeClr val="accent5"/>
            </a:solidFill>
          </a:ln>
        </p:spPr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1BD92784-8E31-4185-871F-6D806C3E5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9100" y="5924550"/>
            <a:ext cx="4533900" cy="266700"/>
          </a:xfrm>
          <a:custGeom xmlns:a="http://schemas.openxmlformats.org/drawingml/2006/main">
            <a:rect l="l" t="t" r="r" b="b"/>
            <a:pathLst>
              <a:path w="4533900" h="266700">
                <a:moveTo>
                  <a:pt x="0" y="266700"/>
                </a:moveTo>
                <a:lnTo>
                  <a:pt x="1809750" y="266700"/>
                </a:lnTo>
                <a:cubicBezTo>
                  <a:pt x="2190750" y="266700"/>
                  <a:pt x="2324100" y="0"/>
                  <a:pt x="2705100" y="0"/>
                </a:cubicBezTo>
                <a:lnTo>
                  <a:pt x="45339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chemeClr val="accent2">
                <a:alpha val="50000"/>
              </a:schemeClr>
            </a:solidFill>
          </a:ln>
        </p:spPr>
      </p:sp>
      <p:sp>
        <p:nvSpPr>
          <p:cNvPr id="6" name="TextBox 6">
            <a:extLst xmlns:a="http://schemas.openxmlformats.org/drawingml/2006/main">
              <a:ext uri="{FF2B5EF4-FFF2-40B4-BE49-F238E27FC236}">
                <a16:creationId xmlns:a16="http://schemas.microsoft.com/office/drawing/2014/main" id="{4B72B8B2-5DE3-496C-8FD7-707DC824B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3504" y="1089660"/>
            <a:ext cx="2726131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chemeClr val="accent2"/>
                </a:solidFill>
                <a:latin typeface="+mn-lt"/>
                <a:ea typeface="+mn-lt"/>
                <a:cs typeface="+mn-lt"/>
              </a:rPr>
              <a:t>GOAI 无界应用 · AI+工业制造</a:t>
            </a:r>
          </a:p>
        </p:txBody>
      </p:sp>
      <p:sp>
        <p:nvSpPr>
          <p:cNvPr id="7" name="TextBox 7">
            <a:extLst xmlns:a="http://schemas.openxmlformats.org/drawingml/2006/main">
              <a:ext uri="{FF2B5EF4-FFF2-40B4-BE49-F238E27FC236}">
                <a16:creationId xmlns:a16="http://schemas.microsoft.com/office/drawing/2014/main" id="{A80AC355-4BA2-4644-BD50-7D0548E4F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71500" y="2004060"/>
            <a:ext cx="2134133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7200" b="1">
                <a:solidFill>
                  <a:schemeClr val="accent1"/>
                </a:solidFill>
                <a:latin typeface="+mn-lt"/>
                <a:ea typeface="+mn-lt"/>
                <a:cs typeface="+mn-lt"/>
              </a:rPr>
              <a:t>有界</a:t>
            </a:r>
          </a:p>
        </p:txBody>
      </p:sp>
      <p:sp>
        <p:nvSpPr>
          <p:cNvPr id="8" name="Rectangle 8">
            <a:extLst xmlns:a="http://schemas.openxmlformats.org/drawingml/2006/main">
              <a:ext uri="{FF2B5EF4-FFF2-40B4-BE49-F238E27FC236}">
                <a16:creationId xmlns:a16="http://schemas.microsoft.com/office/drawing/2014/main" id="{8213445D-FB66-4144-9507-505D4A540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600" y="310515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</p:sp>
      <p:sp>
        <p:nvSpPr>
          <p:cNvPr id="9" name="TextBox 9">
            <a:extLst xmlns:a="http://schemas.openxmlformats.org/drawingml/2006/main">
              <a:ext uri="{FF2B5EF4-FFF2-40B4-BE49-F238E27FC236}">
                <a16:creationId xmlns:a16="http://schemas.microsoft.com/office/drawing/2014/main" id="{4BCE214B-1E56-4E2F-9067-211B70FDB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96646" y="3458528"/>
            <a:ext cx="3086291" cy="9368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450"/>
              </a:lnSpc>
              <a:buNone/>
            </a:pPr>
            <a:r>
              <a:rPr sz="2550" b="1">
                <a:solidFill>
                  <a:schemeClr val="dk1"/>
                </a:solidFill>
                <a:latin typeface="+mn-lt"/>
                <a:ea typeface="+mn-lt"/>
                <a:cs typeface="+mn-lt"/>
              </a:rPr>
              <a:t>制造供应链异常研判</a:t>
            </a:r>
            <a:br/>
            <a:r>
              <a:rPr sz="2550" b="1">
                <a:solidFill>
                  <a:schemeClr val="dk1"/>
                </a:solidFill>
                <a:latin typeface="+mn-lt"/>
                <a:ea typeface="+mn-lt"/>
                <a:cs typeface="+mn-lt"/>
              </a:rPr>
              <a:t>与恢复计划智能体</a:t>
            </a:r>
          </a:p>
        </p:txBody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95FA8DC7-074E-40A3-A81B-9393749CA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98170" y="4443412"/>
            <a:ext cx="4566285" cy="4400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>
                <a:solidFill>
                  <a:schemeClr val="accent1"/>
                </a:solidFill>
                <a:latin typeface="+mn-lt"/>
                <a:ea typeface="+mn-lt"/>
                <a:cs typeface="+mn-lt"/>
              </a:rPr>
              <a:t>能力有界，方案可证，决策在人。</a:t>
            </a:r>
          </a:p>
        </p:txBody>
      </p:sp>
      <p:sp>
        <p:nvSpPr>
          <p:cNvPr id="12" name="Freeform 12">
            <a:extLst xmlns:a="http://schemas.openxmlformats.org/drawingml/2006/main">
              <a:ext uri="{FF2B5EF4-FFF2-40B4-BE49-F238E27FC236}">
                <a16:creationId xmlns:a16="http://schemas.microsoft.com/office/drawing/2014/main" id="{4EA9DCBF-B7AC-437A-8475-1F6518B4F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953250" y="1543050"/>
            <a:ext cx="3371850" cy="2933700"/>
          </a:xfrm>
          <a:custGeom xmlns:a="http://schemas.openxmlformats.org/drawingml/2006/main">
            <a:rect l="l" t="t" r="r" b="b"/>
            <a:pathLst>
              <a:path w="3371850" h="2933700">
                <a:moveTo>
                  <a:pt x="0" y="838200"/>
                </a:moveTo>
                <a:lnTo>
                  <a:pt x="990600" y="838200"/>
                </a:lnTo>
                <a:lnTo>
                  <a:pt x="990600" y="0"/>
                </a:lnTo>
                <a:lnTo>
                  <a:pt x="2266950" y="0"/>
                </a:lnTo>
                <a:lnTo>
                  <a:pt x="2266950" y="838200"/>
                </a:lnTo>
                <a:lnTo>
                  <a:pt x="3371850" y="838200"/>
                </a:lnTo>
                <a:lnTo>
                  <a:pt x="3371850" y="1809750"/>
                </a:lnTo>
                <a:lnTo>
                  <a:pt x="2171700" y="1809750"/>
                </a:lnTo>
                <a:lnTo>
                  <a:pt x="2171700" y="2933700"/>
                </a:lnTo>
                <a:lnTo>
                  <a:pt x="857250" y="2933700"/>
                </a:lnTo>
                <a:lnTo>
                  <a:pt x="857250" y="2133600"/>
                </a:lnTo>
                <a:lnTo>
                  <a:pt x="0" y="2133600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chemeClr val="accent2"/>
            </a:solidFill>
          </a:ln>
        </p:spPr>
      </p:sp>
      <p:sp>
        <p:nvSpPr>
          <p:cNvPr id="13" name="Freeform 13">
            <a:extLst xmlns:a="http://schemas.openxmlformats.org/drawingml/2006/main">
              <a:ext uri="{FF2B5EF4-FFF2-40B4-BE49-F238E27FC236}">
                <a16:creationId xmlns:a16="http://schemas.microsoft.com/office/drawing/2014/main" id="{D6F7D831-D671-4D51-A687-FB9F508B3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953250" y="2381250"/>
            <a:ext cx="990600" cy="9525"/>
          </a:xfrm>
          <a:custGeom xmlns:a="http://schemas.openxmlformats.org/drawingml/2006/main">
            <a:rect l="l" t="t" r="r" b="b"/>
            <a:pathLst>
              <a:path w="990600" h="9525">
                <a:moveTo>
                  <a:pt x="0" y="0"/>
                </a:moveTo>
                <a:lnTo>
                  <a:pt x="990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0">
            <a:solidFill>
              <a:schemeClr val="accent3">
                <a:alpha val="22000"/>
              </a:schemeClr>
            </a:solidFill>
          </a:ln>
        </p:spPr>
      </p:sp>
      <p:sp>
        <p:nvSpPr>
          <p:cNvPr id="14" name="Ellipse 14">
            <a:extLst xmlns:a="http://schemas.openxmlformats.org/drawingml/2006/main">
              <a:ext uri="{FF2B5EF4-FFF2-40B4-BE49-F238E27FC236}">
                <a16:creationId xmlns:a16="http://schemas.microsoft.com/office/drawing/2014/main" id="{3B299936-6F77-4549-A6FF-DB3397869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619875" y="2047875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chemeClr val="accent2"/>
            </a:solidFill>
          </a:ln>
        </p:spPr>
      </p:sp>
      <p:sp>
        <p:nvSpPr>
          <p:cNvPr id="15" name="Freeform 15">
            <a:extLst xmlns:a="http://schemas.openxmlformats.org/drawingml/2006/main">
              <a:ext uri="{FF2B5EF4-FFF2-40B4-BE49-F238E27FC236}">
                <a16:creationId xmlns:a16="http://schemas.microsoft.com/office/drawing/2014/main" id="{E09BBE61-8248-4862-8C2E-59C8AAEC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817519" y="2275681"/>
            <a:ext cx="271462" cy="211137"/>
          </a:xfrm>
          <a:custGeom xmlns:a="http://schemas.openxmlformats.org/drawingml/2006/main">
            <a:rect l="l" t="t" r="r" b="b"/>
            <a:pathLst>
              <a:path w="271462" h="211137">
                <a:moveTo>
                  <a:pt x="0" y="30162"/>
                </a:moveTo>
                <a:cubicBezTo>
                  <a:pt x="0" y="13504"/>
                  <a:pt x="13504" y="0"/>
                  <a:pt x="30162" y="0"/>
                </a:cubicBezTo>
                <a:lnTo>
                  <a:pt x="241299" y="0"/>
                </a:lnTo>
                <a:cubicBezTo>
                  <a:pt x="257958" y="0"/>
                  <a:pt x="271462" y="13504"/>
                  <a:pt x="271462" y="30162"/>
                </a:cubicBezTo>
                <a:lnTo>
                  <a:pt x="271462" y="180975"/>
                </a:lnTo>
                <a:cubicBezTo>
                  <a:pt x="271462" y="197633"/>
                  <a:pt x="257958" y="211137"/>
                  <a:pt x="241299" y="211137"/>
                </a:cubicBezTo>
                <a:lnTo>
                  <a:pt x="30162" y="211137"/>
                </a:lnTo>
                <a:cubicBezTo>
                  <a:pt x="13504" y="211137"/>
                  <a:pt x="0" y="197633"/>
                  <a:pt x="0" y="180975"/>
                </a:cubicBezTo>
                <a:lnTo>
                  <a:pt x="0" y="30162"/>
                </a:lnTo>
              </a:path>
            </a:pathLst>
          </a:custGeom>
          <a:noFill xmlns:a="http://schemas.openxmlformats.org/drawingml/2006/main"/>
          <a:ln xmlns:a="http://schemas.openxmlformats.org/drawingml/2006/main" w="30162">
            <a:solidFill>
              <a:schemeClr val="accent1"/>
            </a:solidFill>
          </a:ln>
        </p:spPr>
      </p:sp>
      <p:sp>
        <p:nvSpPr>
          <p:cNvPr id="16" name="Freeform 16">
            <a:extLst xmlns:a="http://schemas.openxmlformats.org/drawingml/2006/main">
              <a:ext uri="{FF2B5EF4-FFF2-40B4-BE49-F238E27FC236}">
                <a16:creationId xmlns:a16="http://schemas.microsoft.com/office/drawing/2014/main" id="{62F4595D-6733-46D9-BD7D-EDC8BA078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817519" y="2305844"/>
            <a:ext cx="271462" cy="90487"/>
          </a:xfrm>
          <a:custGeom xmlns:a="http://schemas.openxmlformats.org/drawingml/2006/main">
            <a:rect l="l" t="t" r="r" b="b"/>
            <a:pathLst>
              <a:path w="271462" h="90487">
                <a:moveTo>
                  <a:pt x="0" y="0"/>
                </a:moveTo>
                <a:lnTo>
                  <a:pt x="135731" y="90487"/>
                </a:lnTo>
                <a:lnTo>
                  <a:pt x="271462" y="0"/>
                </a:lnTo>
              </a:path>
            </a:pathLst>
          </a:custGeom>
          <a:noFill xmlns:a="http://schemas.openxmlformats.org/drawingml/2006/main"/>
          <a:ln xmlns:a="http://schemas.openxmlformats.org/drawingml/2006/main" w="30162">
            <a:solidFill>
              <a:schemeClr val="accent1"/>
            </a:solidFill>
          </a:ln>
        </p:spPr>
      </p:sp>
      <p:sp>
        <p:nvSpPr>
          <p:cNvPr id="18" name="TextBox 18">
            <a:extLst xmlns:a="http://schemas.openxmlformats.org/drawingml/2006/main">
              <a:ext uri="{FF2B5EF4-FFF2-40B4-BE49-F238E27FC236}">
                <a16:creationId xmlns:a16="http://schemas.microsoft.com/office/drawing/2014/main" id="{B936ECEB-D173-4EBD-8397-3BDB5826A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500622" y="2774632"/>
            <a:ext cx="905256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650">
                <a:solidFill>
                  <a:schemeClr val="dk1"/>
                </a:solidFill>
                <a:latin typeface="+mn-lt"/>
                <a:ea typeface="+mn-lt"/>
                <a:cs typeface="+mn-lt"/>
              </a:rPr>
              <a:t>异常输入</a:t>
            </a:r>
          </a:p>
        </p:txBody>
      </p:sp>
      <p:sp>
        <p:nvSpPr>
          <p:cNvPr id="19" name="Ellipse 19">
            <a:extLst xmlns:a="http://schemas.openxmlformats.org/drawingml/2006/main">
              <a:ext uri="{FF2B5EF4-FFF2-40B4-BE49-F238E27FC236}">
                <a16:creationId xmlns:a16="http://schemas.microsoft.com/office/drawing/2014/main" id="{437A4974-D230-4B98-B5B5-9C1E3F9E4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886825" y="1209675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chemeClr val="accent3"/>
            </a:solidFill>
          </a:ln>
        </p:spPr>
      </p:sp>
      <p:sp>
        <p:nvSpPr>
          <p:cNvPr id="20" name="Freeform 20">
            <a:extLst xmlns:a="http://schemas.openxmlformats.org/drawingml/2006/main">
              <a:ext uri="{FF2B5EF4-FFF2-40B4-BE49-F238E27FC236}">
                <a16:creationId xmlns:a16="http://schemas.microsoft.com/office/drawing/2014/main" id="{2ABE9591-AD93-4F67-93CC-0460C9F90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084469" y="1618456"/>
            <a:ext cx="60325" cy="60325"/>
          </a:xfrm>
          <a:custGeom xmlns:a="http://schemas.openxmlformats.org/drawingml/2006/main">
            <a:rect l="l" t="t" r="r" b="b"/>
            <a:pathLst>
              <a:path w="60325" h="60325">
                <a:moveTo>
                  <a:pt x="0" y="30162"/>
                </a:moveTo>
                <a:cubicBezTo>
                  <a:pt x="0" y="46821"/>
                  <a:pt x="13504" y="60325"/>
                  <a:pt x="30162" y="60325"/>
                </a:cubicBezTo>
                <a:cubicBezTo>
                  <a:pt x="46821" y="60325"/>
                  <a:pt x="60325" y="46821"/>
                  <a:pt x="60325" y="30162"/>
                </a:cubicBezTo>
                <a:cubicBezTo>
                  <a:pt x="60325" y="13504"/>
                  <a:pt x="46821" y="0"/>
                  <a:pt x="30162" y="0"/>
                </a:cubicBezTo>
                <a:cubicBezTo>
                  <a:pt x="13504" y="0"/>
                  <a:pt x="0" y="13504"/>
                  <a:pt x="0" y="30162"/>
                </a:cubicBezTo>
              </a:path>
            </a:pathLst>
          </a:custGeom>
          <a:noFill xmlns:a="http://schemas.openxmlformats.org/drawingml/2006/main"/>
          <a:ln xmlns:a="http://schemas.openxmlformats.org/drawingml/2006/main" w="30162">
            <a:solidFill>
              <a:schemeClr val="accent3"/>
            </a:solidFill>
          </a:ln>
        </p:spPr>
      </p:sp>
      <p:sp>
        <p:nvSpPr>
          <p:cNvPr id="21" name="Freeform 21">
            <a:extLst xmlns:a="http://schemas.openxmlformats.org/drawingml/2006/main">
              <a:ext uri="{FF2B5EF4-FFF2-40B4-BE49-F238E27FC236}">
                <a16:creationId xmlns:a16="http://schemas.microsoft.com/office/drawing/2014/main" id="{3660BE36-D91F-4303-BDA0-BAEDCF1D5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295606" y="1407319"/>
            <a:ext cx="60325" cy="60325"/>
          </a:xfrm>
          <a:custGeom xmlns:a="http://schemas.openxmlformats.org/drawingml/2006/main">
            <a:rect l="l" t="t" r="r" b="b"/>
            <a:pathLst>
              <a:path w="60325" h="60325">
                <a:moveTo>
                  <a:pt x="30162" y="60325"/>
                </a:moveTo>
                <a:cubicBezTo>
                  <a:pt x="46821" y="60325"/>
                  <a:pt x="60325" y="46821"/>
                  <a:pt x="60325" y="30162"/>
                </a:cubicBezTo>
                <a:cubicBezTo>
                  <a:pt x="60325" y="13504"/>
                  <a:pt x="46821" y="0"/>
                  <a:pt x="30162" y="0"/>
                </a:cubicBezTo>
                <a:cubicBezTo>
                  <a:pt x="13504" y="0"/>
                  <a:pt x="0" y="13504"/>
                  <a:pt x="0" y="30162"/>
                </a:cubicBezTo>
                <a:cubicBezTo>
                  <a:pt x="0" y="46821"/>
                  <a:pt x="13504" y="60325"/>
                  <a:pt x="30162" y="60325"/>
                </a:cubicBezTo>
              </a:path>
            </a:pathLst>
          </a:custGeom>
          <a:noFill xmlns:a="http://schemas.openxmlformats.org/drawingml/2006/main"/>
          <a:ln xmlns:a="http://schemas.openxmlformats.org/drawingml/2006/main" w="30162">
            <a:solidFill>
              <a:schemeClr val="accent3"/>
            </a:solidFill>
          </a:ln>
        </p:spPr>
      </p:sp>
      <p:sp>
        <p:nvSpPr>
          <p:cNvPr id="22" name="Freeform 22">
            <a:extLst xmlns:a="http://schemas.openxmlformats.org/drawingml/2006/main">
              <a:ext uri="{FF2B5EF4-FFF2-40B4-BE49-F238E27FC236}">
                <a16:creationId xmlns:a16="http://schemas.microsoft.com/office/drawing/2014/main" id="{1143780F-411A-4132-B858-2F843D38D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114631" y="1437481"/>
            <a:ext cx="226218" cy="211137"/>
          </a:xfrm>
          <a:custGeom xmlns:a="http://schemas.openxmlformats.org/drawingml/2006/main">
            <a:rect l="l" t="t" r="r" b="b"/>
            <a:pathLst>
              <a:path w="226218" h="211137">
                <a:moveTo>
                  <a:pt x="90487" y="211137"/>
                </a:moveTo>
                <a:lnTo>
                  <a:pt x="173434" y="211137"/>
                </a:lnTo>
                <a:cubicBezTo>
                  <a:pt x="202586" y="211137"/>
                  <a:pt x="226218" y="187505"/>
                  <a:pt x="226218" y="158353"/>
                </a:cubicBezTo>
                <a:cubicBezTo>
                  <a:pt x="226218" y="129201"/>
                  <a:pt x="202586" y="105569"/>
                  <a:pt x="173434" y="105569"/>
                </a:cubicBezTo>
                <a:lnTo>
                  <a:pt x="52784" y="105569"/>
                </a:lnTo>
                <a:cubicBezTo>
                  <a:pt x="23632" y="105569"/>
                  <a:pt x="0" y="81936"/>
                  <a:pt x="0" y="52784"/>
                </a:cubicBezTo>
                <a:cubicBezTo>
                  <a:pt x="0" y="23632"/>
                  <a:pt x="23632" y="0"/>
                  <a:pt x="52784" y="0"/>
                </a:cubicBezTo>
                <a:lnTo>
                  <a:pt x="1206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0162">
            <a:solidFill>
              <a:schemeClr val="accent3"/>
            </a:solidFill>
          </a:ln>
        </p:spPr>
      </p:sp>
      <p:sp>
        <p:nvSpPr>
          <p:cNvPr id="24" name="TextBox 24">
            <a:extLst xmlns:a="http://schemas.openxmlformats.org/drawingml/2006/main">
              <a:ext uri="{FF2B5EF4-FFF2-40B4-BE49-F238E27FC236}">
                <a16:creationId xmlns:a16="http://schemas.microsoft.com/office/drawing/2014/main" id="{569F7F69-4D26-4D17-87C0-12DC8841E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644608" y="907732"/>
            <a:ext cx="1151184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650">
                <a:solidFill>
                  <a:schemeClr val="dk1"/>
                </a:solidFill>
                <a:latin typeface="+mn-lt"/>
                <a:ea typeface="+mn-lt"/>
                <a:cs typeface="+mn-lt"/>
              </a:rPr>
              <a:t>Agent 规划</a:t>
            </a:r>
          </a:p>
        </p:txBody>
      </p:sp>
      <p:sp>
        <p:nvSpPr>
          <p:cNvPr id="25" name="Ellipse 25">
            <a:extLst xmlns:a="http://schemas.openxmlformats.org/drawingml/2006/main">
              <a:ext uri="{FF2B5EF4-FFF2-40B4-BE49-F238E27FC236}">
                <a16:creationId xmlns:a16="http://schemas.microsoft.com/office/drawing/2014/main" id="{9A1A97A8-0DF6-46A3-988D-5F1DF3608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991725" y="3019425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chemeClr val="accent2"/>
            </a:solidFill>
          </a:ln>
        </p:spPr>
      </p:sp>
      <p:sp>
        <p:nvSpPr>
          <p:cNvPr id="26" name="Freeform 26">
            <a:extLst xmlns:a="http://schemas.openxmlformats.org/drawingml/2006/main">
              <a:ext uri="{FF2B5EF4-FFF2-40B4-BE49-F238E27FC236}">
                <a16:creationId xmlns:a16="http://schemas.microsoft.com/office/drawing/2014/main" id="{5529B7C0-6F77-4056-8880-6A67FAAA2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169016" y="3217069"/>
            <a:ext cx="294509" cy="269139"/>
          </a:xfrm>
          <a:custGeom xmlns:a="http://schemas.openxmlformats.org/drawingml/2006/main">
            <a:rect l="l" t="t" r="r" b="b"/>
            <a:pathLst>
              <a:path w="294509" h="269139">
                <a:moveTo>
                  <a:pt x="147940" y="269139"/>
                </a:moveTo>
                <a:cubicBezTo>
                  <a:pt x="53463" y="239854"/>
                  <a:pt x="0" y="140141"/>
                  <a:pt x="27893" y="45244"/>
                </a:cubicBezTo>
                <a:cubicBezTo>
                  <a:pt x="74879" y="47394"/>
                  <a:pt x="120857" y="31166"/>
                  <a:pt x="156084" y="0"/>
                </a:cubicBezTo>
                <a:cubicBezTo>
                  <a:pt x="191311" y="31166"/>
                  <a:pt x="237288" y="47394"/>
                  <a:pt x="284274" y="45244"/>
                </a:cubicBezTo>
                <a:cubicBezTo>
                  <a:pt x="294509" y="80068"/>
                  <a:pt x="294037" y="117165"/>
                  <a:pt x="282917" y="151717"/>
                </a:cubicBezTo>
              </a:path>
            </a:pathLst>
          </a:custGeom>
          <a:noFill xmlns:a="http://schemas.openxmlformats.org/drawingml/2006/main"/>
          <a:ln xmlns:a="http://schemas.openxmlformats.org/drawingml/2006/main" w="30162">
            <a:solidFill>
              <a:srgbClr val="16A085"/>
            </a:solidFill>
          </a:ln>
        </p:spPr>
      </p:sp>
      <p:sp>
        <p:nvSpPr>
          <p:cNvPr id="27" name="Freeform 27">
            <a:extLst xmlns:a="http://schemas.openxmlformats.org/drawingml/2006/main">
              <a:ext uri="{FF2B5EF4-FFF2-40B4-BE49-F238E27FC236}">
                <a16:creationId xmlns:a16="http://schemas.microsoft.com/office/drawing/2014/main" id="{86586235-1C8E-4463-A375-5023544C7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370343" y="3428206"/>
            <a:ext cx="90487" cy="60325"/>
          </a:xfrm>
          <a:custGeom xmlns:a="http://schemas.openxmlformats.org/drawingml/2006/main">
            <a:rect l="l" t="t" r="r" b="b"/>
            <a:pathLst>
              <a:path w="90487" h="60325">
                <a:moveTo>
                  <a:pt x="0" y="30162"/>
                </a:moveTo>
                <a:lnTo>
                  <a:pt x="30162" y="60325"/>
                </a:lnTo>
                <a:lnTo>
                  <a:pt x="90487" y="0"/>
                </a:lnTo>
              </a:path>
            </a:pathLst>
          </a:custGeom>
          <a:noFill xmlns:a="http://schemas.openxmlformats.org/drawingml/2006/main"/>
          <a:ln xmlns:a="http://schemas.openxmlformats.org/drawingml/2006/main" w="30162">
            <a:solidFill>
              <a:srgbClr val="16A085"/>
            </a:solidFill>
          </a:ln>
        </p:spPr>
      </p:sp>
      <p:sp>
        <p:nvSpPr>
          <p:cNvPr id="29" name="TextBox 29">
            <a:extLst xmlns:a="http://schemas.openxmlformats.org/drawingml/2006/main">
              <a:ext uri="{FF2B5EF4-FFF2-40B4-BE49-F238E27FC236}">
                <a16:creationId xmlns:a16="http://schemas.microsoft.com/office/drawing/2014/main" id="{39F5C676-596B-496A-BEF2-674BABF2A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964418" y="3250882"/>
            <a:ext cx="905256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>
                <a:solidFill>
                  <a:schemeClr val="dk1"/>
                </a:solidFill>
                <a:latin typeface="+mn-lt"/>
                <a:ea typeface="+mn-lt"/>
                <a:cs typeface="+mn-lt"/>
              </a:rPr>
              <a:t>方案可证</a:t>
            </a:r>
          </a:p>
        </p:txBody>
      </p:sp>
      <p:sp>
        <p:nvSpPr>
          <p:cNvPr id="30" name="Ellipse 30">
            <a:extLst xmlns:a="http://schemas.openxmlformats.org/drawingml/2006/main">
              <a:ext uri="{FF2B5EF4-FFF2-40B4-BE49-F238E27FC236}">
                <a16:creationId xmlns:a16="http://schemas.microsoft.com/office/drawing/2014/main" id="{762D9335-C721-4031-AD10-CF9B18632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410450" y="4076700"/>
            <a:ext cx="8001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8575">
            <a:solidFill>
              <a:schemeClr val="accent1"/>
            </a:solidFill>
          </a:ln>
        </p:spPr>
      </p:sp>
      <p:sp>
        <p:nvSpPr>
          <p:cNvPr id="31" name="Freeform 31">
            <a:extLst xmlns:a="http://schemas.openxmlformats.org/drawingml/2006/main">
              <a:ext uri="{FF2B5EF4-FFF2-40B4-BE49-F238E27FC236}">
                <a16:creationId xmlns:a16="http://schemas.microsoft.com/office/drawing/2014/main" id="{89B536D6-0968-4E13-959C-C70461F78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737475" y="4312444"/>
            <a:ext cx="146050" cy="146050"/>
          </a:xfrm>
          <a:custGeom xmlns:a="http://schemas.openxmlformats.org/drawingml/2006/main">
            <a:rect l="l" t="t" r="r" b="b"/>
            <a:pathLst>
              <a:path w="146050" h="146050">
                <a:moveTo>
                  <a:pt x="0" y="73025"/>
                </a:moveTo>
                <a:cubicBezTo>
                  <a:pt x="0" y="113356"/>
                  <a:pt x="32694" y="146050"/>
                  <a:pt x="73025" y="146050"/>
                </a:cubicBezTo>
                <a:cubicBezTo>
                  <a:pt x="113356" y="146050"/>
                  <a:pt x="146050" y="113356"/>
                  <a:pt x="146050" y="73025"/>
                </a:cubicBezTo>
                <a:cubicBezTo>
                  <a:pt x="146050" y="32694"/>
                  <a:pt x="113356" y="0"/>
                  <a:pt x="73025" y="0"/>
                </a:cubicBezTo>
                <a:cubicBezTo>
                  <a:pt x="32694" y="0"/>
                  <a:pt x="0" y="32694"/>
                  <a:pt x="0" y="73025"/>
                </a:cubicBezTo>
              </a:path>
            </a:pathLst>
          </a:custGeom>
          <a:noFill xmlns:a="http://schemas.openxmlformats.org/drawingml/2006/main"/>
          <a:ln xmlns:a="http://schemas.openxmlformats.org/drawingml/2006/main" w="36513">
            <a:solidFill>
              <a:srgbClr val="FFFFFF"/>
            </a:solidFill>
          </a:ln>
        </p:spPr>
      </p:sp>
      <p:sp>
        <p:nvSpPr>
          <p:cNvPr id="32" name="Freeform 32">
            <a:extLst xmlns:a="http://schemas.openxmlformats.org/drawingml/2006/main">
              <a:ext uri="{FF2B5EF4-FFF2-40B4-BE49-F238E27FC236}">
                <a16:creationId xmlns:a16="http://schemas.microsoft.com/office/drawing/2014/main" id="{D1A023D5-AAE6-4127-88B7-9BC2D6A85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700963" y="4531519"/>
            <a:ext cx="146050" cy="109538"/>
          </a:xfrm>
          <a:custGeom xmlns:a="http://schemas.openxmlformats.org/drawingml/2006/main">
            <a:rect l="l" t="t" r="r" b="b"/>
            <a:pathLst>
              <a:path w="146050" h="109538">
                <a:moveTo>
                  <a:pt x="0" y="109538"/>
                </a:moveTo>
                <a:lnTo>
                  <a:pt x="0" y="73025"/>
                </a:lnTo>
                <a:cubicBezTo>
                  <a:pt x="0" y="32694"/>
                  <a:pt x="32694" y="0"/>
                  <a:pt x="73025" y="0"/>
                </a:cubicBezTo>
                <a:lnTo>
                  <a:pt x="1460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6513">
            <a:solidFill>
              <a:srgbClr val="FFFFFF"/>
            </a:solidFill>
          </a:ln>
        </p:spPr>
      </p:sp>
      <p:sp>
        <p:nvSpPr>
          <p:cNvPr id="33" name="Freeform 33">
            <a:extLst xmlns:a="http://schemas.openxmlformats.org/drawingml/2006/main">
              <a:ext uri="{FF2B5EF4-FFF2-40B4-BE49-F238E27FC236}">
                <a16:creationId xmlns:a16="http://schemas.microsoft.com/office/drawing/2014/main" id="{9BB2C926-26ED-474C-AB95-C8DCD77E3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865269" y="4568032"/>
            <a:ext cx="109538" cy="73025"/>
          </a:xfrm>
          <a:custGeom xmlns:a="http://schemas.openxmlformats.org/drawingml/2006/main">
            <a:rect l="l" t="t" r="r" b="b"/>
            <a:pathLst>
              <a:path w="109538" h="73025">
                <a:moveTo>
                  <a:pt x="0" y="36513"/>
                </a:moveTo>
                <a:lnTo>
                  <a:pt x="36513" y="73025"/>
                </a:lnTo>
                <a:lnTo>
                  <a:pt x="109538" y="0"/>
                </a:lnTo>
              </a:path>
            </a:pathLst>
          </a:custGeom>
          <a:noFill xmlns:a="http://schemas.openxmlformats.org/drawingml/2006/main"/>
          <a:ln xmlns:a="http://schemas.openxmlformats.org/drawingml/2006/main" w="36513">
            <a:solidFill>
              <a:srgbClr val="FFFFFF"/>
            </a:solidFill>
          </a:ln>
        </p:spPr>
      </p:sp>
      <p:sp>
        <p:nvSpPr>
          <p:cNvPr id="35" name="TextBox 35">
            <a:extLst xmlns:a="http://schemas.openxmlformats.org/drawingml/2006/main">
              <a:ext uri="{FF2B5EF4-FFF2-40B4-BE49-F238E27FC236}">
                <a16:creationId xmlns:a16="http://schemas.microsoft.com/office/drawing/2014/main" id="{9D01BD93-7BC0-4BCB-BBAB-08D78AD68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102431" y="4984432"/>
            <a:ext cx="1416139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650" b="1">
                <a:solidFill>
                  <a:schemeClr val="accent1"/>
                </a:solidFill>
                <a:latin typeface="+mn-lt"/>
                <a:ea typeface="+mn-lt"/>
                <a:cs typeface="+mn-lt"/>
              </a:rPr>
              <a:t>人工决策边界</a:t>
            </a:r>
          </a:p>
        </p:txBody>
      </p:sp>
      <p:sp>
        <p:nvSpPr>
          <p:cNvPr id="36" name="Freeform 36">
            <a:extLst xmlns:a="http://schemas.openxmlformats.org/drawingml/2006/main">
              <a:ext uri="{FF2B5EF4-FFF2-40B4-BE49-F238E27FC236}">
                <a16:creationId xmlns:a16="http://schemas.microsoft.com/office/drawing/2014/main" id="{03DA4009-B04F-4E32-A811-EDC87B6ED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610350" y="5162550"/>
            <a:ext cx="2400300" cy="9525"/>
          </a:xfrm>
          <a:custGeom xmlns:a="http://schemas.openxmlformats.org/drawingml/2006/main">
            <a:rect l="l" t="t" r="r" b="b"/>
            <a:pathLst>
              <a:path w="2400300" h="9525">
                <a:moveTo>
                  <a:pt x="0" y="0"/>
                </a:moveTo>
                <a:lnTo>
                  <a:pt x="2400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chemeClr val="accent6"/>
            </a:solidFill>
          </a:ln>
        </p:spPr>
      </p:sp>
      <p:sp>
        <p:nvSpPr>
          <p:cNvPr id="37" name="TextBox 37">
            <a:extLst xmlns:a="http://schemas.openxmlformats.org/drawingml/2006/main">
              <a:ext uri="{FF2B5EF4-FFF2-40B4-BE49-F238E27FC236}">
                <a16:creationId xmlns:a16="http://schemas.microsoft.com/office/drawing/2014/main" id="{1B86FADC-56EE-42B9-9ADC-5F1355276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742252" y="5375910"/>
            <a:ext cx="2136496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>
                <a:solidFill>
                  <a:srgbClr val="E5484D"/>
                </a:solidFill>
                <a:latin typeface="+mn-lt"/>
                <a:ea typeface="+mn-lt"/>
                <a:cs typeface="+mn-lt"/>
              </a:rPr>
              <a:t>不控制设备 · 不替代现场人员</a:t>
            </a:r>
          </a:p>
        </p:txBody>
      </p:sp>
      <p:sp>
        <p:nvSpPr>
          <p:cNvPr id="39" name="TextBox 39">
            <a:extLst xmlns:a="http://schemas.openxmlformats.org/drawingml/2006/main">
              <a:ext uri="{FF2B5EF4-FFF2-40B4-BE49-F238E27FC236}">
                <a16:creationId xmlns:a16="http://schemas.microsoft.com/office/drawing/2014/main" id="{0F0EE97E-9C34-4E77-AAB5-E88E9FDA9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3504" y="6309360"/>
            <a:ext cx="3747059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>
                <a:solidFill>
                  <a:srgbClr val="5B7388"/>
                </a:solidFill>
                <a:latin typeface="+mn-lt"/>
                <a:ea typeface="+mn-lt"/>
                <a:cs typeface="+mn-lt"/>
              </a:rPr>
              <a:t>GOAI 2026 · 可运行 PoC · 公开数据 · 可复现证据</a:t>
            </a:r>
          </a:p>
        </p:txBody>
      </p:sp>
      <p:sp>
        <p:nvSpPr>
          <p:cNvPr id="40" name="TextBox 40">
            <a:extLst xmlns:a="http://schemas.openxmlformats.org/drawingml/2006/main">
              <a:ext uri="{FF2B5EF4-FFF2-40B4-BE49-F238E27FC236}">
                <a16:creationId xmlns:a16="http://schemas.microsoft.com/office/drawing/2014/main" id="{4609F553-E718-41B2-B478-2AD335881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398606" y="6309360"/>
            <a:ext cx="189890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200">
                <a:solidFill>
                  <a:srgbClr val="7E9AAA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79691626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2">
            <a:extLst xmlns:a="http://schemas.openxmlformats.org/drawingml/2006/main">
              <a:ext uri="{FF2B5EF4-FFF2-40B4-BE49-F238E27FC236}">
                <a16:creationId xmlns:a16="http://schemas.microsoft.com/office/drawing/2014/main" id="{EDD50550-9E95-4872-B74E-A8B4F40B4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91312" y="411480"/>
            <a:ext cx="10112075" cy="704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600" b="1">
                <a:solidFill>
                  <a:schemeClr val="accent1"/>
                </a:solidFill>
                <a:latin typeface="+mn-lt"/>
                <a:ea typeface="+mn-lt"/>
                <a:cs typeface="+mn-lt"/>
              </a:rPr>
              <a:t>一封“晚 48 小时”的邮件，三张订单同时失约</a:t>
            </a:r>
          </a:p>
        </p:txBody>
      </p:sp>
      <p:sp>
        <p:nvSpPr>
          <p:cNvPr id="3" name="TextBox 3">
            <a:extLst xmlns:a="http://schemas.openxmlformats.org/drawingml/2006/main">
              <a:ext uri="{FF2B5EF4-FFF2-40B4-BE49-F238E27FC236}">
                <a16:creationId xmlns:a16="http://schemas.microsoft.com/office/drawing/2014/main" id="{5F39ADEB-C2D8-4593-B4C2-E26BD558F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1218" y="1002982"/>
            <a:ext cx="6670396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>
                <a:solidFill>
                  <a:srgbClr val="5B7388"/>
                </a:solidFill>
                <a:latin typeface="+mn-lt"/>
                <a:ea typeface="+mn-lt"/>
                <a:cs typeface="+mn-lt"/>
              </a:rPr>
              <a:t>异常不会停在收件箱里，它会沿着 BOM、供应和排产关系扩散。</a:t>
            </a:r>
          </a:p>
        </p:txBody>
      </p:sp>
      <p:sp>
        <p:nvSpPr>
          <p:cNvPr id="4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9747A59-320A-4E3E-8EDE-D95A57844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600" y="1619250"/>
            <a:ext cx="4095750" cy="4095750"/>
          </a:xfrm>
          <a:prstGeom xmlns:a="http://schemas.openxmlformats.org/drawingml/2006/main" prst="roundRect">
            <a:avLst>
              <a:gd name="adj" fmla="val 41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chemeClr val="accent5"/>
            </a:solidFill>
          </a:ln>
        </p:spPr>
      </p:sp>
      <p:sp>
        <p:nvSpPr>
          <p:cNvPr id="5" name="Rectangle 5">
            <a:extLst xmlns:a="http://schemas.openxmlformats.org/drawingml/2006/main">
              <a:ext uri="{FF2B5EF4-FFF2-40B4-BE49-F238E27FC236}">
                <a16:creationId xmlns:a16="http://schemas.microsoft.com/office/drawing/2014/main" id="{293D39A0-B995-4EAF-A5A1-6AAB594E2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600" y="1619250"/>
            <a:ext cx="4095750" cy="590550"/>
          </a:xfrm>
          <a:prstGeom xmlns:a="http://schemas.openxmlformats.org/drawingml/2006/main" prst="roundRect">
            <a:avLst>
              <a:gd name="adj" fmla="val 29032"/>
            </a:avLst>
          </a:prstGeom>
          <a:solidFill xmlns:a="http://schemas.openxmlformats.org/drawingml/2006/main">
            <a:schemeClr val="lt2"/>
          </a:solidFill>
          <a:ln xmlns:a="http://schemas.openxmlformats.org/drawingml/2006/main">
            <a:noFill/>
          </a:ln>
        </p:spPr>
      </p:sp>
      <p:sp>
        <p:nvSpPr>
          <p:cNvPr id="6" name="Rectangle 6">
            <a:extLst xmlns:a="http://schemas.openxmlformats.org/drawingml/2006/main">
              <a:ext uri="{FF2B5EF4-FFF2-40B4-BE49-F238E27FC236}">
                <a16:creationId xmlns:a16="http://schemas.microsoft.com/office/drawing/2014/main" id="{318DD43F-8285-41AA-88FD-A8E6858E5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600" y="203835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2"/>
          </a:solidFill>
          <a:ln xmlns:a="http://schemas.openxmlformats.org/drawingml/2006/main">
            <a:noFill/>
          </a:ln>
        </p:spPr>
      </p:sp>
      <p:sp>
        <p:nvSpPr>
          <p:cNvPr id="7" name="Freeform 7">
            <a:extLst xmlns:a="http://schemas.openxmlformats.org/drawingml/2006/main">
              <a:ext uri="{FF2B5EF4-FFF2-40B4-BE49-F238E27FC236}">
                <a16:creationId xmlns:a16="http://schemas.microsoft.com/office/drawing/2014/main" id="{D77BA5DC-6F83-41F5-963E-D39F08893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78681" y="1820069"/>
            <a:ext cx="242888" cy="188913"/>
          </a:xfrm>
          <a:custGeom xmlns:a="http://schemas.openxmlformats.org/drawingml/2006/main">
            <a:rect l="l" t="t" r="r" b="b"/>
            <a:pathLst>
              <a:path w="242888" h="188913">
                <a:moveTo>
                  <a:pt x="0" y="26988"/>
                </a:moveTo>
                <a:cubicBezTo>
                  <a:pt x="0" y="12083"/>
                  <a:pt x="12083" y="0"/>
                  <a:pt x="26988" y="0"/>
                </a:cubicBezTo>
                <a:lnTo>
                  <a:pt x="215901" y="0"/>
                </a:lnTo>
                <a:cubicBezTo>
                  <a:pt x="230805" y="0"/>
                  <a:pt x="242888" y="12083"/>
                  <a:pt x="242888" y="26988"/>
                </a:cubicBezTo>
                <a:lnTo>
                  <a:pt x="242888" y="161925"/>
                </a:lnTo>
                <a:cubicBezTo>
                  <a:pt x="242888" y="176830"/>
                  <a:pt x="230805" y="188913"/>
                  <a:pt x="215901" y="188913"/>
                </a:cubicBezTo>
                <a:lnTo>
                  <a:pt x="26988" y="188913"/>
                </a:lnTo>
                <a:cubicBezTo>
                  <a:pt x="12083" y="188913"/>
                  <a:pt x="0" y="176830"/>
                  <a:pt x="0" y="161925"/>
                </a:cubicBezTo>
                <a:lnTo>
                  <a:pt x="0" y="26988"/>
                </a:lnTo>
              </a:path>
            </a:pathLst>
          </a:custGeom>
          <a:noFill xmlns:a="http://schemas.openxmlformats.org/drawingml/2006/main"/>
          <a:ln xmlns:a="http://schemas.openxmlformats.org/drawingml/2006/main" w="26988">
            <a:solidFill>
              <a:schemeClr val="accent1"/>
            </a:solidFill>
          </a:ln>
        </p:spPr>
      </p:sp>
      <p:sp>
        <p:nvSpPr>
          <p:cNvPr id="8" name="Freeform 8">
            <a:extLst xmlns:a="http://schemas.openxmlformats.org/drawingml/2006/main">
              <a:ext uri="{FF2B5EF4-FFF2-40B4-BE49-F238E27FC236}">
                <a16:creationId xmlns:a16="http://schemas.microsoft.com/office/drawing/2014/main" id="{264C115B-F6DC-4B8D-9A4F-1AC97F4B0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78681" y="1847056"/>
            <a:ext cx="242888" cy="80963"/>
          </a:xfrm>
          <a:custGeom xmlns:a="http://schemas.openxmlformats.org/drawingml/2006/main">
            <a:rect l="l" t="t" r="r" b="b"/>
            <a:pathLst>
              <a:path w="242888" h="80963">
                <a:moveTo>
                  <a:pt x="0" y="0"/>
                </a:moveTo>
                <a:lnTo>
                  <a:pt x="121444" y="80963"/>
                </a:lnTo>
                <a:lnTo>
                  <a:pt x="24288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988">
            <a:solidFill>
              <a:schemeClr val="accent1"/>
            </a:solidFill>
          </a:ln>
        </p:spPr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8C23702C-2038-4923-ABEB-D3EB4AFFB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306068" y="1822132"/>
            <a:ext cx="1882597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1">
                <a:solidFill>
                  <a:schemeClr val="accent1"/>
                </a:solidFill>
                <a:latin typeface="+mn-lt"/>
                <a:ea typeface="+mn-lt"/>
                <a:cs typeface="+mn-lt"/>
              </a:rPr>
              <a:t>供应异常演练邮件</a:t>
            </a:r>
          </a:p>
        </p:txBody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23F567EC-7E75-49DA-BEF4-2334419BF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67918" y="2441258"/>
            <a:ext cx="822873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>
                <a:solidFill>
                  <a:srgbClr val="5B7388"/>
                </a:solidFill>
                <a:latin typeface="+mn-lt"/>
                <a:ea typeface="+mn-lt"/>
                <a:cs typeface="+mn-lt"/>
              </a:rPr>
              <a:t>Subject</a:t>
            </a:r>
          </a:p>
        </p:txBody>
      </p:sp>
      <p:sp>
        <p:nvSpPr>
          <p:cNvPr id="12" name="TextBox 12">
            <a:extLst xmlns:a="http://schemas.openxmlformats.org/drawingml/2006/main">
              <a:ext uri="{FF2B5EF4-FFF2-40B4-BE49-F238E27FC236}">
                <a16:creationId xmlns:a16="http://schemas.microsoft.com/office/drawing/2014/main" id="{358CF215-C473-4125-B37D-43E3274A5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64870" y="2738438"/>
            <a:ext cx="2761602" cy="4400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chemeClr val="dk1"/>
                </a:solidFill>
                <a:latin typeface="+mn-lt"/>
                <a:ea typeface="+mn-lt"/>
                <a:cs typeface="+mn-lt"/>
              </a:rPr>
              <a:t>Q2J 座椅供应中断</a:t>
            </a:r>
          </a:p>
        </p:txBody>
      </p:sp>
      <p:sp>
        <p:nvSpPr>
          <p:cNvPr id="13" name="Line 13">
            <a:extLst xmlns:a="http://schemas.openxmlformats.org/drawingml/2006/main">
              <a:ext uri="{FF2B5EF4-FFF2-40B4-BE49-F238E27FC236}">
                <a16:creationId xmlns:a16="http://schemas.microsoft.com/office/drawing/2014/main" id="{934C1022-44F8-498A-A34F-F2CF408F2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76300" y="3219450"/>
            <a:ext cx="3562350" cy="9525"/>
          </a:xfrm>
          <a:custGeom xmlns:a="http://schemas.openxmlformats.org/drawingml/2006/main">
            <a:rect l="l" t="t" r="r" b="b"/>
            <a:pathLst>
              <a:path w="3562350" h="9525">
                <a:moveTo>
                  <a:pt x="0" y="0"/>
                </a:moveTo>
                <a:lnTo>
                  <a:pt x="35623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chemeClr val="accent5"/>
            </a:solidFill>
          </a:ln>
        </p:spPr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4C84E0DD-0695-4017-8C15-F1CAA3BB4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64870" y="3395662"/>
            <a:ext cx="658940" cy="4400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chemeClr val="dk1"/>
                </a:solidFill>
                <a:latin typeface="+mn-lt"/>
                <a:ea typeface="+mn-lt"/>
                <a:cs typeface="+mn-lt"/>
              </a:rPr>
              <a:t>未来</a:t>
            </a:r>
          </a:p>
        </p:txBody>
      </p:sp>
      <p:sp>
        <p:nvSpPr>
          <p:cNvPr id="15" name="TextBox 15">
            <a:extLst xmlns:a="http://schemas.openxmlformats.org/drawingml/2006/main">
              <a:ext uri="{FF2B5EF4-FFF2-40B4-BE49-F238E27FC236}">
                <a16:creationId xmlns:a16="http://schemas.microsoft.com/office/drawing/2014/main" id="{5DA551C5-5602-4017-AA1D-5921CF96A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76400" y="3274695"/>
            <a:ext cx="1297537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5400" b="1">
                <a:solidFill>
                  <a:schemeClr val="accent6"/>
                </a:solidFill>
                <a:latin typeface="Consolas"/>
                <a:ea typeface="Consolas"/>
                <a:cs typeface="Consolas"/>
              </a:rPr>
              <a:t>48h</a:t>
            </a:r>
          </a:p>
        </p:txBody>
      </p:sp>
      <p:sp>
        <p:nvSpPr>
          <p:cNvPr id="16" name="TextBox 16">
            <a:extLst xmlns:a="http://schemas.openxmlformats.org/drawingml/2006/main">
              <a:ext uri="{FF2B5EF4-FFF2-40B4-BE49-F238E27FC236}">
                <a16:creationId xmlns:a16="http://schemas.microsoft.com/office/drawing/2014/main" id="{6082EACE-726B-4279-A044-199D24099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64870" y="4119562"/>
            <a:ext cx="1931098" cy="4400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chemeClr val="dk1"/>
                </a:solidFill>
                <a:latin typeface="+mn-lt"/>
                <a:ea typeface="+mn-lt"/>
                <a:cs typeface="+mn-lt"/>
              </a:rPr>
              <a:t>无法正常发运</a:t>
            </a:r>
          </a:p>
        </p:txBody>
      </p:sp>
      <p:sp>
        <p:nvSpPr>
          <p:cNvPr id="17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8CF588F3-A429-4F71-A029-73CA95862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76300" y="4762500"/>
            <a:ext cx="31432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6E8"/>
          </a:solidFill>
          <a:ln xmlns:a="http://schemas.openxmlformats.org/drawingml/2006/main">
            <a:noFill/>
          </a:ln>
        </p:spPr>
      </p:sp>
      <p:sp>
        <p:nvSpPr>
          <p:cNvPr id="18" name="TextBox 18">
            <a:extLst xmlns:a="http://schemas.openxmlformats.org/drawingml/2006/main">
              <a:ext uri="{FF2B5EF4-FFF2-40B4-BE49-F238E27FC236}">
                <a16:creationId xmlns:a16="http://schemas.microsoft.com/office/drawing/2014/main" id="{5A5E90E6-2963-4986-85C2-1477A2BAB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0318" y="4898708"/>
            <a:ext cx="2937681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>
                <a:solidFill>
                  <a:srgbClr val="9B5B00"/>
                </a:solidFill>
                <a:latin typeface="+mn-lt"/>
                <a:ea typeface="+mn-lt"/>
                <a:cs typeface="+mn-lt"/>
              </a:rPr>
              <a:t>模拟演练 · 不代表真实供应商</a:t>
            </a:r>
          </a:p>
        </p:txBody>
      </p:sp>
      <p:sp>
        <p:nvSpPr>
          <p:cNvPr id="20" name="Ellipse 20">
            <a:extLst xmlns:a="http://schemas.openxmlformats.org/drawingml/2006/main">
              <a:ext uri="{FF2B5EF4-FFF2-40B4-BE49-F238E27FC236}">
                <a16:creationId xmlns:a16="http://schemas.microsoft.com/office/drawing/2014/main" id="{AB7D8D24-E0D0-4D6A-8CB5-F41F1B257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734050" y="2914650"/>
            <a:ext cx="1295400" cy="1295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chemeClr val="accent2"/>
            </a:solidFill>
          </a:ln>
        </p:spPr>
      </p:sp>
      <p:sp>
        <p:nvSpPr>
          <p:cNvPr id="21" name="Freeform 21">
            <a:extLst xmlns:a="http://schemas.openxmlformats.org/drawingml/2006/main">
              <a:ext uri="{FF2B5EF4-FFF2-40B4-BE49-F238E27FC236}">
                <a16:creationId xmlns:a16="http://schemas.microsoft.com/office/drawing/2014/main" id="{1992F320-F75A-4712-8413-27B15C2CB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381750" y="3362325"/>
            <a:ext cx="9525" cy="88900"/>
          </a:xfrm>
          <a:custGeom xmlns:a="http://schemas.openxmlformats.org/drawingml/2006/main">
            <a:rect l="l" t="t" r="r" b="b"/>
            <a:pathLst>
              <a:path w="9525" h="88900">
                <a:moveTo>
                  <a:pt x="0" y="0"/>
                </a:moveTo>
                <a:lnTo>
                  <a:pt x="0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44450">
            <a:solidFill>
              <a:schemeClr val="accent6"/>
            </a:solidFill>
          </a:ln>
        </p:spPr>
      </p:sp>
      <p:sp>
        <p:nvSpPr>
          <p:cNvPr id="22" name="Freeform 22">
            <a:extLst xmlns:a="http://schemas.openxmlformats.org/drawingml/2006/main">
              <a:ext uri="{FF2B5EF4-FFF2-40B4-BE49-F238E27FC236}">
                <a16:creationId xmlns:a16="http://schemas.microsoft.com/office/drawing/2014/main" id="{16638EAF-4037-4106-977C-F5A1DAE18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57608" y="3221591"/>
            <a:ext cx="448265" cy="385119"/>
          </a:xfrm>
          <a:custGeom xmlns:a="http://schemas.openxmlformats.org/drawingml/2006/main">
            <a:rect l="l" t="t" r="r" b="b"/>
            <a:pathLst>
              <a:path w="448265" h="385119">
                <a:moveTo>
                  <a:pt x="187759" y="20519"/>
                </a:moveTo>
                <a:lnTo>
                  <a:pt x="7603" y="321311"/>
                </a:lnTo>
                <a:cubicBezTo>
                  <a:pt x="46" y="334399"/>
                  <a:pt x="0" y="350513"/>
                  <a:pt x="7482" y="363644"/>
                </a:cubicBezTo>
                <a:cubicBezTo>
                  <a:pt x="14965" y="376774"/>
                  <a:pt x="28852" y="384949"/>
                  <a:pt x="43964" y="385119"/>
                </a:cubicBezTo>
                <a:lnTo>
                  <a:pt x="404319" y="385119"/>
                </a:lnTo>
                <a:cubicBezTo>
                  <a:pt x="419424" y="384945"/>
                  <a:pt x="433304" y="376773"/>
                  <a:pt x="440785" y="363650"/>
                </a:cubicBezTo>
                <a:cubicBezTo>
                  <a:pt x="448265" y="350526"/>
                  <a:pt x="448225" y="334420"/>
                  <a:pt x="440679" y="321333"/>
                </a:cubicBezTo>
                <a:lnTo>
                  <a:pt x="260524" y="20496"/>
                </a:lnTo>
                <a:cubicBezTo>
                  <a:pt x="252815" y="7772"/>
                  <a:pt x="239019" y="0"/>
                  <a:pt x="224141" y="0"/>
                </a:cubicBezTo>
                <a:cubicBezTo>
                  <a:pt x="209264" y="0"/>
                  <a:pt x="195468" y="7772"/>
                  <a:pt x="187759" y="20496"/>
                </a:cubicBezTo>
              </a:path>
            </a:pathLst>
          </a:custGeom>
          <a:noFill xmlns:a="http://schemas.openxmlformats.org/drawingml/2006/main"/>
          <a:ln xmlns:a="http://schemas.openxmlformats.org/drawingml/2006/main" w="44450">
            <a:solidFill>
              <a:schemeClr val="accent6"/>
            </a:solidFill>
          </a:ln>
        </p:spPr>
      </p:sp>
      <p:sp>
        <p:nvSpPr>
          <p:cNvPr id="23" name="Freeform 23">
            <a:extLst xmlns:a="http://schemas.openxmlformats.org/drawingml/2006/main">
              <a:ext uri="{FF2B5EF4-FFF2-40B4-BE49-F238E27FC236}">
                <a16:creationId xmlns:a16="http://schemas.microsoft.com/office/drawing/2014/main" id="{E115D04D-1C7E-40AB-9167-3AFB3FD01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381750" y="3517899"/>
            <a:ext cx="9525" cy="9525"/>
          </a:xfrm>
          <a:custGeom xmlns:a="http://schemas.openxmlformats.org/drawingml/2006/main">
            <a:rect l="l" t="t" r="r" b="b"/>
            <a:pathLst>
              <a:path w="9525" h="9525">
                <a:moveTo>
                  <a:pt x="0" y="0"/>
                </a:moveTo>
                <a:lnTo>
                  <a:pt x="222" y="0"/>
                </a:lnTo>
              </a:path>
            </a:pathLst>
          </a:custGeom>
          <a:noFill xmlns:a="http://schemas.openxmlformats.org/drawingml/2006/main"/>
          <a:ln xmlns:a="http://schemas.openxmlformats.org/drawingml/2006/main" w="44450">
            <a:solidFill>
              <a:schemeClr val="accent6"/>
            </a:solidFill>
          </a:ln>
        </p:spPr>
      </p:sp>
      <p:sp>
        <p:nvSpPr>
          <p:cNvPr id="25" name="TextBox 25">
            <a:extLst xmlns:a="http://schemas.openxmlformats.org/drawingml/2006/main">
              <a:ext uri="{FF2B5EF4-FFF2-40B4-BE49-F238E27FC236}">
                <a16:creationId xmlns:a16="http://schemas.microsoft.com/office/drawing/2014/main" id="{AF58FC14-39B8-4185-8EE8-924AB8722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23935" y="3806190"/>
            <a:ext cx="515630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800" b="1">
                <a:solidFill>
                  <a:schemeClr val="accent1"/>
                </a:solidFill>
                <a:latin typeface="+mn-lt"/>
                <a:ea typeface="+mn-lt"/>
                <a:cs typeface="+mn-lt"/>
              </a:rPr>
              <a:t>Q2J</a:t>
            </a:r>
          </a:p>
        </p:txBody>
      </p:sp>
      <p:sp>
        <p:nvSpPr>
          <p:cNvPr id="26" name="Freeform 26">
            <a:extLst xmlns:a="http://schemas.openxmlformats.org/drawingml/2006/main">
              <a:ext uri="{FF2B5EF4-FFF2-40B4-BE49-F238E27FC236}">
                <a16:creationId xmlns:a16="http://schemas.microsoft.com/office/drawing/2014/main" id="{9747EA40-8F8B-4C9E-AEBC-16C595B11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029450" y="2333625"/>
            <a:ext cx="1143000" cy="1228725"/>
          </a:xfrm>
          <a:custGeom xmlns:a="http://schemas.openxmlformats.org/drawingml/2006/main">
            <a:rect l="l" t="t" r="r" b="b"/>
            <a:pathLst>
              <a:path w="1143000" h="1228725">
                <a:moveTo>
                  <a:pt x="0" y="1228725"/>
                </a:moveTo>
                <a:lnTo>
                  <a:pt x="495300" y="1228725"/>
                </a:lnTo>
                <a:lnTo>
                  <a:pt x="495300" y="0"/>
                </a:lnTo>
                <a:lnTo>
                  <a:pt x="1143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chemeClr val="accent2"/>
            </a:solidFill>
          </a:ln>
        </p:spPr>
      </p:sp>
      <p:sp>
        <p:nvSpPr>
          <p:cNvPr id="27" name="Freeform 27">
            <a:extLst xmlns:a="http://schemas.openxmlformats.org/drawingml/2006/main">
              <a:ext uri="{FF2B5EF4-FFF2-40B4-BE49-F238E27FC236}">
                <a16:creationId xmlns:a16="http://schemas.microsoft.com/office/drawing/2014/main" id="{75ECAF60-7C6A-4307-9F4A-3DE4343D3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029450" y="3562350"/>
            <a:ext cx="1143000" cy="9525"/>
          </a:xfrm>
          <a:custGeom xmlns:a="http://schemas.openxmlformats.org/drawingml/2006/main"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chemeClr val="accent2"/>
            </a:solidFill>
          </a:ln>
        </p:spPr>
      </p:sp>
      <p:sp>
        <p:nvSpPr>
          <p:cNvPr id="28" name="Freeform 28">
            <a:extLst xmlns:a="http://schemas.openxmlformats.org/drawingml/2006/main">
              <a:ext uri="{FF2B5EF4-FFF2-40B4-BE49-F238E27FC236}">
                <a16:creationId xmlns:a16="http://schemas.microsoft.com/office/drawing/2014/main" id="{B00C3E71-0B24-41C0-813B-820564337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029450" y="3562350"/>
            <a:ext cx="1143000" cy="1228725"/>
          </a:xfrm>
          <a:custGeom xmlns:a="http://schemas.openxmlformats.org/drawingml/2006/main">
            <a:rect l="l" t="t" r="r" b="b"/>
            <a:pathLst>
              <a:path w="1143000" h="1228725">
                <a:moveTo>
                  <a:pt x="0" y="0"/>
                </a:moveTo>
                <a:lnTo>
                  <a:pt x="495300" y="0"/>
                </a:lnTo>
                <a:lnTo>
                  <a:pt x="495300" y="1228725"/>
                </a:lnTo>
                <a:lnTo>
                  <a:pt x="1143000" y="1228725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chemeClr val="accent2"/>
            </a:solidFill>
          </a:ln>
        </p:spPr>
      </p:sp>
      <p:sp>
        <p:nvSpPr>
          <p:cNvPr id="29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A63881F6-CBFE-49F2-975B-E83460F57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172450" y="1885950"/>
            <a:ext cx="2724150" cy="914400"/>
          </a:xfrm>
          <a:prstGeom xmlns:a="http://schemas.openxmlformats.org/drawingml/2006/main" prst="roundRect">
            <a:avLst>
              <a:gd name="adj" fmla="val 1458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chemeClr val="accent5"/>
            </a:solidFill>
          </a:ln>
        </p:spPr>
      </p:sp>
      <p:sp>
        <p:nvSpPr>
          <p:cNvPr id="30" name="TextBox 30">
            <a:extLst xmlns:a="http://schemas.openxmlformats.org/drawingml/2006/main">
              <a:ext uri="{FF2B5EF4-FFF2-40B4-BE49-F238E27FC236}">
                <a16:creationId xmlns:a16="http://schemas.microsoft.com/office/drawing/2014/main" id="{617DE1AF-395A-40FE-A531-9B27893B9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411718" y="2041208"/>
            <a:ext cx="1216228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>
                <a:solidFill>
                  <a:srgbClr val="5B7388"/>
                </a:solidFill>
                <a:latin typeface="+mn-lt"/>
                <a:ea typeface="+mn-lt"/>
                <a:cs typeface="+mn-lt"/>
              </a:rPr>
              <a:t>订单配置 01</a:t>
            </a:r>
          </a:p>
        </p:txBody>
      </p:sp>
      <p:sp>
        <p:nvSpPr>
          <p:cNvPr id="31" name="TextBox 31">
            <a:extLst xmlns:a="http://schemas.openxmlformats.org/drawingml/2006/main">
              <a:ext uri="{FF2B5EF4-FFF2-40B4-BE49-F238E27FC236}">
                <a16:creationId xmlns:a16="http://schemas.microsoft.com/office/drawing/2014/main" id="{F6F92759-2ECD-4B8B-AF77-545EFA146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406384" y="2318385"/>
            <a:ext cx="943386" cy="52806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chemeClr val="accent1"/>
                </a:solidFill>
                <a:latin typeface="Consolas"/>
                <a:ea typeface="Consolas"/>
                <a:cs typeface="Consolas"/>
              </a:rPr>
              <a:t>91 台</a:t>
            </a:r>
          </a:p>
        </p:txBody>
      </p:sp>
      <p:sp>
        <p:nvSpPr>
          <p:cNvPr id="33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64345540-2FD8-4840-9DBF-F6EFB167F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172450" y="3105150"/>
            <a:ext cx="2724150" cy="914400"/>
          </a:xfrm>
          <a:prstGeom xmlns:a="http://schemas.openxmlformats.org/drawingml/2006/main" prst="roundRect">
            <a:avLst>
              <a:gd name="adj" fmla="val 1458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chemeClr val="accent5"/>
            </a:solidFill>
          </a:ln>
        </p:spPr>
      </p:sp>
      <p:sp>
        <p:nvSpPr>
          <p:cNvPr id="34" name="TextBox 34">
            <a:extLst xmlns:a="http://schemas.openxmlformats.org/drawingml/2006/main">
              <a:ext uri="{FF2B5EF4-FFF2-40B4-BE49-F238E27FC236}">
                <a16:creationId xmlns:a16="http://schemas.microsoft.com/office/drawing/2014/main" id="{8CCEAA4A-CDC1-4BC5-B400-17011E4E7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411718" y="3260408"/>
            <a:ext cx="1216228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>
                <a:solidFill>
                  <a:srgbClr val="5B7388"/>
                </a:solidFill>
                <a:latin typeface="+mn-lt"/>
                <a:ea typeface="+mn-lt"/>
                <a:cs typeface="+mn-lt"/>
              </a:rPr>
              <a:t>订单配置 02</a:t>
            </a:r>
          </a:p>
        </p:txBody>
      </p:sp>
      <p:sp>
        <p:nvSpPr>
          <p:cNvPr id="35" name="TextBox 35">
            <a:extLst xmlns:a="http://schemas.openxmlformats.org/drawingml/2006/main">
              <a:ext uri="{FF2B5EF4-FFF2-40B4-BE49-F238E27FC236}">
                <a16:creationId xmlns:a16="http://schemas.microsoft.com/office/drawing/2014/main" id="{34D54151-B191-4C63-B6F2-845E6CCE3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406384" y="3537585"/>
            <a:ext cx="943386" cy="52806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chemeClr val="accent1"/>
                </a:solidFill>
                <a:latin typeface="Consolas"/>
                <a:ea typeface="Consolas"/>
                <a:cs typeface="Consolas"/>
              </a:rPr>
              <a:t>81 台</a:t>
            </a:r>
          </a:p>
        </p:txBody>
      </p:sp>
      <p:sp>
        <p:nvSpPr>
          <p:cNvPr id="37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A3E4E35D-CDBF-49CD-9CCE-626BCB2D6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172450" y="4324350"/>
            <a:ext cx="2724150" cy="914400"/>
          </a:xfrm>
          <a:prstGeom xmlns:a="http://schemas.openxmlformats.org/drawingml/2006/main" prst="roundRect">
            <a:avLst>
              <a:gd name="adj" fmla="val 1458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chemeClr val="accent5"/>
            </a:solidFill>
          </a:ln>
        </p:spPr>
      </p:sp>
      <p:sp>
        <p:nvSpPr>
          <p:cNvPr id="38" name="TextBox 38">
            <a:extLst xmlns:a="http://schemas.openxmlformats.org/drawingml/2006/main">
              <a:ext uri="{FF2B5EF4-FFF2-40B4-BE49-F238E27FC236}">
                <a16:creationId xmlns:a16="http://schemas.microsoft.com/office/drawing/2014/main" id="{AC2A548F-E09F-4F8E-B891-D32729A39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411718" y="4479608"/>
            <a:ext cx="1216228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>
                <a:solidFill>
                  <a:srgbClr val="5B7388"/>
                </a:solidFill>
                <a:latin typeface="+mn-lt"/>
                <a:ea typeface="+mn-lt"/>
                <a:cs typeface="+mn-lt"/>
              </a:rPr>
              <a:t>订单配置 03</a:t>
            </a:r>
          </a:p>
        </p:txBody>
      </p:sp>
      <p:sp>
        <p:nvSpPr>
          <p:cNvPr id="39" name="TextBox 39">
            <a:extLst xmlns:a="http://schemas.openxmlformats.org/drawingml/2006/main">
              <a:ext uri="{FF2B5EF4-FFF2-40B4-BE49-F238E27FC236}">
                <a16:creationId xmlns:a16="http://schemas.microsoft.com/office/drawing/2014/main" id="{92F9594F-7069-4311-A0E9-4DF0FB1B3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406384" y="4756785"/>
            <a:ext cx="943386" cy="52806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chemeClr val="accent1"/>
                </a:solidFill>
                <a:latin typeface="Consolas"/>
                <a:ea typeface="Consolas"/>
                <a:cs typeface="Consolas"/>
              </a:rPr>
              <a:t>45 台</a:t>
            </a:r>
          </a:p>
        </p:txBody>
      </p:sp>
      <p:sp>
        <p:nvSpPr>
          <p:cNvPr id="41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2AAC7FE6-25A3-4A4E-BAE7-798415411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086600" y="5524500"/>
            <a:ext cx="3810000" cy="609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</p:sp>
      <p:sp>
        <p:nvSpPr>
          <p:cNvPr id="42" name="TextBox 42">
            <a:extLst xmlns:a="http://schemas.openxmlformats.org/drawingml/2006/main">
              <a:ext uri="{FF2B5EF4-FFF2-40B4-BE49-F238E27FC236}">
                <a16:creationId xmlns:a16="http://schemas.microsoft.com/office/drawing/2014/main" id="{0744009C-AD59-4B8C-BC25-BD1F3B062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827276" y="5681662"/>
            <a:ext cx="2328648" cy="4400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250" b="1">
                <a:solidFill>
                  <a:srgbClr val="FFFFFF"/>
                </a:solidFill>
                <a:latin typeface="+mn-lt"/>
                <a:ea typeface="+mn-lt"/>
                <a:cs typeface="+mn-lt"/>
              </a:rPr>
              <a:t>合计影响 217 台</a:t>
            </a:r>
          </a:p>
        </p:txBody>
      </p:sp>
      <p:sp>
        <p:nvSpPr>
          <p:cNvPr id="44" name="TextBox 44">
            <a:extLst xmlns:a="http://schemas.openxmlformats.org/drawingml/2006/main">
              <a:ext uri="{FF2B5EF4-FFF2-40B4-BE49-F238E27FC236}">
                <a16:creationId xmlns:a16="http://schemas.microsoft.com/office/drawing/2014/main" id="{C05D2D47-EFB0-4B41-A9A4-EC69087BC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3504" y="6271260"/>
            <a:ext cx="6538570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>
                <a:solidFill>
                  <a:srgbClr val="5B7388"/>
                </a:solidFill>
                <a:latin typeface="+mn-lt"/>
                <a:ea typeface="+mn-lt"/>
                <a:cs typeface="+mn-lt"/>
              </a:rPr>
              <a:t>数据类别：91 / 81 / 45 / 217 来自公开数据派生案例；邮件和 48 小时事故为确定性模拟。</a:t>
            </a:r>
          </a:p>
        </p:txBody>
      </p:sp>
      <p:sp>
        <p:nvSpPr>
          <p:cNvPr id="45" name="TextBox 45">
            <a:extLst xmlns:a="http://schemas.openxmlformats.org/drawingml/2006/main">
              <a:ext uri="{FF2B5EF4-FFF2-40B4-BE49-F238E27FC236}">
                <a16:creationId xmlns:a16="http://schemas.microsoft.com/office/drawing/2014/main" id="{1E749B5F-EF9D-46D0-B316-2C7328EB6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398606" y="6271260"/>
            <a:ext cx="189890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200">
                <a:solidFill>
                  <a:srgbClr val="7E9AAA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42457799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2">
            <a:extLst xmlns:a="http://schemas.openxmlformats.org/drawingml/2006/main">
              <a:ext uri="{FF2B5EF4-FFF2-40B4-BE49-F238E27FC236}">
                <a16:creationId xmlns:a16="http://schemas.microsoft.com/office/drawing/2014/main" id="{19027135-3FA6-402D-B58A-FD3177C19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91312" y="411480"/>
            <a:ext cx="10722712" cy="704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600" b="1">
                <a:solidFill>
                  <a:schemeClr val="accent1"/>
                </a:solidFill>
                <a:latin typeface="+mn-lt"/>
                <a:ea typeface="+mn-lt"/>
                <a:cs typeface="+mn-lt"/>
              </a:rPr>
              <a:t>这不是一次问答，而是一条必须可复算的任务链</a:t>
            </a:r>
          </a:p>
        </p:txBody>
      </p:sp>
      <p:sp>
        <p:nvSpPr>
          <p:cNvPr id="3" name="TextBox 3">
            <a:extLst xmlns:a="http://schemas.openxmlformats.org/drawingml/2006/main">
              <a:ext uri="{FF2B5EF4-FFF2-40B4-BE49-F238E27FC236}">
                <a16:creationId xmlns:a16="http://schemas.microsoft.com/office/drawing/2014/main" id="{91B1A76A-CA7B-4A04-877C-FB7E44DBA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1218" y="1022032"/>
            <a:ext cx="5419298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>
                <a:solidFill>
                  <a:srgbClr val="5B7388"/>
                </a:solidFill>
                <a:latin typeface="+mn-lt"/>
                <a:ea typeface="+mn-lt"/>
                <a:cs typeface="+mn-lt"/>
              </a:rPr>
              <a:t>Agent 的价值在于管理任务、工具、状态与责任边界。</a:t>
            </a:r>
          </a:p>
        </p:txBody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903FBC2D-95BB-4AF9-8872-A26E5F6B5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3950" y="3086100"/>
            <a:ext cx="9782175" cy="9525"/>
          </a:xfrm>
          <a:custGeom xmlns:a="http://schemas.openxmlformats.org/drawingml/2006/main">
            <a:rect l="l" t="t" r="r" b="b"/>
            <a:pathLst>
              <a:path w="9782175" h="9525">
                <a:moveTo>
                  <a:pt x="0" y="0"/>
                </a:moveTo>
                <a:lnTo>
                  <a:pt x="97821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14300">
            <a:solidFill>
              <a:schemeClr val="accent5"/>
            </a:solidFill>
          </a:ln>
        </p:spPr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76318875-BC2D-4360-AC4A-75B70F38B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3950" y="3086100"/>
            <a:ext cx="8458200" cy="9525"/>
          </a:xfrm>
          <a:custGeom xmlns:a="http://schemas.openxmlformats.org/drawingml/2006/main">
            <a:rect l="l" t="t" r="r" b="b"/>
            <a:pathLst>
              <a:path w="8458200" h="9525">
                <a:moveTo>
                  <a:pt x="0" y="0"/>
                </a:moveTo>
                <a:lnTo>
                  <a:pt x="8458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chemeClr val="accent2"/>
            </a:solidFill>
          </a:ln>
        </p:spPr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8719339D-4C07-4EDA-9BA2-0F8B5706F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582150" y="3086100"/>
            <a:ext cx="1323975" cy="9525"/>
          </a:xfrm>
          <a:custGeom xmlns:a="http://schemas.openxmlformats.org/drawingml/2006/main">
            <a:rect l="l" t="t" r="r" b="b"/>
            <a:pathLst>
              <a:path w="1323975" h="9525">
                <a:moveTo>
                  <a:pt x="0" y="0"/>
                </a:moveTo>
                <a:lnTo>
                  <a:pt x="13239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chemeClr val="accent3"/>
            </a:solidFill>
          </a:ln>
        </p:spPr>
      </p:sp>
      <p:sp>
        <p:nvSpPr>
          <p:cNvPr id="7" name="Ellipse 7">
            <a:extLst xmlns:a="http://schemas.openxmlformats.org/drawingml/2006/main">
              <a:ext uri="{FF2B5EF4-FFF2-40B4-BE49-F238E27FC236}">
                <a16:creationId xmlns:a16="http://schemas.microsoft.com/office/drawing/2014/main" id="{4CE77698-DF96-48E9-A2D5-2CCD35684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04850" y="2667000"/>
            <a:ext cx="838200" cy="838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chemeClr val="accent2"/>
            </a:solidFill>
          </a:ln>
        </p:spPr>
      </p:sp>
      <p:sp>
        <p:nvSpPr>
          <p:cNvPr id="8" name="Freeform 8">
            <a:extLst xmlns:a="http://schemas.openxmlformats.org/drawingml/2006/main">
              <a:ext uri="{FF2B5EF4-FFF2-40B4-BE49-F238E27FC236}">
                <a16:creationId xmlns:a16="http://schemas.microsoft.com/office/drawing/2014/main" id="{0F401F75-7F34-4DF6-8553-4336F1166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52500" y="2952750"/>
            <a:ext cx="342900" cy="266700"/>
          </a:xfrm>
          <a:custGeom xmlns:a="http://schemas.openxmlformats.org/drawingml/2006/main">
            <a:rect l="l" t="t" r="r" b="b"/>
            <a:pathLst>
              <a:path w="342900" h="266700">
                <a:moveTo>
                  <a:pt x="0" y="38100"/>
                </a:moveTo>
                <a:cubicBezTo>
                  <a:pt x="0" y="17058"/>
                  <a:pt x="17058" y="0"/>
                  <a:pt x="38100" y="0"/>
                </a:cubicBezTo>
                <a:lnTo>
                  <a:pt x="304800" y="0"/>
                </a:lnTo>
                <a:cubicBezTo>
                  <a:pt x="325842" y="0"/>
                  <a:pt x="342900" y="17058"/>
                  <a:pt x="342900" y="38100"/>
                </a:cubicBezTo>
                <a:lnTo>
                  <a:pt x="342900" y="228600"/>
                </a:lnTo>
                <a:cubicBezTo>
                  <a:pt x="342900" y="249642"/>
                  <a:pt x="325842" y="266700"/>
                  <a:pt x="304800" y="266700"/>
                </a:cubicBezTo>
                <a:lnTo>
                  <a:pt x="38100" y="266700"/>
                </a:lnTo>
                <a:cubicBezTo>
                  <a:pt x="17058" y="266700"/>
                  <a:pt x="0" y="249642"/>
                  <a:pt x="0" y="228600"/>
                </a:cubicBezTo>
                <a:lnTo>
                  <a:pt x="0" y="38100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chemeClr val="accent1"/>
            </a:solidFill>
          </a:ln>
        </p:spPr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17EE27F2-AA6B-4BF4-A935-2C7E4D30A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52500" y="2990850"/>
            <a:ext cx="342900" cy="114300"/>
          </a:xfrm>
          <a:custGeom xmlns:a="http://schemas.openxmlformats.org/drawingml/2006/main">
            <a:rect l="l" t="t" r="r" b="b"/>
            <a:pathLst>
              <a:path w="342900" h="114300">
                <a:moveTo>
                  <a:pt x="0" y="0"/>
                </a:moveTo>
                <a:lnTo>
                  <a:pt x="171450" y="114300"/>
                </a:lnTo>
                <a:lnTo>
                  <a:pt x="3429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chemeClr val="accent1"/>
            </a:solidFill>
          </a:ln>
        </p:spPr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EECDE936-4ED9-4A25-B663-CD89C9C90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49110" y="3669982"/>
            <a:ext cx="949681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650" b="1">
                <a:solidFill>
                  <a:schemeClr val="dk1"/>
                </a:solidFill>
                <a:latin typeface="+mn-lt"/>
                <a:ea typeface="+mn-lt"/>
                <a:cs typeface="+mn-lt"/>
              </a:rPr>
              <a:t>理解事故</a:t>
            </a:r>
          </a:p>
        </p:txBody>
      </p:sp>
      <p:sp>
        <p:nvSpPr>
          <p:cNvPr id="13" name="Ellipse 13">
            <a:extLst xmlns:a="http://schemas.openxmlformats.org/drawingml/2006/main">
              <a:ext uri="{FF2B5EF4-FFF2-40B4-BE49-F238E27FC236}">
                <a16:creationId xmlns:a16="http://schemas.microsoft.com/office/drawing/2014/main" id="{06782436-2D63-42AF-B856-AD6CEAC12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266950" y="2667000"/>
            <a:ext cx="838200" cy="838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chemeClr val="accent2"/>
            </a:solidFill>
          </a:ln>
        </p:spPr>
      </p:sp>
      <p:sp>
        <p:nvSpPr>
          <p:cNvPr id="14" name="Freeform 14">
            <a:extLst xmlns:a="http://schemas.openxmlformats.org/drawingml/2006/main">
              <a:ext uri="{FF2B5EF4-FFF2-40B4-BE49-F238E27FC236}">
                <a16:creationId xmlns:a16="http://schemas.microsoft.com/office/drawing/2014/main" id="{22D8EA4B-F12E-4D20-ADF5-509D29E74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552700" y="2933700"/>
            <a:ext cx="228600" cy="304800"/>
          </a:xfrm>
          <a:custGeom xmlns:a="http://schemas.openxmlformats.org/drawingml/2006/main">
            <a:rect l="l" t="t" r="r" b="b"/>
            <a:pathLst>
              <a:path w="228600" h="304800">
                <a:moveTo>
                  <a:pt x="87916" y="304800"/>
                </a:moveTo>
                <a:lnTo>
                  <a:pt x="38100" y="304800"/>
                </a:lnTo>
                <a:cubicBezTo>
                  <a:pt x="17058" y="304800"/>
                  <a:pt x="0" y="287742"/>
                  <a:pt x="0" y="266700"/>
                </a:cubicBezTo>
                <a:lnTo>
                  <a:pt x="0" y="38100"/>
                </a:lnTo>
                <a:cubicBezTo>
                  <a:pt x="0" y="17058"/>
                  <a:pt x="17058" y="0"/>
                  <a:pt x="38100" y="0"/>
                </a:cubicBezTo>
                <a:lnTo>
                  <a:pt x="190500" y="0"/>
                </a:lnTo>
                <a:cubicBezTo>
                  <a:pt x="211542" y="0"/>
                  <a:pt x="228600" y="17058"/>
                  <a:pt x="228600" y="38100"/>
                </a:cubicBezTo>
                <a:lnTo>
                  <a:pt x="228600" y="190500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chemeClr val="accent1"/>
            </a:solidFill>
          </a:ln>
        </p:spPr>
      </p:sp>
      <p:sp>
        <p:nvSpPr>
          <p:cNvPr id="15" name="Freeform 15">
            <a:extLst xmlns:a="http://schemas.openxmlformats.org/drawingml/2006/main">
              <a:ext uri="{FF2B5EF4-FFF2-40B4-BE49-F238E27FC236}">
                <a16:creationId xmlns:a16="http://schemas.microsoft.com/office/drawing/2014/main" id="{7A44FCC7-CD29-4B76-80C5-80D73FE6F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724150" y="3181350"/>
            <a:ext cx="114300" cy="76200"/>
          </a:xfrm>
          <a:custGeom xmlns:a="http://schemas.openxmlformats.org/drawingml/2006/main">
            <a:rect l="l" t="t" r="r" b="b"/>
            <a:pathLst>
              <a:path w="114300" h="76200">
                <a:moveTo>
                  <a:pt x="0" y="38100"/>
                </a:moveTo>
                <a:lnTo>
                  <a:pt x="38100" y="76200"/>
                </a:ln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chemeClr val="accent1"/>
            </a:solidFill>
          </a:ln>
        </p:spPr>
      </p:sp>
      <p:sp>
        <p:nvSpPr>
          <p:cNvPr id="16" name="Freeform 16">
            <a:extLst xmlns:a="http://schemas.openxmlformats.org/drawingml/2006/main">
              <a:ext uri="{FF2B5EF4-FFF2-40B4-BE49-F238E27FC236}">
                <a16:creationId xmlns:a16="http://schemas.microsoft.com/office/drawing/2014/main" id="{33A0D5EE-C3A5-4F8D-A4DF-39D8BADF6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628900" y="3009900"/>
            <a:ext cx="76200" cy="9525"/>
          </a:xfrm>
          <a:custGeom xmlns:a="http://schemas.openxmlformats.org/drawingml/2006/main">
            <a:rect l="l" t="t" r="r" b="b"/>
            <a:pathLst>
              <a:path w="76200" h="9525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chemeClr val="accent1"/>
            </a:solidFill>
          </a:ln>
        </p:spPr>
      </p:sp>
      <p:sp>
        <p:nvSpPr>
          <p:cNvPr id="17" name="Freeform 17">
            <a:extLst xmlns:a="http://schemas.openxmlformats.org/drawingml/2006/main">
              <a:ext uri="{FF2B5EF4-FFF2-40B4-BE49-F238E27FC236}">
                <a16:creationId xmlns:a16="http://schemas.microsoft.com/office/drawing/2014/main" id="{FD152941-500F-4B55-A650-60242772B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628900" y="3086100"/>
            <a:ext cx="38100" cy="9525"/>
          </a:xfrm>
          <a:custGeom xmlns:a="http://schemas.openxmlformats.org/drawingml/2006/main">
            <a:rect l="l" t="t" r="r" b="b"/>
            <a:pathLst>
              <a:path w="38100" h="9525">
                <a:moveTo>
                  <a:pt x="0" y="0"/>
                </a:moveTo>
                <a:lnTo>
                  <a:pt x="381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chemeClr val="accent1"/>
            </a:solidFill>
          </a:ln>
        </p:spPr>
      </p:sp>
      <p:sp>
        <p:nvSpPr>
          <p:cNvPr id="19" name="TextBox 19">
            <a:extLst xmlns:a="http://schemas.openxmlformats.org/drawingml/2006/main">
              <a:ext uri="{FF2B5EF4-FFF2-40B4-BE49-F238E27FC236}">
                <a16:creationId xmlns:a16="http://schemas.microsoft.com/office/drawing/2014/main" id="{85F8BAFC-88F5-4E4E-B7EB-A7C736BAC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211210" y="3669982"/>
            <a:ext cx="949681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650" b="1">
                <a:solidFill>
                  <a:schemeClr val="dk1"/>
                </a:solidFill>
                <a:latin typeface="+mn-lt"/>
                <a:ea typeface="+mn-lt"/>
                <a:cs typeface="+mn-lt"/>
              </a:rPr>
              <a:t>校验实体</a:t>
            </a:r>
          </a:p>
        </p:txBody>
      </p:sp>
      <p:sp>
        <p:nvSpPr>
          <p:cNvPr id="21" name="Ellipse 21">
            <a:extLst xmlns:a="http://schemas.openxmlformats.org/drawingml/2006/main">
              <a:ext uri="{FF2B5EF4-FFF2-40B4-BE49-F238E27FC236}">
                <a16:creationId xmlns:a16="http://schemas.microsoft.com/office/drawing/2014/main" id="{7A156911-3BB7-4ECD-A4AC-C8F5C62F5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829050" y="2667000"/>
            <a:ext cx="838200" cy="838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chemeClr val="accent3"/>
            </a:solidFill>
          </a:ln>
        </p:spPr>
      </p:sp>
      <p:sp>
        <p:nvSpPr>
          <p:cNvPr id="22" name="Freeform 22">
            <a:extLst xmlns:a="http://schemas.openxmlformats.org/drawingml/2006/main">
              <a:ext uri="{FF2B5EF4-FFF2-40B4-BE49-F238E27FC236}">
                <a16:creationId xmlns:a16="http://schemas.microsoft.com/office/drawing/2014/main" id="{80076B29-7195-4B75-BEAB-A496035B9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076700" y="3181350"/>
            <a:ext cx="76200" cy="76200"/>
          </a:xfrm>
          <a:custGeom xmlns:a="http://schemas.openxmlformats.org/drawingml/2006/main">
            <a:rect l="l" t="t" r="r" b="b"/>
            <a:pathLst>
              <a:path w="76200" h="76200">
                <a:moveTo>
                  <a:pt x="0" y="38100"/>
                </a:moveTo>
                <a:cubicBezTo>
                  <a:pt x="0" y="59142"/>
                  <a:pt x="17058" y="76200"/>
                  <a:pt x="38100" y="76200"/>
                </a:cubicBezTo>
                <a:cubicBezTo>
                  <a:pt x="59142" y="76200"/>
                  <a:pt x="76200" y="59142"/>
                  <a:pt x="76200" y="38100"/>
                </a:cubicBezTo>
                <a:cubicBezTo>
                  <a:pt x="76200" y="17058"/>
                  <a:pt x="59142" y="0"/>
                  <a:pt x="38100" y="0"/>
                </a:cubicBezTo>
                <a:cubicBezTo>
                  <a:pt x="17058" y="0"/>
                  <a:pt x="0" y="17058"/>
                  <a:pt x="0" y="38100"/>
                </a:cubicBez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chemeClr val="accent3"/>
            </a:solidFill>
          </a:ln>
        </p:spPr>
      </p:sp>
      <p:sp>
        <p:nvSpPr>
          <p:cNvPr id="23" name="Freeform 23">
            <a:extLst xmlns:a="http://schemas.openxmlformats.org/drawingml/2006/main">
              <a:ext uri="{FF2B5EF4-FFF2-40B4-BE49-F238E27FC236}">
                <a16:creationId xmlns:a16="http://schemas.microsoft.com/office/drawing/2014/main" id="{690495B3-DC22-4737-9920-5EC09D7C4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43400" y="2914650"/>
            <a:ext cx="76200" cy="76200"/>
          </a:xfrm>
          <a:custGeom xmlns:a="http://schemas.openxmlformats.org/drawingml/2006/main">
            <a:rect l="l" t="t" r="r" b="b"/>
            <a:pathLst>
              <a:path w="76200" h="76200">
                <a:moveTo>
                  <a:pt x="38100" y="76200"/>
                </a:moveTo>
                <a:cubicBezTo>
                  <a:pt x="59142" y="76200"/>
                  <a:pt x="76200" y="59142"/>
                  <a:pt x="76200" y="38100"/>
                </a:cubicBezTo>
                <a:cubicBezTo>
                  <a:pt x="76200" y="17058"/>
                  <a:pt x="59142" y="0"/>
                  <a:pt x="38100" y="0"/>
                </a:cubicBezTo>
                <a:cubicBezTo>
                  <a:pt x="17058" y="0"/>
                  <a:pt x="0" y="17058"/>
                  <a:pt x="0" y="38100"/>
                </a:cubicBezTo>
                <a:cubicBezTo>
                  <a:pt x="0" y="59142"/>
                  <a:pt x="17058" y="76200"/>
                  <a:pt x="38100" y="76200"/>
                </a:cubicBez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chemeClr val="accent3"/>
            </a:solidFill>
          </a:ln>
        </p:spPr>
      </p:sp>
      <p:sp>
        <p:nvSpPr>
          <p:cNvPr id="24" name="Freeform 24">
            <a:extLst xmlns:a="http://schemas.openxmlformats.org/drawingml/2006/main">
              <a:ext uri="{FF2B5EF4-FFF2-40B4-BE49-F238E27FC236}">
                <a16:creationId xmlns:a16="http://schemas.microsoft.com/office/drawing/2014/main" id="{901BE5C6-862C-4364-ADC4-2BDE03EF2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14800" y="2952750"/>
            <a:ext cx="285750" cy="266700"/>
          </a:xfrm>
          <a:custGeom xmlns:a="http://schemas.openxmlformats.org/drawingml/2006/main">
            <a:rect l="l" t="t" r="r" b="b"/>
            <a:pathLst>
              <a:path w="285750" h="266700">
                <a:moveTo>
                  <a:pt x="114300" y="266700"/>
                </a:moveTo>
                <a:lnTo>
                  <a:pt x="219075" y="266700"/>
                </a:lnTo>
                <a:cubicBezTo>
                  <a:pt x="255899" y="266700"/>
                  <a:pt x="285750" y="236849"/>
                  <a:pt x="285750" y="200025"/>
                </a:cubicBezTo>
                <a:cubicBezTo>
                  <a:pt x="285750" y="163201"/>
                  <a:pt x="255899" y="133350"/>
                  <a:pt x="219075" y="133350"/>
                </a:cubicBezTo>
                <a:lnTo>
                  <a:pt x="66675" y="133350"/>
                </a:lnTo>
                <a:cubicBezTo>
                  <a:pt x="29851" y="133350"/>
                  <a:pt x="0" y="103499"/>
                  <a:pt x="0" y="66675"/>
                </a:cubicBezTo>
                <a:cubicBezTo>
                  <a:pt x="0" y="29851"/>
                  <a:pt x="29851" y="0"/>
                  <a:pt x="66675" y="0"/>
                </a:cubicBezTo>
                <a:lnTo>
                  <a:pt x="1524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chemeClr val="accent3"/>
            </a:solidFill>
          </a:ln>
        </p:spPr>
      </p:sp>
      <p:sp>
        <p:nvSpPr>
          <p:cNvPr id="26" name="TextBox 26">
            <a:extLst xmlns:a="http://schemas.openxmlformats.org/drawingml/2006/main">
              <a:ext uri="{FF2B5EF4-FFF2-40B4-BE49-F238E27FC236}">
                <a16:creationId xmlns:a16="http://schemas.microsoft.com/office/drawing/2014/main" id="{B037EE68-D1B8-450B-9990-CD1FAE857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773310" y="3669982"/>
            <a:ext cx="949681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650" b="1">
                <a:solidFill>
                  <a:schemeClr val="dk1"/>
                </a:solidFill>
                <a:latin typeface="+mn-lt"/>
                <a:ea typeface="+mn-lt"/>
                <a:cs typeface="+mn-lt"/>
              </a:rPr>
              <a:t>规划调查</a:t>
            </a:r>
          </a:p>
        </p:txBody>
      </p:sp>
      <p:sp>
        <p:nvSpPr>
          <p:cNvPr id="28" name="Ellipse 28">
            <a:extLst xmlns:a="http://schemas.openxmlformats.org/drawingml/2006/main">
              <a:ext uri="{FF2B5EF4-FFF2-40B4-BE49-F238E27FC236}">
                <a16:creationId xmlns:a16="http://schemas.microsoft.com/office/drawing/2014/main" id="{7374762B-4458-483C-9230-75CD9D874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391150" y="2667000"/>
            <a:ext cx="838200" cy="838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chemeClr val="accent3"/>
            </a:solidFill>
          </a:ln>
        </p:spPr>
      </p:sp>
      <p:sp>
        <p:nvSpPr>
          <p:cNvPr id="29" name="Freeform 29">
            <a:extLst xmlns:a="http://schemas.openxmlformats.org/drawingml/2006/main">
              <a:ext uri="{FF2B5EF4-FFF2-40B4-BE49-F238E27FC236}">
                <a16:creationId xmlns:a16="http://schemas.microsoft.com/office/drawing/2014/main" id="{FFE17E82-540B-48BF-9E2A-8E724AD98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657850" y="2914650"/>
            <a:ext cx="304800" cy="114300"/>
          </a:xfrm>
          <a:custGeom xmlns:a="http://schemas.openxmlformats.org/drawingml/2006/main">
            <a:rect l="l" t="t" r="r" b="b"/>
            <a:pathLst>
              <a:path w="304800" h="114300">
                <a:moveTo>
                  <a:pt x="0" y="57150"/>
                </a:moveTo>
                <a:cubicBezTo>
                  <a:pt x="0" y="88713"/>
                  <a:pt x="68232" y="114300"/>
                  <a:pt x="152400" y="114300"/>
                </a:cubicBezTo>
                <a:cubicBezTo>
                  <a:pt x="236568" y="114300"/>
                  <a:pt x="304800" y="88713"/>
                  <a:pt x="304800" y="57150"/>
                </a:cubicBezTo>
                <a:cubicBezTo>
                  <a:pt x="304800" y="25587"/>
                  <a:pt x="236568" y="0"/>
                  <a:pt x="152400" y="0"/>
                </a:cubicBezTo>
                <a:cubicBezTo>
                  <a:pt x="68232" y="0"/>
                  <a:pt x="0" y="25587"/>
                  <a:pt x="0" y="57150"/>
                </a:cubicBez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chemeClr val="accent3"/>
            </a:solidFill>
          </a:ln>
        </p:spPr>
      </p:sp>
      <p:sp>
        <p:nvSpPr>
          <p:cNvPr id="30" name="Freeform 30">
            <a:extLst xmlns:a="http://schemas.openxmlformats.org/drawingml/2006/main">
              <a:ext uri="{FF2B5EF4-FFF2-40B4-BE49-F238E27FC236}">
                <a16:creationId xmlns:a16="http://schemas.microsoft.com/office/drawing/2014/main" id="{920BB2A4-6F45-48DD-A84A-9DEBD757D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657850" y="2971800"/>
            <a:ext cx="304800" cy="171450"/>
          </a:xfrm>
          <a:custGeom xmlns:a="http://schemas.openxmlformats.org/drawingml/2006/main">
            <a:rect l="l" t="t" r="r" b="b"/>
            <a:pathLst>
              <a:path w="304800" h="171450">
                <a:moveTo>
                  <a:pt x="0" y="0"/>
                </a:moveTo>
                <a:lnTo>
                  <a:pt x="0" y="114300"/>
                </a:lnTo>
                <a:cubicBezTo>
                  <a:pt x="0" y="145863"/>
                  <a:pt x="68232" y="171450"/>
                  <a:pt x="152400" y="171450"/>
                </a:cubicBezTo>
                <a:cubicBezTo>
                  <a:pt x="236568" y="171450"/>
                  <a:pt x="304800" y="145863"/>
                  <a:pt x="304800" y="114300"/>
                </a:cubicBezTo>
                <a:lnTo>
                  <a:pt x="304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chemeClr val="accent3"/>
            </a:solidFill>
          </a:ln>
        </p:spPr>
      </p:sp>
      <p:sp>
        <p:nvSpPr>
          <p:cNvPr id="31" name="Freeform 31">
            <a:extLst xmlns:a="http://schemas.openxmlformats.org/drawingml/2006/main">
              <a:ext uri="{FF2B5EF4-FFF2-40B4-BE49-F238E27FC236}">
                <a16:creationId xmlns:a16="http://schemas.microsoft.com/office/drawing/2014/main" id="{D12C054C-3790-41BD-B67A-DFCB4CFCB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657850" y="3086100"/>
            <a:ext cx="304800" cy="171450"/>
          </a:xfrm>
          <a:custGeom xmlns:a="http://schemas.openxmlformats.org/drawingml/2006/main">
            <a:rect l="l" t="t" r="r" b="b"/>
            <a:pathLst>
              <a:path w="304800" h="171450">
                <a:moveTo>
                  <a:pt x="0" y="0"/>
                </a:moveTo>
                <a:lnTo>
                  <a:pt x="0" y="114300"/>
                </a:lnTo>
                <a:cubicBezTo>
                  <a:pt x="0" y="145863"/>
                  <a:pt x="68232" y="171450"/>
                  <a:pt x="152400" y="171450"/>
                </a:cubicBezTo>
                <a:cubicBezTo>
                  <a:pt x="236568" y="171450"/>
                  <a:pt x="304800" y="145863"/>
                  <a:pt x="304800" y="114300"/>
                </a:cubicBezTo>
                <a:lnTo>
                  <a:pt x="304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chemeClr val="accent3"/>
            </a:solidFill>
          </a:ln>
        </p:spPr>
      </p:sp>
      <p:sp>
        <p:nvSpPr>
          <p:cNvPr id="33" name="TextBox 33">
            <a:extLst xmlns:a="http://schemas.openxmlformats.org/drawingml/2006/main">
              <a:ext uri="{FF2B5EF4-FFF2-40B4-BE49-F238E27FC236}">
                <a16:creationId xmlns:a16="http://schemas.microsoft.com/office/drawing/2014/main" id="{5C52C03A-B6F9-45ED-AD35-03CA3385B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335410" y="3669982"/>
            <a:ext cx="949681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650" b="1">
                <a:solidFill>
                  <a:schemeClr val="dk1"/>
                </a:solidFill>
                <a:latin typeface="+mn-lt"/>
                <a:ea typeface="+mn-lt"/>
                <a:cs typeface="+mn-lt"/>
              </a:rPr>
              <a:t>调用工具</a:t>
            </a:r>
          </a:p>
        </p:txBody>
      </p:sp>
      <p:sp>
        <p:nvSpPr>
          <p:cNvPr id="35" name="Ellipse 35">
            <a:extLst xmlns:a="http://schemas.openxmlformats.org/drawingml/2006/main">
              <a:ext uri="{FF2B5EF4-FFF2-40B4-BE49-F238E27FC236}">
                <a16:creationId xmlns:a16="http://schemas.microsoft.com/office/drawing/2014/main" id="{AE34C933-07AF-4712-BAD2-2570E40D7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953250" y="2667000"/>
            <a:ext cx="838200" cy="838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chemeClr val="accent2"/>
            </a:solidFill>
          </a:ln>
        </p:spPr>
      </p:sp>
      <p:sp>
        <p:nvSpPr>
          <p:cNvPr id="36" name="Freeform 36">
            <a:extLst xmlns:a="http://schemas.openxmlformats.org/drawingml/2006/main">
              <a:ext uri="{FF2B5EF4-FFF2-40B4-BE49-F238E27FC236}">
                <a16:creationId xmlns:a16="http://schemas.microsoft.com/office/drawing/2014/main" id="{1AE1460C-B955-4A7F-AF21-F8AF9910A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200900" y="3086100"/>
            <a:ext cx="114300" cy="152400"/>
          </a:xfrm>
          <a:custGeom xmlns:a="http://schemas.openxmlformats.org/drawingml/2006/main">
            <a:rect l="l" t="t" r="r" b="b"/>
            <a:pathLst>
              <a:path w="114300" h="152400">
                <a:moveTo>
                  <a:pt x="0" y="19050"/>
                </a:moveTo>
                <a:cubicBezTo>
                  <a:pt x="0" y="8529"/>
                  <a:pt x="8529" y="0"/>
                  <a:pt x="19050" y="0"/>
                </a:cubicBezTo>
                <a:lnTo>
                  <a:pt x="95250" y="0"/>
                </a:lnTo>
                <a:cubicBezTo>
                  <a:pt x="105771" y="0"/>
                  <a:pt x="114300" y="8529"/>
                  <a:pt x="114300" y="19050"/>
                </a:cubicBezTo>
                <a:lnTo>
                  <a:pt x="114300" y="133350"/>
                </a:lnTo>
                <a:cubicBezTo>
                  <a:pt x="114300" y="143871"/>
                  <a:pt x="105771" y="152400"/>
                  <a:pt x="95250" y="152400"/>
                </a:cubicBezTo>
                <a:lnTo>
                  <a:pt x="19050" y="152400"/>
                </a:lnTo>
                <a:cubicBezTo>
                  <a:pt x="8529" y="152400"/>
                  <a:pt x="0" y="143871"/>
                  <a:pt x="0" y="133350"/>
                </a:cubicBezTo>
                <a:lnTo>
                  <a:pt x="0" y="19050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chemeClr val="accent1"/>
            </a:solidFill>
          </a:ln>
        </p:spPr>
      </p:sp>
      <p:sp>
        <p:nvSpPr>
          <p:cNvPr id="37" name="Freeform 37">
            <a:extLst xmlns:a="http://schemas.openxmlformats.org/drawingml/2006/main">
              <a:ext uri="{FF2B5EF4-FFF2-40B4-BE49-F238E27FC236}">
                <a16:creationId xmlns:a16="http://schemas.microsoft.com/office/drawing/2014/main" id="{77D403A7-33C1-4390-9823-44FB4FD1F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429500" y="3009900"/>
            <a:ext cx="114300" cy="228600"/>
          </a:xfrm>
          <a:custGeom xmlns:a="http://schemas.openxmlformats.org/drawingml/2006/main">
            <a:rect l="l" t="t" r="r" b="b"/>
            <a:pathLst>
              <a:path w="114300" h="228600">
                <a:moveTo>
                  <a:pt x="0" y="19050"/>
                </a:moveTo>
                <a:cubicBezTo>
                  <a:pt x="0" y="8529"/>
                  <a:pt x="8529" y="0"/>
                  <a:pt x="19050" y="0"/>
                </a:cubicBezTo>
                <a:lnTo>
                  <a:pt x="95250" y="0"/>
                </a:lnTo>
                <a:cubicBezTo>
                  <a:pt x="105771" y="0"/>
                  <a:pt x="114300" y="8529"/>
                  <a:pt x="114300" y="19050"/>
                </a:cubicBezTo>
                <a:lnTo>
                  <a:pt x="114300" y="209550"/>
                </a:lnTo>
                <a:cubicBezTo>
                  <a:pt x="114300" y="220071"/>
                  <a:pt x="105771" y="228600"/>
                  <a:pt x="95250" y="228600"/>
                </a:cubicBezTo>
                <a:lnTo>
                  <a:pt x="19050" y="228600"/>
                </a:lnTo>
                <a:cubicBezTo>
                  <a:pt x="8529" y="228600"/>
                  <a:pt x="0" y="220071"/>
                  <a:pt x="0" y="209550"/>
                </a:cubicBezTo>
                <a:lnTo>
                  <a:pt x="0" y="19050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chemeClr val="accent1"/>
            </a:solidFill>
          </a:ln>
        </p:spPr>
      </p:sp>
      <p:sp>
        <p:nvSpPr>
          <p:cNvPr id="38" name="Freeform 38">
            <a:extLst xmlns:a="http://schemas.openxmlformats.org/drawingml/2006/main">
              <a:ext uri="{FF2B5EF4-FFF2-40B4-BE49-F238E27FC236}">
                <a16:creationId xmlns:a16="http://schemas.microsoft.com/office/drawing/2014/main" id="{9BD1EEBF-125B-464C-BB72-15B051EC7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315200" y="2933700"/>
            <a:ext cx="114300" cy="304800"/>
          </a:xfrm>
          <a:custGeom xmlns:a="http://schemas.openxmlformats.org/drawingml/2006/main">
            <a:rect l="l" t="t" r="r" b="b"/>
            <a:pathLst>
              <a:path w="114300" h="304800">
                <a:moveTo>
                  <a:pt x="0" y="19050"/>
                </a:moveTo>
                <a:cubicBezTo>
                  <a:pt x="0" y="8529"/>
                  <a:pt x="8529" y="0"/>
                  <a:pt x="19050" y="0"/>
                </a:cubicBezTo>
                <a:lnTo>
                  <a:pt x="95250" y="0"/>
                </a:lnTo>
                <a:cubicBezTo>
                  <a:pt x="105771" y="0"/>
                  <a:pt x="114300" y="8529"/>
                  <a:pt x="114300" y="19050"/>
                </a:cubicBezTo>
                <a:lnTo>
                  <a:pt x="114300" y="285750"/>
                </a:lnTo>
                <a:cubicBezTo>
                  <a:pt x="114300" y="296271"/>
                  <a:pt x="105771" y="304800"/>
                  <a:pt x="95250" y="304800"/>
                </a:cubicBezTo>
                <a:lnTo>
                  <a:pt x="19050" y="304800"/>
                </a:lnTo>
                <a:cubicBezTo>
                  <a:pt x="8529" y="304800"/>
                  <a:pt x="0" y="296271"/>
                  <a:pt x="0" y="285750"/>
                </a:cubicBezTo>
                <a:lnTo>
                  <a:pt x="0" y="19050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chemeClr val="accent1"/>
            </a:solidFill>
          </a:ln>
        </p:spPr>
      </p:sp>
      <p:sp>
        <p:nvSpPr>
          <p:cNvPr id="39" name="Freeform 39">
            <a:extLst xmlns:a="http://schemas.openxmlformats.org/drawingml/2006/main">
              <a:ext uri="{FF2B5EF4-FFF2-40B4-BE49-F238E27FC236}">
                <a16:creationId xmlns:a16="http://schemas.microsoft.com/office/drawing/2014/main" id="{D3368A81-C556-411F-B278-5C2DDCCEE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219950" y="3238500"/>
            <a:ext cx="266700" cy="9525"/>
          </a:xfrm>
          <a:custGeom xmlns:a="http://schemas.openxmlformats.org/drawingml/2006/main">
            <a:rect l="l" t="t" r="r" b="b"/>
            <a:pathLst>
              <a:path w="266700" h="9525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chemeClr val="accent1"/>
            </a:solidFill>
          </a:ln>
        </p:spPr>
      </p:sp>
      <p:sp>
        <p:nvSpPr>
          <p:cNvPr id="41" name="TextBox 41">
            <a:extLst xmlns:a="http://schemas.openxmlformats.org/drawingml/2006/main">
              <a:ext uri="{FF2B5EF4-FFF2-40B4-BE49-F238E27FC236}">
                <a16:creationId xmlns:a16="http://schemas.microsoft.com/office/drawing/2014/main" id="{E3DDF0B4-88BB-415B-9FC3-F2849FE6E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897510" y="3669982"/>
            <a:ext cx="949681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650" b="1">
                <a:solidFill>
                  <a:schemeClr val="dk1"/>
                </a:solidFill>
                <a:latin typeface="+mn-lt"/>
                <a:ea typeface="+mn-lt"/>
                <a:cs typeface="+mn-lt"/>
              </a:rPr>
              <a:t>三套方案</a:t>
            </a:r>
          </a:p>
        </p:txBody>
      </p:sp>
      <p:sp>
        <p:nvSpPr>
          <p:cNvPr id="43" name="Ellipse 43">
            <a:extLst xmlns:a="http://schemas.openxmlformats.org/drawingml/2006/main">
              <a:ext uri="{FF2B5EF4-FFF2-40B4-BE49-F238E27FC236}">
                <a16:creationId xmlns:a16="http://schemas.microsoft.com/office/drawing/2014/main" id="{F2B4F1D4-7ABA-491B-85C8-6FC87C33D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515350" y="2667000"/>
            <a:ext cx="838200" cy="838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16A085"/>
            </a:solidFill>
          </a:ln>
        </p:spPr>
      </p:sp>
      <p:sp>
        <p:nvSpPr>
          <p:cNvPr id="44" name="Freeform 44">
            <a:extLst xmlns:a="http://schemas.openxmlformats.org/drawingml/2006/main">
              <a:ext uri="{FF2B5EF4-FFF2-40B4-BE49-F238E27FC236}">
                <a16:creationId xmlns:a16="http://schemas.microsoft.com/office/drawing/2014/main" id="{A3EA7512-0D92-409E-A9C8-50097F9C2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737291" y="2914650"/>
            <a:ext cx="372013" cy="339966"/>
          </a:xfrm>
          <a:custGeom xmlns:a="http://schemas.openxmlformats.org/drawingml/2006/main">
            <a:rect l="l" t="t" r="r" b="b"/>
            <a:pathLst>
              <a:path w="372013" h="339966">
                <a:moveTo>
                  <a:pt x="186872" y="339966"/>
                </a:moveTo>
                <a:cubicBezTo>
                  <a:pt x="67532" y="302974"/>
                  <a:pt x="0" y="177021"/>
                  <a:pt x="35234" y="57150"/>
                </a:cubicBezTo>
                <a:cubicBezTo>
                  <a:pt x="94585" y="59866"/>
                  <a:pt x="152661" y="39368"/>
                  <a:pt x="197159" y="0"/>
                </a:cubicBezTo>
                <a:cubicBezTo>
                  <a:pt x="241657" y="39368"/>
                  <a:pt x="299733" y="59866"/>
                  <a:pt x="359084" y="57150"/>
                </a:cubicBezTo>
                <a:cubicBezTo>
                  <a:pt x="372013" y="101139"/>
                  <a:pt x="371415" y="147998"/>
                  <a:pt x="357369" y="191643"/>
                </a:cubicBez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rgbClr val="16A085"/>
            </a:solidFill>
          </a:ln>
        </p:spPr>
      </p:sp>
      <p:sp>
        <p:nvSpPr>
          <p:cNvPr id="45" name="Freeform 45">
            <a:extLst xmlns:a="http://schemas.openxmlformats.org/drawingml/2006/main">
              <a:ext uri="{FF2B5EF4-FFF2-40B4-BE49-F238E27FC236}">
                <a16:creationId xmlns:a16="http://schemas.microsoft.com/office/drawing/2014/main" id="{14BD25F2-7D1F-4C6E-8668-7BBB01191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91600" y="3181350"/>
            <a:ext cx="114300" cy="76200"/>
          </a:xfrm>
          <a:custGeom xmlns:a="http://schemas.openxmlformats.org/drawingml/2006/main">
            <a:rect l="l" t="t" r="r" b="b"/>
            <a:pathLst>
              <a:path w="114300" h="76200">
                <a:moveTo>
                  <a:pt x="0" y="38100"/>
                </a:moveTo>
                <a:lnTo>
                  <a:pt x="38100" y="76200"/>
                </a:ln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rgbClr val="16A085"/>
            </a:solidFill>
          </a:ln>
        </p:spPr>
      </p:sp>
      <p:sp>
        <p:nvSpPr>
          <p:cNvPr id="47" name="TextBox 47">
            <a:extLst xmlns:a="http://schemas.openxmlformats.org/drawingml/2006/main">
              <a:ext uri="{FF2B5EF4-FFF2-40B4-BE49-F238E27FC236}">
                <a16:creationId xmlns:a16="http://schemas.microsoft.com/office/drawing/2014/main" id="{013C7EE5-FF33-424E-B3D9-0E0A99B6B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459610" y="3669982"/>
            <a:ext cx="949681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650" b="1">
                <a:solidFill>
                  <a:schemeClr val="dk1"/>
                </a:solidFill>
                <a:latin typeface="+mn-lt"/>
                <a:ea typeface="+mn-lt"/>
                <a:cs typeface="+mn-lt"/>
              </a:rPr>
              <a:t>独立验证</a:t>
            </a:r>
          </a:p>
        </p:txBody>
      </p:sp>
      <p:sp>
        <p:nvSpPr>
          <p:cNvPr id="49" name="Ellipse 49">
            <a:extLst xmlns:a="http://schemas.openxmlformats.org/drawingml/2006/main">
              <a:ext uri="{FF2B5EF4-FFF2-40B4-BE49-F238E27FC236}">
                <a16:creationId xmlns:a16="http://schemas.microsoft.com/office/drawing/2014/main" id="{802B200B-9492-4481-B9C2-FAAE5432A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001250" y="2590800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8575">
            <a:solidFill>
              <a:schemeClr val="accent1"/>
            </a:solidFill>
          </a:ln>
        </p:spPr>
      </p:sp>
      <p:sp>
        <p:nvSpPr>
          <p:cNvPr id="50" name="Freeform 50">
            <a:extLst xmlns:a="http://schemas.openxmlformats.org/drawingml/2006/main">
              <a:ext uri="{FF2B5EF4-FFF2-40B4-BE49-F238E27FC236}">
                <a16:creationId xmlns:a16="http://schemas.microsoft.com/office/drawing/2014/main" id="{D77B43BF-F3BC-4C4F-AB5C-818D81A8E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407650" y="2886075"/>
            <a:ext cx="177800" cy="177800"/>
          </a:xfrm>
          <a:custGeom xmlns:a="http://schemas.openxmlformats.org/drawingml/2006/main">
            <a:rect l="l" t="t" r="r" b="b"/>
            <a:pathLst>
              <a:path w="177800" h="177800">
                <a:moveTo>
                  <a:pt x="0" y="88900"/>
                </a:moveTo>
                <a:cubicBezTo>
                  <a:pt x="0" y="137998"/>
                  <a:pt x="39802" y="177800"/>
                  <a:pt x="88900" y="177800"/>
                </a:cubicBezTo>
                <a:cubicBezTo>
                  <a:pt x="137998" y="177800"/>
                  <a:pt x="177800" y="137998"/>
                  <a:pt x="177800" y="88900"/>
                </a:cubicBezTo>
                <a:cubicBezTo>
                  <a:pt x="177800" y="39802"/>
                  <a:pt x="137998" y="0"/>
                  <a:pt x="88900" y="0"/>
                </a:cubicBezTo>
                <a:cubicBezTo>
                  <a:pt x="39802" y="0"/>
                  <a:pt x="0" y="39802"/>
                  <a:pt x="0" y="88900"/>
                </a:cubicBezTo>
              </a:path>
            </a:pathLst>
          </a:custGeom>
          <a:noFill xmlns:a="http://schemas.openxmlformats.org/drawingml/2006/main"/>
          <a:ln xmlns:a="http://schemas.openxmlformats.org/drawingml/2006/main" w="44450">
            <a:solidFill>
              <a:srgbClr val="FFFFFF"/>
            </a:solidFill>
          </a:ln>
        </p:spPr>
      </p:sp>
      <p:sp>
        <p:nvSpPr>
          <p:cNvPr id="51" name="Freeform 51">
            <a:extLst xmlns:a="http://schemas.openxmlformats.org/drawingml/2006/main">
              <a:ext uri="{FF2B5EF4-FFF2-40B4-BE49-F238E27FC236}">
                <a16:creationId xmlns:a16="http://schemas.microsoft.com/office/drawing/2014/main" id="{8E42F4A2-ABCD-4B31-BDA3-AA5E1F70A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363200" y="3152775"/>
            <a:ext cx="177800" cy="133350"/>
          </a:xfrm>
          <a:custGeom xmlns:a="http://schemas.openxmlformats.org/drawingml/2006/main">
            <a:rect l="l" t="t" r="r" b="b"/>
            <a:pathLst>
              <a:path w="177800" h="133350">
                <a:moveTo>
                  <a:pt x="0" y="133350"/>
                </a:moveTo>
                <a:lnTo>
                  <a:pt x="0" y="88900"/>
                </a:lnTo>
                <a:cubicBezTo>
                  <a:pt x="0" y="39802"/>
                  <a:pt x="39802" y="0"/>
                  <a:pt x="88900" y="0"/>
                </a:cubicBezTo>
                <a:lnTo>
                  <a:pt x="177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44450">
            <a:solidFill>
              <a:srgbClr val="FFFFFF"/>
            </a:solidFill>
          </a:ln>
        </p:spPr>
      </p:sp>
      <p:sp>
        <p:nvSpPr>
          <p:cNvPr id="52" name="Freeform 52">
            <a:extLst xmlns:a="http://schemas.openxmlformats.org/drawingml/2006/main">
              <a:ext uri="{FF2B5EF4-FFF2-40B4-BE49-F238E27FC236}">
                <a16:creationId xmlns:a16="http://schemas.microsoft.com/office/drawing/2014/main" id="{110D6A2E-0795-4BDF-BD8E-B578E2E9B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563225" y="3197224"/>
            <a:ext cx="133350" cy="88900"/>
          </a:xfrm>
          <a:custGeom xmlns:a="http://schemas.openxmlformats.org/drawingml/2006/main">
            <a:rect l="l" t="t" r="r" b="b"/>
            <a:pathLst>
              <a:path w="133350" h="88900">
                <a:moveTo>
                  <a:pt x="0" y="44450"/>
                </a:moveTo>
                <a:lnTo>
                  <a:pt x="44450" y="88900"/>
                </a:lnTo>
                <a:lnTo>
                  <a:pt x="1333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44450">
            <a:solidFill>
              <a:srgbClr val="FFFFFF"/>
            </a:solidFill>
          </a:ln>
        </p:spPr>
      </p:sp>
      <p:sp>
        <p:nvSpPr>
          <p:cNvPr id="54" name="TextBox 54">
            <a:extLst xmlns:a="http://schemas.openxmlformats.org/drawingml/2006/main">
              <a:ext uri="{FF2B5EF4-FFF2-40B4-BE49-F238E27FC236}">
                <a16:creationId xmlns:a16="http://schemas.microsoft.com/office/drawing/2014/main" id="{DBE5215F-E901-4BEB-8542-90CED5B81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021710" y="3765232"/>
            <a:ext cx="949681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650" b="1">
                <a:solidFill>
                  <a:schemeClr val="accent1"/>
                </a:solidFill>
                <a:latin typeface="+mn-lt"/>
                <a:ea typeface="+mn-lt"/>
                <a:cs typeface="+mn-lt"/>
              </a:rPr>
              <a:t>人工审批</a:t>
            </a:r>
          </a:p>
        </p:txBody>
      </p:sp>
      <p:sp>
        <p:nvSpPr>
          <p:cNvPr id="57" name="Freeform 57">
            <a:extLst xmlns:a="http://schemas.openxmlformats.org/drawingml/2006/main">
              <a:ext uri="{FF2B5EF4-FFF2-40B4-BE49-F238E27FC236}">
                <a16:creationId xmlns:a16="http://schemas.microsoft.com/office/drawing/2014/main" id="{E51A3881-EDE8-4B45-BB4A-02EBF3C47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467850" y="3581400"/>
            <a:ext cx="1028700" cy="990600"/>
          </a:xfrm>
          <a:custGeom xmlns:a="http://schemas.openxmlformats.org/drawingml/2006/main">
            <a:rect l="l" t="t" r="r" b="b"/>
            <a:pathLst>
              <a:path w="1028700" h="990600">
                <a:moveTo>
                  <a:pt x="1028700" y="0"/>
                </a:moveTo>
                <a:lnTo>
                  <a:pt x="1028700" y="990600"/>
                </a:lnTo>
                <a:lnTo>
                  <a:pt x="0" y="99060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6A085"/>
            </a:solidFill>
          </a:ln>
        </p:spPr>
      </p:sp>
      <p:sp>
        <p:nvSpPr>
          <p:cNvPr id="58" name="Freeform 58">
            <a:extLst xmlns:a="http://schemas.openxmlformats.org/drawingml/2006/main">
              <a:ext uri="{FF2B5EF4-FFF2-40B4-BE49-F238E27FC236}">
                <a16:creationId xmlns:a16="http://schemas.microsoft.com/office/drawing/2014/main" id="{045305E5-4685-45E1-92CC-D2C90F029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467850" y="3581400"/>
            <a:ext cx="1028700" cy="1638300"/>
          </a:xfrm>
          <a:custGeom xmlns:a="http://schemas.openxmlformats.org/drawingml/2006/main">
            <a:rect l="l" t="t" r="r" b="b"/>
            <a:pathLst>
              <a:path w="1028700" h="1638300">
                <a:moveTo>
                  <a:pt x="1028700" y="0"/>
                </a:moveTo>
                <a:lnTo>
                  <a:pt x="1028700" y="1638300"/>
                </a:lnTo>
                <a:lnTo>
                  <a:pt x="0" y="163830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E5484D"/>
            </a:solidFill>
          </a:ln>
        </p:spPr>
      </p:sp>
      <p:sp>
        <p:nvSpPr>
          <p:cNvPr id="59" name="Rectangle 59">
            <a:extLst xmlns:a="http://schemas.openxmlformats.org/drawingml/2006/main">
              <a:ext uri="{FF2B5EF4-FFF2-40B4-BE49-F238E27FC236}">
                <a16:creationId xmlns:a16="http://schemas.microsoft.com/office/drawing/2014/main" id="{E64BAD7A-30A3-415D-BA18-B79634D38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610350" y="4305300"/>
            <a:ext cx="28575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8F7F3"/>
          </a:solidFill>
          <a:ln xmlns:a="http://schemas.openxmlformats.org/drawingml/2006/main">
            <a:noFill/>
          </a:ln>
        </p:spPr>
      </p:sp>
      <p:sp>
        <p:nvSpPr>
          <p:cNvPr id="60" name="TextBox 60">
            <a:extLst xmlns:a="http://schemas.openxmlformats.org/drawingml/2006/main">
              <a:ext uri="{FF2B5EF4-FFF2-40B4-BE49-F238E27FC236}">
                <a16:creationId xmlns:a16="http://schemas.microsoft.com/office/drawing/2014/main" id="{745DD5DD-5CA6-48C0-B158-7BE4E1D97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848856" y="4463415"/>
            <a:ext cx="4140083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116956"/>
                </a:solidFill>
                <a:latin typeface="+mn-lt"/>
                <a:ea typeface="+mn-lt"/>
                <a:cs typeface="+mn-lt"/>
              </a:rPr>
              <a:t>批准 → 重算 + 双 hash → draft_only</a:t>
            </a:r>
          </a:p>
        </p:txBody>
      </p:sp>
      <p:sp>
        <p:nvSpPr>
          <p:cNvPr id="61" name="Rectangle 61">
            <a:extLst xmlns:a="http://schemas.openxmlformats.org/drawingml/2006/main">
              <a:ext uri="{FF2B5EF4-FFF2-40B4-BE49-F238E27FC236}">
                <a16:creationId xmlns:a16="http://schemas.microsoft.com/office/drawing/2014/main" id="{2AB94B85-B7D4-4528-8753-05C628700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562850" y="4953000"/>
            <a:ext cx="19050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DEDED"/>
          </a:solidFill>
          <a:ln xmlns:a="http://schemas.openxmlformats.org/drawingml/2006/main">
            <a:noFill/>
          </a:ln>
        </p:spPr>
      </p:sp>
      <p:sp>
        <p:nvSpPr>
          <p:cNvPr id="62" name="TextBox 62">
            <a:extLst xmlns:a="http://schemas.openxmlformats.org/drawingml/2006/main">
              <a:ext uri="{FF2B5EF4-FFF2-40B4-BE49-F238E27FC236}">
                <a16:creationId xmlns:a16="http://schemas.microsoft.com/office/drawing/2014/main" id="{0DE7BAF5-49A6-4E25-986C-6C28DFA80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801356" y="5111115"/>
            <a:ext cx="1544879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A82C34"/>
                </a:solidFill>
                <a:latin typeface="+mn-lt"/>
                <a:ea typeface="+mn-lt"/>
                <a:cs typeface="+mn-lt"/>
              </a:rPr>
              <a:t>驳回 → 0 工单</a:t>
            </a:r>
          </a:p>
        </p:txBody>
      </p:sp>
      <p:sp>
        <p:nvSpPr>
          <p:cNvPr id="64" name="Rectangle 64">
            <a:extLst xmlns:a="http://schemas.openxmlformats.org/drawingml/2006/main">
              <a:ext uri="{FF2B5EF4-FFF2-40B4-BE49-F238E27FC236}">
                <a16:creationId xmlns:a16="http://schemas.microsoft.com/office/drawing/2014/main" id="{AD250157-9495-4CB3-B5D7-615203B55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600" y="5257800"/>
            <a:ext cx="5067300" cy="742950"/>
          </a:xfrm>
          <a:prstGeom xmlns:a="http://schemas.openxmlformats.org/drawingml/2006/main" prst="roundRect">
            <a:avLst>
              <a:gd name="adj" fmla="val 20513"/>
            </a:avLst>
          </a:prstGeom>
          <a:solidFill xmlns:a="http://schemas.openxmlformats.org/drawingml/2006/main">
            <a:schemeClr val="lt2"/>
          </a:solidFill>
          <a:ln xmlns:a="http://schemas.openxmlformats.org/drawingml/2006/main">
            <a:noFill/>
          </a:ln>
        </p:spPr>
      </p:sp>
      <p:sp>
        <p:nvSpPr>
          <p:cNvPr id="65" name="TextBox 65">
            <a:extLst xmlns:a="http://schemas.openxmlformats.org/drawingml/2006/main">
              <a:ext uri="{FF2B5EF4-FFF2-40B4-BE49-F238E27FC236}">
                <a16:creationId xmlns:a16="http://schemas.microsoft.com/office/drawing/2014/main" id="{3BC12D7B-AD4C-48E9-AE1E-6039220D3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67918" y="5403532"/>
            <a:ext cx="1127379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>
                <a:solidFill>
                  <a:srgbClr val="5B7388"/>
                </a:solidFill>
                <a:latin typeface="+mn-lt"/>
                <a:ea typeface="+mn-lt"/>
                <a:cs typeface="+mn-lt"/>
              </a:rPr>
              <a:t>完整任务链</a:t>
            </a:r>
          </a:p>
        </p:txBody>
      </p:sp>
      <p:sp>
        <p:nvSpPr>
          <p:cNvPr id="66" name="TextBox 66">
            <a:extLst xmlns:a="http://schemas.openxmlformats.org/drawingml/2006/main">
              <a:ext uri="{FF2B5EF4-FFF2-40B4-BE49-F238E27FC236}">
                <a16:creationId xmlns:a16="http://schemas.microsoft.com/office/drawing/2014/main" id="{8B46BCF2-C600-4A3A-92CB-B6C6DA770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64870" y="5624512"/>
            <a:ext cx="4936574" cy="4400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chemeClr val="accent1"/>
                </a:solidFill>
                <a:latin typeface="+mn-lt"/>
                <a:ea typeface="+mn-lt"/>
                <a:cs typeface="+mn-lt"/>
              </a:rPr>
              <a:t>可暂停 · 可恢复 · 可验证 · 可追溯</a:t>
            </a:r>
          </a:p>
        </p:txBody>
      </p:sp>
      <p:sp>
        <p:nvSpPr>
          <p:cNvPr id="68" name="TextBox 68">
            <a:extLst xmlns:a="http://schemas.openxmlformats.org/drawingml/2006/main">
              <a:ext uri="{FF2B5EF4-FFF2-40B4-BE49-F238E27FC236}">
                <a16:creationId xmlns:a16="http://schemas.microsoft.com/office/drawing/2014/main" id="{9E4A47D9-82B1-43C1-AAE3-D659A5298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3504" y="6271260"/>
            <a:ext cx="4373880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>
                <a:solidFill>
                  <a:srgbClr val="5B7388"/>
                </a:solidFill>
                <a:latin typeface="+mn-lt"/>
                <a:ea typeface="+mn-lt"/>
                <a:cs typeface="+mn-lt"/>
              </a:rPr>
              <a:t>闭环终点是可审计的执行意图，不是对真实设备的直接控制。</a:t>
            </a:r>
          </a:p>
        </p:txBody>
      </p:sp>
      <p:sp>
        <p:nvSpPr>
          <p:cNvPr id="69" name="TextBox 69">
            <a:extLst xmlns:a="http://schemas.openxmlformats.org/drawingml/2006/main">
              <a:ext uri="{FF2B5EF4-FFF2-40B4-BE49-F238E27FC236}">
                <a16:creationId xmlns:a16="http://schemas.microsoft.com/office/drawing/2014/main" id="{217DCE45-EDA7-41D2-A160-BEBA741A1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398606" y="6271260"/>
            <a:ext cx="189890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200">
                <a:solidFill>
                  <a:srgbClr val="7E9AAA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87372124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2">
            <a:extLst xmlns:a="http://schemas.openxmlformats.org/drawingml/2006/main">
              <a:ext uri="{FF2B5EF4-FFF2-40B4-BE49-F238E27FC236}">
                <a16:creationId xmlns:a16="http://schemas.microsoft.com/office/drawing/2014/main" id="{C2AFEE7E-AB8F-44C9-A4FD-038A4695E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91312" y="411480"/>
            <a:ext cx="9795236" cy="704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600" b="1">
                <a:solidFill>
                  <a:schemeClr val="accent1"/>
                </a:solidFill>
                <a:latin typeface="+mn-lt"/>
                <a:ea typeface="+mn-lt"/>
                <a:cs typeface="+mn-lt"/>
              </a:rPr>
              <a:t>AI 负责理解世界，可信内核负责约束世界</a:t>
            </a:r>
          </a:p>
        </p:txBody>
      </p:sp>
      <p:sp>
        <p:nvSpPr>
          <p:cNvPr id="3" name="TextBox 3">
            <a:extLst xmlns:a="http://schemas.openxmlformats.org/drawingml/2006/main">
              <a:ext uri="{FF2B5EF4-FFF2-40B4-BE49-F238E27FC236}">
                <a16:creationId xmlns:a16="http://schemas.microsoft.com/office/drawing/2014/main" id="{D0A1F801-1431-4D07-88C2-D86A308B2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1218" y="1022032"/>
            <a:ext cx="5942838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>
                <a:solidFill>
                  <a:srgbClr val="5B7388"/>
                </a:solidFill>
                <a:latin typeface="+mn-lt"/>
                <a:ea typeface="+mn-lt"/>
                <a:cs typeface="+mn-lt"/>
              </a:rPr>
              <a:t>“有界”不是少用 AI，而是把概率能力放在适合它的位置。</a:t>
            </a:r>
          </a:p>
        </p:txBody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BD683AD1-E53C-4709-A1C4-1D31BE93D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23900" y="1752600"/>
            <a:ext cx="10744200" cy="1600200"/>
          </a:xfrm>
          <a:custGeom xmlns:a="http://schemas.openxmlformats.org/drawingml/2006/main">
            <a:rect l="l" t="t" r="r" b="b"/>
            <a:pathLst>
              <a:path w="10744200" h="1600200">
                <a:moveTo>
                  <a:pt x="0" y="0"/>
                </a:moveTo>
                <a:lnTo>
                  <a:pt x="10744200" y="0"/>
                </a:lnTo>
                <a:lnTo>
                  <a:pt x="10744200" y="1600200"/>
                </a:lnTo>
                <a:lnTo>
                  <a:pt x="0" y="1600200"/>
                </a:lnTo>
                <a:close/>
              </a:path>
            </a:pathLst>
          </a:custGeom>
          <a:solidFill xmlns:a="http://schemas.openxmlformats.org/drawingml/2006/main">
            <a:srgbClr val="F0EEFF"/>
          </a:solidFill>
          <a:ln xmlns:a="http://schemas.openxmlformats.org/drawingml/2006/main" w="19050">
            <a:solidFill>
              <a:srgbClr val="CDC8FF"/>
            </a:solidFill>
          </a:ln>
        </p:spPr>
      </p:sp>
      <p:sp>
        <p:nvSpPr>
          <p:cNvPr id="5" name="Ellipse 5">
            <a:extLst xmlns:a="http://schemas.openxmlformats.org/drawingml/2006/main">
              <a:ext uri="{FF2B5EF4-FFF2-40B4-BE49-F238E27FC236}">
                <a16:creationId xmlns:a16="http://schemas.microsoft.com/office/drawing/2014/main" id="{51C30238-7670-4EEB-B9EE-D5192B8B3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14400" y="2076450"/>
            <a:ext cx="952500" cy="952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3"/>
          </a:solidFill>
          <a:ln xmlns:a="http://schemas.openxmlformats.org/drawingml/2006/main">
            <a:noFill/>
          </a:ln>
        </p:spPr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077CF63D-F0A9-450E-B5E5-D43EDBDF7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247775" y="2362200"/>
            <a:ext cx="285750" cy="190500"/>
          </a:xfrm>
          <a:custGeom xmlns:a="http://schemas.openxmlformats.org/drawingml/2006/main">
            <a:rect l="l" t="t" r="r" b="b"/>
            <a:pathLst>
              <a:path w="285750" h="190500">
                <a:moveTo>
                  <a:pt x="0" y="47625"/>
                </a:moveTo>
                <a:cubicBezTo>
                  <a:pt x="0" y="21322"/>
                  <a:pt x="21322" y="0"/>
                  <a:pt x="47625" y="0"/>
                </a:cubicBezTo>
                <a:lnTo>
                  <a:pt x="238125" y="0"/>
                </a:lnTo>
                <a:cubicBezTo>
                  <a:pt x="264428" y="0"/>
                  <a:pt x="285750" y="21322"/>
                  <a:pt x="285750" y="47625"/>
                </a:cubicBezTo>
                <a:lnTo>
                  <a:pt x="285750" y="142875"/>
                </a:lnTo>
                <a:cubicBezTo>
                  <a:pt x="285750" y="169178"/>
                  <a:pt x="264428" y="190500"/>
                  <a:pt x="238125" y="190500"/>
                </a:cubicBezTo>
                <a:lnTo>
                  <a:pt x="47625" y="190500"/>
                </a:lnTo>
                <a:cubicBezTo>
                  <a:pt x="21322" y="190500"/>
                  <a:pt x="0" y="169178"/>
                  <a:pt x="0" y="142875"/>
                </a:cubicBezTo>
                <a:lnTo>
                  <a:pt x="0" y="47625"/>
                </a:lnTo>
              </a:path>
            </a:pathLst>
          </a:custGeom>
          <a:noFill xmlns:a="http://schemas.openxmlformats.org/drawingml/2006/main"/>
          <a:ln xmlns:a="http://schemas.openxmlformats.org/drawingml/2006/main" w="47625">
            <a:solidFill>
              <a:srgbClr val="FFFFFF"/>
            </a:solidFill>
          </a:ln>
        </p:spPr>
      </p:sp>
      <p:sp>
        <p:nvSpPr>
          <p:cNvPr id="7" name="Freeform 7">
            <a:extLst xmlns:a="http://schemas.openxmlformats.org/drawingml/2006/main">
              <a:ext uri="{FF2B5EF4-FFF2-40B4-BE49-F238E27FC236}">
                <a16:creationId xmlns:a16="http://schemas.microsoft.com/office/drawing/2014/main" id="{B93A0E2C-D225-4085-A9FA-8CCDD378B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390650" y="2314575"/>
            <a:ext cx="9525" cy="47625"/>
          </a:xfrm>
          <a:custGeom xmlns:a="http://schemas.openxmlformats.org/drawingml/2006/main">
            <a:rect l="l" t="t" r="r" b="b"/>
            <a:pathLst>
              <a:path w="9525" h="47625">
                <a:moveTo>
                  <a:pt x="0" y="0"/>
                </a:moveTo>
                <a:lnTo>
                  <a:pt x="0" y="47625"/>
                </a:lnTo>
              </a:path>
            </a:pathLst>
          </a:custGeom>
          <a:noFill xmlns:a="http://schemas.openxmlformats.org/drawingml/2006/main"/>
          <a:ln xmlns:a="http://schemas.openxmlformats.org/drawingml/2006/main" w="47625">
            <a:solidFill>
              <a:srgbClr val="FFFFFF"/>
            </a:solidFill>
          </a:ln>
        </p:spPr>
      </p:sp>
      <p:sp>
        <p:nvSpPr>
          <p:cNvPr id="8" name="Freeform 8">
            <a:extLst xmlns:a="http://schemas.openxmlformats.org/drawingml/2006/main">
              <a:ext uri="{FF2B5EF4-FFF2-40B4-BE49-F238E27FC236}">
                <a16:creationId xmlns:a16="http://schemas.microsoft.com/office/drawing/2014/main" id="{516843DB-C4E1-4802-B559-D806B7B73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319212" y="2552700"/>
            <a:ext cx="9525" cy="214312"/>
          </a:xfrm>
          <a:custGeom xmlns:a="http://schemas.openxmlformats.org/drawingml/2006/main">
            <a:rect l="l" t="t" r="r" b="b"/>
            <a:pathLst>
              <a:path w="9525" h="214312">
                <a:moveTo>
                  <a:pt x="0" y="0"/>
                </a:moveTo>
                <a:lnTo>
                  <a:pt x="0" y="214312"/>
                </a:lnTo>
              </a:path>
            </a:pathLst>
          </a:custGeom>
          <a:noFill xmlns:a="http://schemas.openxmlformats.org/drawingml/2006/main"/>
          <a:ln xmlns:a="http://schemas.openxmlformats.org/drawingml/2006/main" w="47625">
            <a:solidFill>
              <a:srgbClr val="FFFFFF"/>
            </a:solidFill>
          </a:ln>
        </p:spPr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FB058AD6-4908-4088-AC54-F31225538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462088" y="2552700"/>
            <a:ext cx="9525" cy="214312"/>
          </a:xfrm>
          <a:custGeom xmlns:a="http://schemas.openxmlformats.org/drawingml/2006/main">
            <a:rect l="l" t="t" r="r" b="b"/>
            <a:pathLst>
              <a:path w="9525" h="214312">
                <a:moveTo>
                  <a:pt x="0" y="0"/>
                </a:moveTo>
                <a:lnTo>
                  <a:pt x="0" y="214312"/>
                </a:lnTo>
              </a:path>
            </a:pathLst>
          </a:custGeom>
          <a:noFill xmlns:a="http://schemas.openxmlformats.org/drawingml/2006/main"/>
          <a:ln xmlns:a="http://schemas.openxmlformats.org/drawingml/2006/main" w="47625">
            <a:solidFill>
              <a:srgbClr val="FFFFFF"/>
            </a:solidFill>
          </a:ln>
        </p:spPr>
      </p:sp>
      <p:sp>
        <p:nvSpPr>
          <p:cNvPr id="10" name="Freeform 10">
            <a:extLst xmlns:a="http://schemas.openxmlformats.org/drawingml/2006/main">
              <a:ext uri="{FF2B5EF4-FFF2-40B4-BE49-F238E27FC236}">
                <a16:creationId xmlns:a16="http://schemas.microsoft.com/office/drawing/2014/main" id="{5E91681A-CDE6-4E53-8DBB-818FEFCAF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223962" y="2600325"/>
            <a:ext cx="95250" cy="47625"/>
          </a:xfrm>
          <a:custGeom xmlns:a="http://schemas.openxmlformats.org/drawingml/2006/main">
            <a:rect l="l" t="t" r="r" b="b"/>
            <a:pathLst>
              <a:path w="95250" h="47625">
                <a:moveTo>
                  <a:pt x="0" y="47625"/>
                </a:moveTo>
                <a:lnTo>
                  <a:pt x="95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47625">
            <a:solidFill>
              <a:srgbClr val="FFFFFF"/>
            </a:solidFill>
          </a:ln>
        </p:spPr>
      </p:sp>
      <p:sp>
        <p:nvSpPr>
          <p:cNvPr id="11" name="Freeform 11">
            <a:extLst xmlns:a="http://schemas.openxmlformats.org/drawingml/2006/main">
              <a:ext uri="{FF2B5EF4-FFF2-40B4-BE49-F238E27FC236}">
                <a16:creationId xmlns:a16="http://schemas.microsoft.com/office/drawing/2014/main" id="{963D6C12-420B-466E-BB56-064B8EA4E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462088" y="2600325"/>
            <a:ext cx="95250" cy="47625"/>
          </a:xfrm>
          <a:custGeom xmlns:a="http://schemas.openxmlformats.org/drawingml/2006/main">
            <a:rect l="l" t="t" r="r" b="b"/>
            <a:pathLst>
              <a:path w="95250" h="47625">
                <a:moveTo>
                  <a:pt x="0" y="0"/>
                </a:moveTo>
                <a:lnTo>
                  <a:pt x="95250" y="47625"/>
                </a:lnTo>
              </a:path>
            </a:pathLst>
          </a:custGeom>
          <a:noFill xmlns:a="http://schemas.openxmlformats.org/drawingml/2006/main"/>
          <a:ln xmlns:a="http://schemas.openxmlformats.org/drawingml/2006/main" w="47625">
            <a:solidFill>
              <a:srgbClr val="FFFFFF"/>
            </a:solidFill>
          </a:ln>
        </p:spPr>
      </p:sp>
      <p:sp>
        <p:nvSpPr>
          <p:cNvPr id="12" name="Freeform 12">
            <a:extLst xmlns:a="http://schemas.openxmlformats.org/drawingml/2006/main">
              <a:ext uri="{FF2B5EF4-FFF2-40B4-BE49-F238E27FC236}">
                <a16:creationId xmlns:a16="http://schemas.microsoft.com/office/drawing/2014/main" id="{6D54076E-A756-4475-AFD3-5669D3C6B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319212" y="2695575"/>
            <a:ext cx="142875" cy="9525"/>
          </a:xfrm>
          <a:custGeom xmlns:a="http://schemas.openxmlformats.org/drawingml/2006/main">
            <a:rect l="l" t="t" r="r" b="b"/>
            <a:pathLst>
              <a:path w="142875" h="9525">
                <a:moveTo>
                  <a:pt x="0" y="0"/>
                </a:moveTo>
                <a:lnTo>
                  <a:pt x="1428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47625">
            <a:solidFill>
              <a:srgbClr val="FFFFFF"/>
            </a:solidFill>
          </a:ln>
        </p:spPr>
      </p:sp>
      <p:sp>
        <p:nvSpPr>
          <p:cNvPr id="13" name="Freeform 13">
            <a:extLst xmlns:a="http://schemas.openxmlformats.org/drawingml/2006/main">
              <a:ext uri="{FF2B5EF4-FFF2-40B4-BE49-F238E27FC236}">
                <a16:creationId xmlns:a16="http://schemas.microsoft.com/office/drawing/2014/main" id="{E5D4AB59-F665-4AB6-B4FD-DA5EDEBF0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343025" y="2457450"/>
            <a:ext cx="9525" cy="9525"/>
          </a:xfrm>
          <a:custGeom xmlns:a="http://schemas.openxmlformats.org/drawingml/2006/main">
            <a:rect l="l" t="t" r="r" b="b"/>
            <a:pathLst>
              <a:path w="9525" h="9525">
                <a:moveTo>
                  <a:pt x="0" y="0"/>
                </a:moveTo>
                <a:lnTo>
                  <a:pt x="0" y="238"/>
                </a:lnTo>
              </a:path>
            </a:pathLst>
          </a:custGeom>
          <a:noFill xmlns:a="http://schemas.openxmlformats.org/drawingml/2006/main"/>
          <a:ln xmlns:a="http://schemas.openxmlformats.org/drawingml/2006/main" w="47625">
            <a:solidFill>
              <a:srgbClr val="FFFFFF"/>
            </a:solidFill>
          </a:ln>
        </p:spPr>
      </p:sp>
      <p:sp>
        <p:nvSpPr>
          <p:cNvPr id="14" name="Freeform 14">
            <a:extLst xmlns:a="http://schemas.openxmlformats.org/drawingml/2006/main">
              <a:ext uri="{FF2B5EF4-FFF2-40B4-BE49-F238E27FC236}">
                <a16:creationId xmlns:a16="http://schemas.microsoft.com/office/drawing/2014/main" id="{1C23C6C6-13E5-4A99-9675-39EAA0BAA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438275" y="2457450"/>
            <a:ext cx="9525" cy="9525"/>
          </a:xfrm>
          <a:custGeom xmlns:a="http://schemas.openxmlformats.org/drawingml/2006/main">
            <a:rect l="l" t="t" r="r" b="b"/>
            <a:pathLst>
              <a:path w="9525" h="9525">
                <a:moveTo>
                  <a:pt x="0" y="0"/>
                </a:moveTo>
                <a:lnTo>
                  <a:pt x="0" y="238"/>
                </a:lnTo>
              </a:path>
            </a:pathLst>
          </a:custGeom>
          <a:noFill xmlns:a="http://schemas.openxmlformats.org/drawingml/2006/main"/>
          <a:ln xmlns:a="http://schemas.openxmlformats.org/drawingml/2006/main" w="47625">
            <a:solidFill>
              <a:srgbClr val="FFFFFF"/>
            </a:solidFill>
          </a:ln>
        </p:spPr>
      </p:sp>
      <p:sp>
        <p:nvSpPr>
          <p:cNvPr id="16" name="TextBox 16">
            <a:extLst xmlns:a="http://schemas.openxmlformats.org/drawingml/2006/main">
              <a:ext uri="{FF2B5EF4-FFF2-40B4-BE49-F238E27FC236}">
                <a16:creationId xmlns:a16="http://schemas.microsoft.com/office/drawing/2014/main" id="{47E32D9B-7A81-4A35-B23C-E7696058A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082546" y="1991678"/>
            <a:ext cx="2231288" cy="4987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50" b="1">
                <a:solidFill>
                  <a:srgbClr val="4B45B7"/>
                </a:solidFill>
                <a:latin typeface="+mn-lt"/>
                <a:ea typeface="+mn-lt"/>
                <a:cs typeface="+mn-lt"/>
              </a:rPr>
              <a:t>Agent 控制面</a:t>
            </a:r>
          </a:p>
        </p:txBody>
      </p:sp>
      <p:sp>
        <p:nvSpPr>
          <p:cNvPr id="17" name="TextBox 17">
            <a:extLst xmlns:a="http://schemas.openxmlformats.org/drawingml/2006/main">
              <a:ext uri="{FF2B5EF4-FFF2-40B4-BE49-F238E27FC236}">
                <a16:creationId xmlns:a16="http://schemas.microsoft.com/office/drawing/2014/main" id="{B7C32D82-6BBA-47D7-9619-5DF390CF9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084070" y="2443162"/>
            <a:ext cx="4445127" cy="4400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>
                <a:solidFill>
                  <a:schemeClr val="dk1"/>
                </a:solidFill>
                <a:latin typeface="+mn-lt"/>
                <a:ea typeface="+mn-lt"/>
                <a:cs typeface="+mn-lt"/>
              </a:rPr>
              <a:t>理解 · 追问 · 规划 · 检索 · 解释</a:t>
            </a:r>
          </a:p>
        </p:txBody>
      </p:sp>
      <p:sp>
        <p:nvSpPr>
          <p:cNvPr id="18" name="TextBox 18">
            <a:extLst xmlns:a="http://schemas.openxmlformats.org/drawingml/2006/main">
              <a:ext uri="{FF2B5EF4-FFF2-40B4-BE49-F238E27FC236}">
                <a16:creationId xmlns:a16="http://schemas.microsoft.com/office/drawing/2014/main" id="{2D6CED7D-9CFB-4B9C-AC7A-6D5110A82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087118" y="2879408"/>
            <a:ext cx="6014085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>
                <a:solidFill>
                  <a:srgbClr val="5B7388"/>
                </a:solidFill>
                <a:latin typeface="+mn-lt"/>
                <a:ea typeface="+mn-lt"/>
                <a:cs typeface="+mn-lt"/>
              </a:rPr>
              <a:t>把邮件、聊天和规则文档转成带来源的候选事件与白名单任务</a:t>
            </a:r>
          </a:p>
        </p:txBody>
      </p:sp>
      <p:sp>
        <p:nvSpPr>
          <p:cNvPr id="19" name="Freeform 19">
            <a:extLst xmlns:a="http://schemas.openxmlformats.org/drawingml/2006/main">
              <a:ext uri="{FF2B5EF4-FFF2-40B4-BE49-F238E27FC236}">
                <a16:creationId xmlns:a16="http://schemas.microsoft.com/office/drawing/2014/main" id="{660B187E-A8D7-4A9A-A99A-76E69E565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905750" y="2114550"/>
            <a:ext cx="2933700" cy="9525"/>
          </a:xfrm>
          <a:custGeom xmlns:a="http://schemas.openxmlformats.org/drawingml/2006/main">
            <a:rect l="l" t="t" r="r" b="b"/>
            <a:pathLst>
              <a:path w="2933700" h="9525">
                <a:moveTo>
                  <a:pt x="0" y="0"/>
                </a:moveTo>
                <a:lnTo>
                  <a:pt x="29337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chemeClr val="accent3"/>
            </a:solidFill>
          </a:ln>
        </p:spPr>
      </p:sp>
      <p:sp>
        <p:nvSpPr>
          <p:cNvPr id="20" name="TextBox 20">
            <a:extLst xmlns:a="http://schemas.openxmlformats.org/drawingml/2006/main">
              <a:ext uri="{FF2B5EF4-FFF2-40B4-BE49-F238E27FC236}">
                <a16:creationId xmlns:a16="http://schemas.microsoft.com/office/drawing/2014/main" id="{96CB6212-CD4B-4A43-AAA1-6ABBF93F5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897368" y="1774508"/>
            <a:ext cx="1182910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1">
                <a:solidFill>
                  <a:srgbClr val="4B45B7"/>
                </a:solidFill>
                <a:latin typeface="+mn-lt"/>
                <a:ea typeface="+mn-lt"/>
                <a:cs typeface="+mn-lt"/>
              </a:rPr>
              <a:t>关键参与点</a:t>
            </a:r>
          </a:p>
        </p:txBody>
      </p:sp>
      <p:sp>
        <p:nvSpPr>
          <p:cNvPr id="21" name="TextBox 21">
            <a:extLst xmlns:a="http://schemas.openxmlformats.org/drawingml/2006/main">
              <a:ext uri="{FF2B5EF4-FFF2-40B4-BE49-F238E27FC236}">
                <a16:creationId xmlns:a16="http://schemas.microsoft.com/office/drawing/2014/main" id="{0E0010BF-7E0B-41C1-9A0A-2E05E7104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897368" y="2279332"/>
            <a:ext cx="3426352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>
                <a:solidFill>
                  <a:schemeClr val="dk1"/>
                </a:solidFill>
                <a:latin typeface="+mn-lt"/>
                <a:ea typeface="+mn-lt"/>
                <a:cs typeface="+mn-lt"/>
              </a:rPr>
              <a:t>原文 span · 缺失/冲突 · 工具计划</a:t>
            </a:r>
          </a:p>
        </p:txBody>
      </p:sp>
      <p:sp>
        <p:nvSpPr>
          <p:cNvPr id="22" name="TextBox 22">
            <a:extLst xmlns:a="http://schemas.openxmlformats.org/drawingml/2006/main">
              <a:ext uri="{FF2B5EF4-FFF2-40B4-BE49-F238E27FC236}">
                <a16:creationId xmlns:a16="http://schemas.microsoft.com/office/drawing/2014/main" id="{295C99C4-57A0-4D63-928C-B70FEA626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897368" y="2679382"/>
            <a:ext cx="3415246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>
                <a:solidFill>
                  <a:schemeClr val="dk1"/>
                </a:solidFill>
                <a:latin typeface="+mn-lt"/>
                <a:ea typeface="+mn-lt"/>
                <a:cs typeface="+mn-lt"/>
              </a:rPr>
              <a:t>政策引用 · 多轮上下文 · 方案解释</a:t>
            </a:r>
          </a:p>
        </p:txBody>
      </p:sp>
      <p:sp>
        <p:nvSpPr>
          <p:cNvPr id="24" name="Freeform 24">
            <a:extLst xmlns:a="http://schemas.openxmlformats.org/drawingml/2006/main">
              <a:ext uri="{FF2B5EF4-FFF2-40B4-BE49-F238E27FC236}">
                <a16:creationId xmlns:a16="http://schemas.microsoft.com/office/drawing/2014/main" id="{0A1B4BA1-1E9E-41B7-9E0D-93B271D6E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23900" y="3676650"/>
            <a:ext cx="10744200" cy="1885950"/>
          </a:xfrm>
          <a:custGeom xmlns:a="http://schemas.openxmlformats.org/drawingml/2006/main">
            <a:rect l="l" t="t" r="r" b="b"/>
            <a:pathLst>
              <a:path w="10744200" h="1885950">
                <a:moveTo>
                  <a:pt x="0" y="0"/>
                </a:moveTo>
                <a:lnTo>
                  <a:pt x="10744200" y="0"/>
                </a:lnTo>
                <a:lnTo>
                  <a:pt x="10744200" y="1885950"/>
                </a:lnTo>
                <a:lnTo>
                  <a:pt x="0" y="1885950"/>
                </a:lnTo>
                <a:close/>
              </a:path>
            </a:pathLst>
          </a:custGeom>
          <a:solidFill xmlns:a="http://schemas.openxmlformats.org/drawingml/2006/main">
            <a:schemeClr val="lt2"/>
          </a:solidFill>
          <a:ln xmlns:a="http://schemas.openxmlformats.org/drawingml/2006/main" w="19050">
            <a:solidFill>
              <a:schemeClr val="accent5"/>
            </a:solidFill>
          </a:ln>
        </p:spPr>
      </p:sp>
      <p:sp>
        <p:nvSpPr>
          <p:cNvPr id="25" name="Ellipse 25">
            <a:extLst xmlns:a="http://schemas.openxmlformats.org/drawingml/2006/main">
              <a:ext uri="{FF2B5EF4-FFF2-40B4-BE49-F238E27FC236}">
                <a16:creationId xmlns:a16="http://schemas.microsoft.com/office/drawing/2014/main" id="{2EAE36C2-CB04-41B9-BE51-C4AB03921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14400" y="4133850"/>
            <a:ext cx="952500" cy="952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</p:sp>
      <p:sp>
        <p:nvSpPr>
          <p:cNvPr id="26" name="Freeform 26">
            <a:extLst xmlns:a="http://schemas.openxmlformats.org/drawingml/2006/main">
              <a:ext uri="{FF2B5EF4-FFF2-40B4-BE49-F238E27FC236}">
                <a16:creationId xmlns:a16="http://schemas.microsoft.com/office/drawing/2014/main" id="{2356E5E8-FCB4-467C-955A-52BE043A4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4201" y="4395788"/>
            <a:ext cx="465016" cy="424958"/>
          </a:xfrm>
          <a:custGeom xmlns:a="http://schemas.openxmlformats.org/drawingml/2006/main">
            <a:rect l="l" t="t" r="r" b="b"/>
            <a:pathLst>
              <a:path w="465016" h="424958">
                <a:moveTo>
                  <a:pt x="233590" y="424958"/>
                </a:moveTo>
                <a:cubicBezTo>
                  <a:pt x="84415" y="378717"/>
                  <a:pt x="0" y="221276"/>
                  <a:pt x="44042" y="71438"/>
                </a:cubicBezTo>
                <a:cubicBezTo>
                  <a:pt x="118231" y="74832"/>
                  <a:pt x="190827" y="49210"/>
                  <a:pt x="246449" y="0"/>
                </a:cubicBezTo>
                <a:cubicBezTo>
                  <a:pt x="302071" y="49210"/>
                  <a:pt x="374666" y="74832"/>
                  <a:pt x="448855" y="71438"/>
                </a:cubicBezTo>
                <a:cubicBezTo>
                  <a:pt x="465016" y="126423"/>
                  <a:pt x="464269" y="184998"/>
                  <a:pt x="446712" y="239554"/>
                </a:cubicBezTo>
              </a:path>
            </a:pathLst>
          </a:custGeom>
          <a:noFill xmlns:a="http://schemas.openxmlformats.org/drawingml/2006/main"/>
          <a:ln xmlns:a="http://schemas.openxmlformats.org/drawingml/2006/main" w="47625">
            <a:solidFill>
              <a:srgbClr val="FFFFFF"/>
            </a:solidFill>
          </a:ln>
        </p:spPr>
      </p:sp>
      <p:sp>
        <p:nvSpPr>
          <p:cNvPr id="27" name="Freeform 27">
            <a:extLst xmlns:a="http://schemas.openxmlformats.org/drawingml/2006/main">
              <a:ext uri="{FF2B5EF4-FFF2-40B4-BE49-F238E27FC236}">
                <a16:creationId xmlns:a16="http://schemas.microsoft.com/office/drawing/2014/main" id="{EBF3433C-9D52-4278-B0CF-14655BE02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462088" y="4729162"/>
            <a:ext cx="142875" cy="95250"/>
          </a:xfrm>
          <a:custGeom xmlns:a="http://schemas.openxmlformats.org/drawingml/2006/main">
            <a:rect l="l" t="t" r="r" b="b"/>
            <a:pathLst>
              <a:path w="142875" h="95250">
                <a:moveTo>
                  <a:pt x="0" y="47625"/>
                </a:moveTo>
                <a:lnTo>
                  <a:pt x="47625" y="95250"/>
                </a:lnTo>
                <a:lnTo>
                  <a:pt x="1428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47625">
            <a:solidFill>
              <a:srgbClr val="FFFFFF"/>
            </a:solidFill>
          </a:ln>
        </p:spPr>
      </p:sp>
      <p:sp>
        <p:nvSpPr>
          <p:cNvPr id="29" name="TextBox 29">
            <a:extLst xmlns:a="http://schemas.openxmlformats.org/drawingml/2006/main">
              <a:ext uri="{FF2B5EF4-FFF2-40B4-BE49-F238E27FC236}">
                <a16:creationId xmlns:a16="http://schemas.microsoft.com/office/drawing/2014/main" id="{00B58B9A-862E-487D-961C-2206E937D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082546" y="3896678"/>
            <a:ext cx="2549023" cy="4987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50" b="1">
                <a:solidFill>
                  <a:schemeClr val="accent1"/>
                </a:solidFill>
                <a:latin typeface="+mn-lt"/>
                <a:ea typeface="+mn-lt"/>
                <a:cs typeface="+mn-lt"/>
              </a:rPr>
              <a:t>确定性可信内核</a:t>
            </a:r>
          </a:p>
        </p:txBody>
      </p:sp>
      <p:sp>
        <p:nvSpPr>
          <p:cNvPr id="30" name="TextBox 30">
            <a:extLst xmlns:a="http://schemas.openxmlformats.org/drawingml/2006/main">
              <a:ext uri="{FF2B5EF4-FFF2-40B4-BE49-F238E27FC236}">
                <a16:creationId xmlns:a16="http://schemas.microsoft.com/office/drawing/2014/main" id="{5B9242BD-7920-41E7-8EF6-F56592560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084070" y="4348162"/>
            <a:ext cx="6205490" cy="4400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>
                <a:solidFill>
                  <a:schemeClr val="dk1"/>
                </a:solidFill>
                <a:latin typeface="+mn-lt"/>
                <a:ea typeface="+mn-lt"/>
                <a:cs typeface="+mn-lt"/>
              </a:rPr>
              <a:t>BOM · 库存 · CP-SAT · verifier · 审批门禁</a:t>
            </a:r>
          </a:p>
        </p:txBody>
      </p:sp>
      <p:sp>
        <p:nvSpPr>
          <p:cNvPr id="31" name="TextBox 31">
            <a:extLst xmlns:a="http://schemas.openxmlformats.org/drawingml/2006/main">
              <a:ext uri="{FF2B5EF4-FFF2-40B4-BE49-F238E27FC236}">
                <a16:creationId xmlns:a16="http://schemas.microsoft.com/office/drawing/2014/main" id="{5E6B2B6B-7D54-4832-8307-D0FFCD497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087118" y="4784408"/>
            <a:ext cx="5569839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>
                <a:solidFill>
                  <a:srgbClr val="5B7388"/>
                </a:solidFill>
                <a:latin typeface="+mn-lt"/>
                <a:ea typeface="+mn-lt"/>
                <a:cs typeface="+mn-lt"/>
              </a:rPr>
              <a:t>数值、可行性、状态转换和执行权限全部可重放、可测试</a:t>
            </a:r>
          </a:p>
        </p:txBody>
      </p:sp>
      <p:sp>
        <p:nvSpPr>
          <p:cNvPr id="32" name="Freeform 32">
            <a:extLst xmlns:a="http://schemas.openxmlformats.org/drawingml/2006/main">
              <a:ext uri="{FF2B5EF4-FFF2-40B4-BE49-F238E27FC236}">
                <a16:creationId xmlns:a16="http://schemas.microsoft.com/office/drawing/2014/main" id="{4905BBAD-8460-434E-BB94-02BB7830E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905750" y="4095750"/>
            <a:ext cx="2933700" cy="9525"/>
          </a:xfrm>
          <a:custGeom xmlns:a="http://schemas.openxmlformats.org/drawingml/2006/main">
            <a:rect l="l" t="t" r="r" b="b"/>
            <a:pathLst>
              <a:path w="2933700" h="9525">
                <a:moveTo>
                  <a:pt x="0" y="0"/>
                </a:moveTo>
                <a:lnTo>
                  <a:pt x="29337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chemeClr val="accent2"/>
            </a:solidFill>
          </a:ln>
        </p:spPr>
      </p:sp>
      <p:sp>
        <p:nvSpPr>
          <p:cNvPr id="33" name="TextBox 33">
            <a:extLst xmlns:a="http://schemas.openxmlformats.org/drawingml/2006/main">
              <a:ext uri="{FF2B5EF4-FFF2-40B4-BE49-F238E27FC236}">
                <a16:creationId xmlns:a16="http://schemas.microsoft.com/office/drawing/2014/main" id="{E6343F69-8445-495A-8191-163E33358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897368" y="3755708"/>
            <a:ext cx="1679644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1">
                <a:solidFill>
                  <a:schemeClr val="accent1"/>
                </a:solidFill>
                <a:latin typeface="+mn-lt"/>
                <a:ea typeface="+mn-lt"/>
                <a:cs typeface="+mn-lt"/>
              </a:rPr>
              <a:t>Agent 无权触碰</a:t>
            </a:r>
          </a:p>
        </p:txBody>
      </p:sp>
      <p:sp>
        <p:nvSpPr>
          <p:cNvPr id="34" name="TextBox 34">
            <a:extLst xmlns:a="http://schemas.openxmlformats.org/drawingml/2006/main">
              <a:ext uri="{FF2B5EF4-FFF2-40B4-BE49-F238E27FC236}">
                <a16:creationId xmlns:a16="http://schemas.microsoft.com/office/drawing/2014/main" id="{96C4A1DA-BCF5-4635-80FE-F4CB29798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897368" y="4260532"/>
            <a:ext cx="2971000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>
                <a:solidFill>
                  <a:srgbClr val="A82C34"/>
                </a:solidFill>
                <a:latin typeface="+mn-lt"/>
                <a:ea typeface="+mn-lt"/>
                <a:cs typeface="+mn-lt"/>
              </a:rPr>
              <a:t>算库存 · 伪造最优 · 自我批准</a:t>
            </a:r>
          </a:p>
        </p:txBody>
      </p:sp>
      <p:sp>
        <p:nvSpPr>
          <p:cNvPr id="35" name="TextBox 35">
            <a:extLst xmlns:a="http://schemas.openxmlformats.org/drawingml/2006/main">
              <a:ext uri="{FF2B5EF4-FFF2-40B4-BE49-F238E27FC236}">
                <a16:creationId xmlns:a16="http://schemas.microsoft.com/office/drawing/2014/main" id="{A39B57D5-6595-4306-8C54-E125115C7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897368" y="4660582"/>
            <a:ext cx="3185160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>
                <a:solidFill>
                  <a:srgbClr val="A82C34"/>
                </a:solidFill>
                <a:latin typeface="+mn-lt"/>
                <a:ea typeface="+mn-lt"/>
                <a:cs typeface="+mn-lt"/>
              </a:rPr>
              <a:t>写回 ERP/MES · 控制真实设备</a:t>
            </a:r>
          </a:p>
        </p:txBody>
      </p:sp>
      <p:sp>
        <p:nvSpPr>
          <p:cNvPr id="37" name="Line 37">
            <a:extLst xmlns:a="http://schemas.openxmlformats.org/drawingml/2006/main">
              <a:ext uri="{FF2B5EF4-FFF2-40B4-BE49-F238E27FC236}">
                <a16:creationId xmlns:a16="http://schemas.microsoft.com/office/drawing/2014/main" id="{C51B95B5-9F04-4144-8BDC-FE7F9BDD3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23900" y="3514725"/>
            <a:ext cx="10744200" cy="9525"/>
          </a:xfrm>
          <a:custGeom xmlns:a="http://schemas.openxmlformats.org/drawingml/2006/main">
            <a:rect l="l" t="t" r="r" b="b"/>
            <a:pathLst>
              <a:path w="10744200" h="9525">
                <a:moveTo>
                  <a:pt x="0" y="0"/>
                </a:moveTo>
                <a:lnTo>
                  <a:pt x="10744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chemeClr val="accent6"/>
            </a:solidFill>
          </a:ln>
        </p:spPr>
      </p:sp>
      <p:sp>
        <p:nvSpPr>
          <p:cNvPr id="38" name="Rectangle 38">
            <a:extLst xmlns:a="http://schemas.openxmlformats.org/drawingml/2006/main">
              <a:ext uri="{FF2B5EF4-FFF2-40B4-BE49-F238E27FC236}">
                <a16:creationId xmlns:a16="http://schemas.microsoft.com/office/drawing/2014/main" id="{BD4E589D-D05B-42AF-A73D-64BC3D24E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972050" y="3305175"/>
            <a:ext cx="22479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E8"/>
          </a:solidFill>
          <a:ln xmlns:a="http://schemas.openxmlformats.org/drawingml/2006/main" w="9525">
            <a:solidFill>
              <a:srgbClr val="FFCF8C"/>
            </a:solidFill>
          </a:ln>
        </p:spPr>
      </p:sp>
      <p:sp>
        <p:nvSpPr>
          <p:cNvPr id="39" name="Freeform 39">
            <a:extLst xmlns:a="http://schemas.openxmlformats.org/drawingml/2006/main">
              <a:ext uri="{FF2B5EF4-FFF2-40B4-BE49-F238E27FC236}">
                <a16:creationId xmlns:a16="http://schemas.microsoft.com/office/drawing/2014/main" id="{17C47370-25C2-44B5-8120-8BFBEC6B6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210175" y="3505200"/>
            <a:ext cx="133350" cy="95250"/>
          </a:xfrm>
          <a:custGeom xmlns:a="http://schemas.openxmlformats.org/drawingml/2006/main">
            <a:rect l="l" t="t" r="r" b="b"/>
            <a:pathLst>
              <a:path w="133350" h="95250">
                <a:moveTo>
                  <a:pt x="0" y="19050"/>
                </a:moveTo>
                <a:cubicBezTo>
                  <a:pt x="0" y="8529"/>
                  <a:pt x="8529" y="0"/>
                  <a:pt x="19050" y="0"/>
                </a:cubicBezTo>
                <a:lnTo>
                  <a:pt x="114300" y="0"/>
                </a:lnTo>
                <a:cubicBezTo>
                  <a:pt x="124821" y="0"/>
                  <a:pt x="133350" y="8529"/>
                  <a:pt x="133350" y="19050"/>
                </a:cubicBezTo>
                <a:lnTo>
                  <a:pt x="133350" y="76200"/>
                </a:lnTo>
                <a:cubicBezTo>
                  <a:pt x="133350" y="86721"/>
                  <a:pt x="124821" y="95250"/>
                  <a:pt x="114300" y="95250"/>
                </a:cubicBezTo>
                <a:lnTo>
                  <a:pt x="19050" y="95250"/>
                </a:lnTo>
                <a:cubicBezTo>
                  <a:pt x="8529" y="95250"/>
                  <a:pt x="0" y="86721"/>
                  <a:pt x="0" y="76200"/>
                </a:cubicBezTo>
                <a:lnTo>
                  <a:pt x="0" y="190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9B5B00"/>
            </a:solidFill>
          </a:ln>
        </p:spPr>
      </p:sp>
      <p:sp>
        <p:nvSpPr>
          <p:cNvPr id="40" name="Freeform 40">
            <a:extLst xmlns:a="http://schemas.openxmlformats.org/drawingml/2006/main">
              <a:ext uri="{FF2B5EF4-FFF2-40B4-BE49-F238E27FC236}">
                <a16:creationId xmlns:a16="http://schemas.microsoft.com/office/drawing/2014/main" id="{9AB64718-5A2D-4918-88BD-8CCB3D161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267325" y="3543300"/>
            <a:ext cx="19050" cy="19050"/>
          </a:xfrm>
          <a:custGeom xmlns:a="http://schemas.openxmlformats.org/drawingml/2006/main">
            <a:rect l="l" t="t" r="r" b="b"/>
            <a:pathLst>
              <a:path w="19050" h="19050">
                <a:moveTo>
                  <a:pt x="0" y="9525"/>
                </a:moveTo>
                <a:cubicBezTo>
                  <a:pt x="0" y="14786"/>
                  <a:pt x="4264" y="19050"/>
                  <a:pt x="9525" y="19050"/>
                </a:cubicBezTo>
                <a:cubicBezTo>
                  <a:pt x="14786" y="19050"/>
                  <a:pt x="19050" y="14786"/>
                  <a:pt x="19050" y="9525"/>
                </a:cubicBezTo>
                <a:cubicBezTo>
                  <a:pt x="19050" y="4264"/>
                  <a:pt x="14786" y="0"/>
                  <a:pt x="9525" y="0"/>
                </a:cubicBezTo>
                <a:cubicBezTo>
                  <a:pt x="4264" y="0"/>
                  <a:pt x="0" y="4264"/>
                  <a:pt x="0" y="9525"/>
                </a:cubicBez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9B5B00"/>
            </a:solidFill>
          </a:ln>
        </p:spPr>
      </p:sp>
      <p:sp>
        <p:nvSpPr>
          <p:cNvPr id="41" name="Freeform 41">
            <a:extLst xmlns:a="http://schemas.openxmlformats.org/drawingml/2006/main">
              <a:ext uri="{FF2B5EF4-FFF2-40B4-BE49-F238E27FC236}">
                <a16:creationId xmlns:a16="http://schemas.microsoft.com/office/drawing/2014/main" id="{716288AC-E5C4-4057-A1EC-20B1A409C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238750" y="3429000"/>
            <a:ext cx="76200" cy="76200"/>
          </a:xfrm>
          <a:custGeom xmlns:a="http://schemas.openxmlformats.org/drawingml/2006/main">
            <a:rect l="l" t="t" r="r" b="b"/>
            <a:pathLst>
              <a:path w="76200" h="76200">
                <a:moveTo>
                  <a:pt x="0" y="76200"/>
                </a:moveTo>
                <a:lnTo>
                  <a:pt x="0" y="38100"/>
                </a:lnTo>
                <a:cubicBezTo>
                  <a:pt x="0" y="17058"/>
                  <a:pt x="17058" y="0"/>
                  <a:pt x="38100" y="0"/>
                </a:cubicBezTo>
                <a:cubicBezTo>
                  <a:pt x="59142" y="0"/>
                  <a:pt x="76200" y="17058"/>
                  <a:pt x="76200" y="38100"/>
                </a:cubicBezTo>
                <a:lnTo>
                  <a:pt x="76200" y="762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9B5B00"/>
            </a:solidFill>
          </a:ln>
        </p:spPr>
      </p:sp>
      <p:sp>
        <p:nvSpPr>
          <p:cNvPr id="43" name="TextBox 43">
            <a:extLst xmlns:a="http://schemas.openxmlformats.org/drawingml/2006/main">
              <a:ext uri="{FF2B5EF4-FFF2-40B4-BE49-F238E27FC236}">
                <a16:creationId xmlns:a16="http://schemas.microsoft.com/office/drawing/2014/main" id="{18955F7B-18A4-4796-A778-AE99814DB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497068" y="3412808"/>
            <a:ext cx="2115826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1">
                <a:solidFill>
                  <a:srgbClr val="9B5B00"/>
                </a:solidFill>
                <a:latin typeface="+mn-lt"/>
                <a:ea typeface="+mn-lt"/>
                <a:cs typeface="+mn-lt"/>
              </a:rPr>
              <a:t>不可越权的责任边界</a:t>
            </a:r>
          </a:p>
        </p:txBody>
      </p:sp>
      <p:sp>
        <p:nvSpPr>
          <p:cNvPr id="45" name="TextBox 45">
            <a:extLst xmlns:a="http://schemas.openxmlformats.org/drawingml/2006/main">
              <a:ext uri="{FF2B5EF4-FFF2-40B4-BE49-F238E27FC236}">
                <a16:creationId xmlns:a16="http://schemas.microsoft.com/office/drawing/2014/main" id="{5E84F380-4087-4311-99B9-789AD6B91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98170" y="5910262"/>
            <a:ext cx="7655814" cy="4400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chemeClr val="accent1"/>
                </a:solidFill>
                <a:latin typeface="+mn-lt"/>
                <a:ea typeface="+mn-lt"/>
                <a:cs typeface="+mn-lt"/>
              </a:rPr>
              <a:t>概率能力负责提出候选；确定性系统负责证明与授权。</a:t>
            </a:r>
          </a:p>
        </p:txBody>
      </p:sp>
      <p:sp>
        <p:nvSpPr>
          <p:cNvPr id="46" name="TextBox 46">
            <a:extLst xmlns:a="http://schemas.openxmlformats.org/drawingml/2006/main">
              <a:ext uri="{FF2B5EF4-FFF2-40B4-BE49-F238E27FC236}">
                <a16:creationId xmlns:a16="http://schemas.microsoft.com/office/drawing/2014/main" id="{AF5A69D5-BC75-442C-8FBC-486153915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398606" y="6271260"/>
            <a:ext cx="189890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200">
                <a:solidFill>
                  <a:srgbClr val="7E9AAA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86980752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2">
            <a:extLst xmlns:a="http://schemas.openxmlformats.org/drawingml/2006/main">
              <a:ext uri="{FF2B5EF4-FFF2-40B4-BE49-F238E27FC236}">
                <a16:creationId xmlns:a16="http://schemas.microsoft.com/office/drawing/2014/main" id="{0E30DA68-6790-4333-8D17-CEC77CC72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91312" y="411480"/>
            <a:ext cx="6348565" cy="704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600" b="1">
                <a:solidFill>
                  <a:schemeClr val="accent1"/>
                </a:solidFill>
                <a:latin typeface="+mn-lt"/>
                <a:ea typeface="+mn-lt"/>
                <a:cs typeface="+mn-lt"/>
              </a:rPr>
              <a:t>LangGraph 让审批真正暂停</a:t>
            </a:r>
          </a:p>
        </p:txBody>
      </p:sp>
      <p:sp>
        <p:nvSpPr>
          <p:cNvPr id="3" name="TextBox 3">
            <a:extLst xmlns:a="http://schemas.openxmlformats.org/drawingml/2006/main">
              <a:ext uri="{FF2B5EF4-FFF2-40B4-BE49-F238E27FC236}">
                <a16:creationId xmlns:a16="http://schemas.microsoft.com/office/drawing/2014/main" id="{ED4F131B-7FD0-4ADB-8612-B6CFDE9FA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1218" y="1022032"/>
            <a:ext cx="6014085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>
                <a:solidFill>
                  <a:srgbClr val="5B7388"/>
                </a:solidFill>
                <a:latin typeface="+mn-lt"/>
                <a:ea typeface="+mn-lt"/>
                <a:cs typeface="+mn-lt"/>
              </a:rPr>
              <a:t>批准绑定一份可验证快照；恢复后必须重新证明它仍然成立。</a:t>
            </a:r>
          </a:p>
        </p:txBody>
      </p:sp>
      <p:sp>
        <p:nvSpPr>
          <p:cNvPr id="4" name="TextBox 4">
            <a:extLst xmlns:a="http://schemas.openxmlformats.org/drawingml/2006/main">
              <a:ext uri="{FF2B5EF4-FFF2-40B4-BE49-F238E27FC236}">
                <a16:creationId xmlns:a16="http://schemas.microsoft.com/office/drawing/2014/main" id="{47572967-6F74-4FE1-8E44-02FA9E3FF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10768" y="1841182"/>
            <a:ext cx="1241217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1">
                <a:solidFill>
                  <a:schemeClr val="accent3"/>
                </a:solidFill>
                <a:latin typeface="+mn-lt"/>
                <a:ea typeface="+mn-lt"/>
                <a:cs typeface="+mn-lt"/>
              </a:rPr>
              <a:t>01 · 审批前</a:t>
            </a:r>
          </a:p>
        </p:txBody>
      </p:sp>
      <p:sp>
        <p:nvSpPr>
          <p:cNvPr id="5" name="Ellipse 5">
            <a:extLst xmlns:a="http://schemas.openxmlformats.org/drawingml/2006/main">
              <a:ext uri="{FF2B5EF4-FFF2-40B4-BE49-F238E27FC236}">
                <a16:creationId xmlns:a16="http://schemas.microsoft.com/office/drawing/2014/main" id="{24E4DA8D-3A1E-4272-9E6B-FF9BC8A55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219200" y="2286000"/>
            <a:ext cx="2133600" cy="2133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EFF"/>
          </a:solidFill>
          <a:ln xmlns:a="http://schemas.openxmlformats.org/drawingml/2006/main" w="28575">
            <a:solidFill>
              <a:schemeClr val="accent3"/>
            </a:solidFill>
          </a:ln>
        </p:spPr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44FC9001-3107-4491-A868-39B00503D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39975" y="2805112"/>
            <a:ext cx="134937" cy="134937"/>
          </a:xfrm>
          <a:custGeom xmlns:a="http://schemas.openxmlformats.org/drawingml/2006/main">
            <a:rect l="l" t="t" r="r" b="b"/>
            <a:pathLst>
              <a:path w="134937" h="134937">
                <a:moveTo>
                  <a:pt x="0" y="0"/>
                </a:moveTo>
                <a:lnTo>
                  <a:pt x="0" y="107950"/>
                </a:lnTo>
                <a:cubicBezTo>
                  <a:pt x="0" y="122855"/>
                  <a:pt x="12083" y="134937"/>
                  <a:pt x="26987" y="134937"/>
                </a:cubicBezTo>
                <a:lnTo>
                  <a:pt x="134937" y="134937"/>
                </a:lnTo>
              </a:path>
            </a:pathLst>
          </a:custGeom>
          <a:noFill xmlns:a="http://schemas.openxmlformats.org/drawingml/2006/main"/>
          <a:ln xmlns:a="http://schemas.openxmlformats.org/drawingml/2006/main" w="53975">
            <a:solidFill>
              <a:schemeClr val="accent3"/>
            </a:solidFill>
          </a:ln>
        </p:spPr>
      </p:sp>
      <p:sp>
        <p:nvSpPr>
          <p:cNvPr id="7" name="Freeform 7">
            <a:extLst xmlns:a="http://schemas.openxmlformats.org/drawingml/2006/main">
              <a:ext uri="{FF2B5EF4-FFF2-40B4-BE49-F238E27FC236}">
                <a16:creationId xmlns:a16="http://schemas.microsoft.com/office/drawing/2014/main" id="{4E99A3D8-FBF4-4B8C-BAEA-ABAA1948D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097087" y="2805112"/>
            <a:ext cx="377825" cy="485774"/>
          </a:xfrm>
          <a:custGeom xmlns:a="http://schemas.openxmlformats.org/drawingml/2006/main">
            <a:rect l="l" t="t" r="r" b="b"/>
            <a:pathLst>
              <a:path w="377825" h="485774">
                <a:moveTo>
                  <a:pt x="323850" y="485774"/>
                </a:moveTo>
                <a:lnTo>
                  <a:pt x="53975" y="485774"/>
                </a:lnTo>
                <a:cubicBezTo>
                  <a:pt x="24165" y="485774"/>
                  <a:pt x="0" y="461609"/>
                  <a:pt x="0" y="431799"/>
                </a:cubicBezTo>
                <a:lnTo>
                  <a:pt x="0" y="53975"/>
                </a:lnTo>
                <a:cubicBezTo>
                  <a:pt x="0" y="24165"/>
                  <a:pt x="24165" y="0"/>
                  <a:pt x="53975" y="0"/>
                </a:cubicBezTo>
                <a:lnTo>
                  <a:pt x="242887" y="0"/>
                </a:lnTo>
                <a:lnTo>
                  <a:pt x="377825" y="134937"/>
                </a:lnTo>
                <a:lnTo>
                  <a:pt x="377825" y="431799"/>
                </a:lnTo>
                <a:cubicBezTo>
                  <a:pt x="377825" y="461609"/>
                  <a:pt x="353659" y="485774"/>
                  <a:pt x="323850" y="485774"/>
                </a:cubicBezTo>
              </a:path>
            </a:pathLst>
          </a:custGeom>
          <a:noFill xmlns:a="http://schemas.openxmlformats.org/drawingml/2006/main"/>
          <a:ln xmlns:a="http://schemas.openxmlformats.org/drawingml/2006/main" w="53975">
            <a:solidFill>
              <a:schemeClr val="accent3"/>
            </a:solidFill>
          </a:ln>
        </p:spPr>
      </p:sp>
      <p:sp>
        <p:nvSpPr>
          <p:cNvPr id="8" name="Freeform 8">
            <a:extLst xmlns:a="http://schemas.openxmlformats.org/drawingml/2006/main">
              <a:ext uri="{FF2B5EF4-FFF2-40B4-BE49-F238E27FC236}">
                <a16:creationId xmlns:a16="http://schemas.microsoft.com/office/drawing/2014/main" id="{F1A7C9B8-F256-491F-98BF-1D6918DD6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205037" y="3074987"/>
            <a:ext cx="161925" cy="107950"/>
          </a:xfrm>
          <a:custGeom xmlns:a="http://schemas.openxmlformats.org/drawingml/2006/main">
            <a:rect l="l" t="t" r="r" b="b"/>
            <a:pathLst>
              <a:path w="161925" h="107950">
                <a:moveTo>
                  <a:pt x="0" y="53975"/>
                </a:moveTo>
                <a:lnTo>
                  <a:pt x="53975" y="107950"/>
                </a:lnTo>
                <a:lnTo>
                  <a:pt x="1619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53975">
            <a:solidFill>
              <a:schemeClr val="accent3"/>
            </a:solidFill>
          </a:ln>
        </p:spPr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54462C46-24F7-429B-98A2-2D8B91F7F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38490" y="3433762"/>
            <a:ext cx="1295019" cy="4400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250" b="1">
                <a:solidFill>
                  <a:schemeClr val="dk1"/>
                </a:solidFill>
                <a:latin typeface="+mn-lt"/>
                <a:ea typeface="+mn-lt"/>
                <a:cs typeface="+mn-lt"/>
              </a:rPr>
              <a:t>冻结证据</a:t>
            </a:r>
          </a:p>
        </p:txBody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371FA420-747A-4476-A7FC-0973F62B6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378020" y="3860482"/>
            <a:ext cx="1815960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650">
                <a:solidFill>
                  <a:srgbClr val="5B7388"/>
                </a:solidFill>
                <a:latin typeface="+mn-lt"/>
                <a:ea typeface="+mn-lt"/>
                <a:cs typeface="+mn-lt"/>
              </a:rPr>
              <a:t>solver + verifier</a:t>
            </a:r>
          </a:p>
        </p:txBody>
      </p:sp>
      <p:sp>
        <p:nvSpPr>
          <p:cNvPr id="13" name="Freeform 13">
            <a:extLst xmlns:a="http://schemas.openxmlformats.org/drawingml/2006/main">
              <a:ext uri="{FF2B5EF4-FFF2-40B4-BE49-F238E27FC236}">
                <a16:creationId xmlns:a16="http://schemas.microsoft.com/office/drawing/2014/main" id="{3A290AFF-EA03-4E58-813F-7EDA3C06F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352800" y="3352800"/>
            <a:ext cx="1181100" cy="9525"/>
          </a:xfrm>
          <a:custGeom xmlns:a="http://schemas.openxmlformats.org/drawingml/2006/main">
            <a:rect l="l" t="t" r="r" b="b"/>
            <a:pathLst>
              <a:path w="1181100" h="9525">
                <a:moveTo>
                  <a:pt x="0" y="0"/>
                </a:moveTo>
                <a:lnTo>
                  <a:pt x="11811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chemeClr val="accent5"/>
            </a:solidFill>
          </a:ln>
        </p:spPr>
      </p:sp>
      <p:sp>
        <p:nvSpPr>
          <p:cNvPr id="14" name="Freeform 14">
            <a:extLst xmlns:a="http://schemas.openxmlformats.org/drawingml/2006/main">
              <a:ext uri="{FF2B5EF4-FFF2-40B4-BE49-F238E27FC236}">
                <a16:creationId xmlns:a16="http://schemas.microsoft.com/office/drawing/2014/main" id="{A9D0F54F-9B0D-4B8E-8787-F6EF70B23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43400" y="3219450"/>
            <a:ext cx="190500" cy="266700"/>
          </a:xfrm>
          <a:custGeom xmlns:a="http://schemas.openxmlformats.org/drawingml/2006/main">
            <a:rect l="l" t="t" r="r" b="b"/>
            <a:pathLst>
              <a:path w="190500" h="266700">
                <a:moveTo>
                  <a:pt x="0" y="0"/>
                </a:moveTo>
                <a:lnTo>
                  <a:pt x="190500" y="133350"/>
                </a:lnTo>
                <a:lnTo>
                  <a:pt x="0" y="266700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chemeClr val="accent5"/>
            </a:solidFill>
          </a:ln>
        </p:spPr>
      </p:sp>
      <p:sp>
        <p:nvSpPr>
          <p:cNvPr id="15" name="TextBox 15">
            <a:extLst xmlns:a="http://schemas.openxmlformats.org/drawingml/2006/main">
              <a:ext uri="{FF2B5EF4-FFF2-40B4-BE49-F238E27FC236}">
                <a16:creationId xmlns:a16="http://schemas.microsoft.com/office/drawing/2014/main" id="{7E9C97B3-7E7D-4DA2-8548-1457A15D6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754118" y="1841182"/>
            <a:ext cx="3130373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1">
                <a:solidFill>
                  <a:schemeClr val="accent2"/>
                </a:solidFill>
                <a:latin typeface="+mn-lt"/>
                <a:ea typeface="+mn-lt"/>
                <a:cs typeface="+mn-lt"/>
              </a:rPr>
              <a:t>02 · checkpoint + interrupt</a:t>
            </a:r>
          </a:p>
        </p:txBody>
      </p:sp>
      <p:sp>
        <p:nvSpPr>
          <p:cNvPr id="16" name="Ellipse 16">
            <a:extLst xmlns:a="http://schemas.openxmlformats.org/drawingml/2006/main">
              <a:ext uri="{FF2B5EF4-FFF2-40B4-BE49-F238E27FC236}">
                <a16:creationId xmlns:a16="http://schemas.microsoft.com/office/drawing/2014/main" id="{2E32C9AC-E94E-4CC3-90F6-882601730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76800" y="2133600"/>
            <a:ext cx="2438400" cy="2438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chemeClr val="accent2"/>
            </a:solidFill>
          </a:ln>
        </p:spPr>
      </p:sp>
      <p:sp>
        <p:nvSpPr>
          <p:cNvPr id="17" name="Ellipse 17">
            <a:extLst xmlns:a="http://schemas.openxmlformats.org/drawingml/2006/main">
              <a:ext uri="{FF2B5EF4-FFF2-40B4-BE49-F238E27FC236}">
                <a16:creationId xmlns:a16="http://schemas.microsoft.com/office/drawing/2014/main" id="{1C6C794E-E1C8-4AEB-8A82-5CADF0ADE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62550" y="2419350"/>
            <a:ext cx="1866900" cy="18669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chemeClr val="accent5"/>
            </a:solidFill>
          </a:ln>
        </p:spPr>
      </p:sp>
      <p:sp>
        <p:nvSpPr>
          <p:cNvPr id="18" name="TextBox 18">
            <a:extLst xmlns:a="http://schemas.openxmlformats.org/drawingml/2006/main">
              <a:ext uri="{FF2B5EF4-FFF2-40B4-BE49-F238E27FC236}">
                <a16:creationId xmlns:a16="http://schemas.microsoft.com/office/drawing/2014/main" id="{B800AB92-558A-4DD8-B2A2-FA49D3F31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338420" y="2868930"/>
            <a:ext cx="1515161" cy="704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3600" b="1">
                <a:solidFill>
                  <a:schemeClr val="accent1"/>
                </a:solidFill>
                <a:latin typeface="Consolas"/>
                <a:ea typeface="Consolas"/>
                <a:cs typeface="Consolas"/>
              </a:rPr>
              <a:t>PAUSE</a:t>
            </a:r>
          </a:p>
        </p:txBody>
      </p:sp>
      <p:sp>
        <p:nvSpPr>
          <p:cNvPr id="19" name="TextBox 19">
            <a:extLst xmlns:a="http://schemas.openxmlformats.org/drawingml/2006/main">
              <a:ext uri="{FF2B5EF4-FFF2-40B4-BE49-F238E27FC236}">
                <a16:creationId xmlns:a16="http://schemas.microsoft.com/office/drawing/2014/main" id="{8386E91B-E04B-4D67-8DF9-5BAF532F1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088064" y="3536632"/>
            <a:ext cx="2015871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650">
                <a:solidFill>
                  <a:srgbClr val="5B7388"/>
                </a:solidFill>
                <a:latin typeface="+mn-lt"/>
                <a:ea typeface="+mn-lt"/>
                <a:cs typeface="+mn-lt"/>
              </a:rPr>
              <a:t>等待人工批准或驳回</a:t>
            </a:r>
          </a:p>
        </p:txBody>
      </p:sp>
      <p:sp>
        <p:nvSpPr>
          <p:cNvPr id="21" name="Freeform 21">
            <a:extLst xmlns:a="http://schemas.openxmlformats.org/drawingml/2006/main">
              <a:ext uri="{FF2B5EF4-FFF2-40B4-BE49-F238E27FC236}">
                <a16:creationId xmlns:a16="http://schemas.microsoft.com/office/drawing/2014/main" id="{864F2E69-B1FD-4AEC-91E7-8A1CCD747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315200" y="3352800"/>
            <a:ext cx="971550" cy="9525"/>
          </a:xfrm>
          <a:custGeom xmlns:a="http://schemas.openxmlformats.org/drawingml/2006/main">
            <a:rect l="l" t="t" r="r" b="b"/>
            <a:pathLst>
              <a:path w="971550" h="9525">
                <a:moveTo>
                  <a:pt x="0" y="0"/>
                </a:moveTo>
                <a:lnTo>
                  <a:pt x="9715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chemeClr val="accent5"/>
            </a:solidFill>
          </a:ln>
        </p:spPr>
      </p:sp>
      <p:sp>
        <p:nvSpPr>
          <p:cNvPr id="22" name="Freeform 22">
            <a:extLst xmlns:a="http://schemas.openxmlformats.org/drawingml/2006/main">
              <a:ext uri="{FF2B5EF4-FFF2-40B4-BE49-F238E27FC236}">
                <a16:creationId xmlns:a16="http://schemas.microsoft.com/office/drawing/2014/main" id="{0CD4F6BD-6ECF-4D74-9B19-C510801A5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096250" y="3219450"/>
            <a:ext cx="190500" cy="266700"/>
          </a:xfrm>
          <a:custGeom xmlns:a="http://schemas.openxmlformats.org/drawingml/2006/main">
            <a:rect l="l" t="t" r="r" b="b"/>
            <a:pathLst>
              <a:path w="190500" h="266700">
                <a:moveTo>
                  <a:pt x="0" y="0"/>
                </a:moveTo>
                <a:lnTo>
                  <a:pt x="190500" y="133350"/>
                </a:lnTo>
                <a:lnTo>
                  <a:pt x="0" y="266700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chemeClr val="accent5"/>
            </a:solidFill>
          </a:ln>
        </p:spPr>
      </p:sp>
      <p:sp>
        <p:nvSpPr>
          <p:cNvPr id="23" name="TextBox 23">
            <a:extLst xmlns:a="http://schemas.openxmlformats.org/drawingml/2006/main">
              <a:ext uri="{FF2B5EF4-FFF2-40B4-BE49-F238E27FC236}">
                <a16:creationId xmlns:a16="http://schemas.microsoft.com/office/drawing/2014/main" id="{7D81B738-19E6-4470-8339-A2001A363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506968" y="1841182"/>
            <a:ext cx="1241217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1">
                <a:solidFill>
                  <a:srgbClr val="16A085"/>
                </a:solidFill>
                <a:latin typeface="+mn-lt"/>
                <a:ea typeface="+mn-lt"/>
                <a:cs typeface="+mn-lt"/>
              </a:rPr>
              <a:t>03 · 恢复后</a:t>
            </a:r>
          </a:p>
        </p:txBody>
      </p:sp>
      <p:sp>
        <p:nvSpPr>
          <p:cNvPr id="24" name="Ellipse 24">
            <a:extLst xmlns:a="http://schemas.openxmlformats.org/drawingml/2006/main">
              <a:ext uri="{FF2B5EF4-FFF2-40B4-BE49-F238E27FC236}">
                <a16:creationId xmlns:a16="http://schemas.microsoft.com/office/drawing/2014/main" id="{8776C40C-248B-4EF3-9183-BB739EAEA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763000" y="2286000"/>
            <a:ext cx="2133600" cy="2133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7F3"/>
          </a:solidFill>
          <a:ln xmlns:a="http://schemas.openxmlformats.org/drawingml/2006/main" w="28575">
            <a:solidFill>
              <a:srgbClr val="16A085"/>
            </a:solidFill>
          </a:ln>
        </p:spPr>
      </p:sp>
      <p:sp>
        <p:nvSpPr>
          <p:cNvPr id="25" name="Freeform 25">
            <a:extLst xmlns:a="http://schemas.openxmlformats.org/drawingml/2006/main">
              <a:ext uri="{FF2B5EF4-FFF2-40B4-BE49-F238E27FC236}">
                <a16:creationId xmlns:a16="http://schemas.microsoft.com/office/drawing/2014/main" id="{CCA10114-3E41-4FD7-BFB7-3F5754C15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613900" y="2726437"/>
            <a:ext cx="431799" cy="199325"/>
          </a:xfrm>
          <a:custGeom xmlns:a="http://schemas.openxmlformats.org/drawingml/2006/main">
            <a:rect l="l" t="t" r="r" b="b"/>
            <a:pathLst>
              <a:path w="431799" h="199325">
                <a:moveTo>
                  <a:pt x="431799" y="199325"/>
                </a:moveTo>
                <a:cubicBezTo>
                  <a:pt x="418232" y="101699"/>
                  <a:pt x="341010" y="25227"/>
                  <a:pt x="243256" y="12613"/>
                </a:cubicBezTo>
                <a:cubicBezTo>
                  <a:pt x="145502" y="0"/>
                  <a:pt x="51398" y="54365"/>
                  <a:pt x="13494" y="145350"/>
                </a:cubicBezTo>
                <a:moveTo>
                  <a:pt x="0" y="37400"/>
                </a:moveTo>
                <a:lnTo>
                  <a:pt x="0" y="145350"/>
                </a:lnTo>
                <a:lnTo>
                  <a:pt x="107950" y="145350"/>
                </a:lnTo>
              </a:path>
            </a:pathLst>
          </a:custGeom>
          <a:noFill xmlns:a="http://schemas.openxmlformats.org/drawingml/2006/main"/>
          <a:ln xmlns:a="http://schemas.openxmlformats.org/drawingml/2006/main" w="53975">
            <a:solidFill>
              <a:srgbClr val="16A085"/>
            </a:solidFill>
          </a:ln>
        </p:spPr>
      </p:sp>
      <p:sp>
        <p:nvSpPr>
          <p:cNvPr id="26" name="Freeform 26">
            <a:extLst xmlns:a="http://schemas.openxmlformats.org/drawingml/2006/main">
              <a:ext uri="{FF2B5EF4-FFF2-40B4-BE49-F238E27FC236}">
                <a16:creationId xmlns:a16="http://schemas.microsoft.com/office/drawing/2014/main" id="{4A2DD8DB-9CCD-41AF-A37A-AC0428444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613900" y="2979737"/>
            <a:ext cx="431799" cy="199325"/>
          </a:xfrm>
          <a:custGeom xmlns:a="http://schemas.openxmlformats.org/drawingml/2006/main">
            <a:rect l="l" t="t" r="r" b="b"/>
            <a:pathLst>
              <a:path w="431799" h="199325">
                <a:moveTo>
                  <a:pt x="0" y="0"/>
                </a:moveTo>
                <a:cubicBezTo>
                  <a:pt x="13567" y="97626"/>
                  <a:pt x="90789" y="174098"/>
                  <a:pt x="188543" y="186711"/>
                </a:cubicBezTo>
                <a:cubicBezTo>
                  <a:pt x="286297" y="199325"/>
                  <a:pt x="380402" y="144960"/>
                  <a:pt x="418306" y="53975"/>
                </a:cubicBezTo>
                <a:moveTo>
                  <a:pt x="431799" y="161925"/>
                </a:moveTo>
                <a:lnTo>
                  <a:pt x="431799" y="53975"/>
                </a:lnTo>
                <a:lnTo>
                  <a:pt x="323850" y="53975"/>
                </a:lnTo>
              </a:path>
            </a:pathLst>
          </a:custGeom>
          <a:noFill xmlns:a="http://schemas.openxmlformats.org/drawingml/2006/main"/>
          <a:ln xmlns:a="http://schemas.openxmlformats.org/drawingml/2006/main" w="53975">
            <a:solidFill>
              <a:srgbClr val="16A085"/>
            </a:solidFill>
          </a:ln>
        </p:spPr>
      </p:sp>
      <p:sp>
        <p:nvSpPr>
          <p:cNvPr id="28" name="TextBox 28">
            <a:extLst xmlns:a="http://schemas.openxmlformats.org/drawingml/2006/main">
              <a:ext uri="{FF2B5EF4-FFF2-40B4-BE49-F238E27FC236}">
                <a16:creationId xmlns:a16="http://schemas.microsoft.com/office/drawing/2014/main" id="{7B3FFA77-39C9-4C2F-9D76-3BF07D2AB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182290" y="3395662"/>
            <a:ext cx="1295019" cy="4400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250" b="1">
                <a:solidFill>
                  <a:schemeClr val="dk1"/>
                </a:solidFill>
                <a:latin typeface="+mn-lt"/>
                <a:ea typeface="+mn-lt"/>
                <a:cs typeface="+mn-lt"/>
              </a:rPr>
              <a:t>重新求解</a:t>
            </a:r>
          </a:p>
        </p:txBody>
      </p:sp>
      <p:sp>
        <p:nvSpPr>
          <p:cNvPr id="29" name="TextBox 29">
            <a:extLst xmlns:a="http://schemas.openxmlformats.org/drawingml/2006/main">
              <a:ext uri="{FF2B5EF4-FFF2-40B4-BE49-F238E27FC236}">
                <a16:creationId xmlns:a16="http://schemas.microsoft.com/office/drawing/2014/main" id="{BC8E0B12-7CF0-4AEB-A48B-5DFDF7FD8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32926" y="3831908"/>
            <a:ext cx="1793748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650">
                <a:solidFill>
                  <a:srgbClr val="5B7388"/>
                </a:solidFill>
                <a:latin typeface="+mn-lt"/>
                <a:ea typeface="+mn-lt"/>
                <a:cs typeface="+mn-lt"/>
              </a:rPr>
              <a:t>不信任旧内存对象</a:t>
            </a:r>
          </a:p>
        </p:txBody>
      </p:sp>
      <p:sp>
        <p:nvSpPr>
          <p:cNvPr id="31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89D34892-B59B-4C65-B15E-D35053733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001000" y="4762500"/>
            <a:ext cx="3581400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chemeClr val="accent5"/>
            </a:solidFill>
          </a:ln>
        </p:spPr>
      </p:sp>
      <p:sp>
        <p:nvSpPr>
          <p:cNvPr id="32" name="TextBox 32">
            <a:extLst xmlns:a="http://schemas.openxmlformats.org/drawingml/2006/main">
              <a:ext uri="{FF2B5EF4-FFF2-40B4-BE49-F238E27FC236}">
                <a16:creationId xmlns:a16="http://schemas.microsoft.com/office/drawing/2014/main" id="{8CA88000-F904-4D3A-8FEB-067652303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202168" y="4908232"/>
            <a:ext cx="1549413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>
                <a:solidFill>
                  <a:schemeClr val="accent1"/>
                </a:solidFill>
                <a:latin typeface="Consolas"/>
                <a:ea typeface="Consolas"/>
                <a:cs typeface="Consolas"/>
              </a:rPr>
              <a:t>scenario_hash</a:t>
            </a:r>
          </a:p>
        </p:txBody>
      </p:sp>
      <p:sp>
        <p:nvSpPr>
          <p:cNvPr id="33" name="TextBox 33">
            <a:extLst xmlns:a="http://schemas.openxmlformats.org/drawingml/2006/main">
              <a:ext uri="{FF2B5EF4-FFF2-40B4-BE49-F238E27FC236}">
                <a16:creationId xmlns:a16="http://schemas.microsoft.com/office/drawing/2014/main" id="{8C4A7D75-1756-4C65-9631-133B436D4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347162" y="4908232"/>
            <a:ext cx="786420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650" b="1">
                <a:solidFill>
                  <a:srgbClr val="16A085"/>
                </a:solidFill>
                <a:latin typeface="+mn-lt"/>
                <a:ea typeface="+mn-lt"/>
                <a:cs typeface="+mn-lt"/>
              </a:rPr>
              <a:t>一致 ✓</a:t>
            </a:r>
          </a:p>
        </p:txBody>
      </p:sp>
      <p:sp>
        <p:nvSpPr>
          <p:cNvPr id="34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F5675D26-E5F3-4441-AD56-05859E049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001000" y="5391150"/>
            <a:ext cx="3581400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chemeClr val="accent5"/>
            </a:solidFill>
          </a:ln>
        </p:spPr>
      </p:sp>
      <p:sp>
        <p:nvSpPr>
          <p:cNvPr id="35" name="TextBox 35">
            <a:extLst xmlns:a="http://schemas.openxmlformats.org/drawingml/2006/main">
              <a:ext uri="{FF2B5EF4-FFF2-40B4-BE49-F238E27FC236}">
                <a16:creationId xmlns:a16="http://schemas.microsoft.com/office/drawing/2014/main" id="{92CFA1F0-E86E-44F3-9644-F1C4B4480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202168" y="5536882"/>
            <a:ext cx="1060742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>
                <a:solidFill>
                  <a:schemeClr val="accent1"/>
                </a:solidFill>
                <a:latin typeface="Consolas"/>
                <a:ea typeface="Consolas"/>
                <a:cs typeface="Consolas"/>
              </a:rPr>
              <a:t>plan_hash</a:t>
            </a:r>
          </a:p>
        </p:txBody>
      </p:sp>
      <p:sp>
        <p:nvSpPr>
          <p:cNvPr id="36" name="TextBox 36">
            <a:extLst xmlns:a="http://schemas.openxmlformats.org/drawingml/2006/main">
              <a:ext uri="{FF2B5EF4-FFF2-40B4-BE49-F238E27FC236}">
                <a16:creationId xmlns:a16="http://schemas.microsoft.com/office/drawing/2014/main" id="{C04ED288-92A9-4447-8E79-DEED89920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347162" y="5536882"/>
            <a:ext cx="786420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650" b="1">
                <a:solidFill>
                  <a:srgbClr val="16A085"/>
                </a:solidFill>
                <a:latin typeface="+mn-lt"/>
                <a:ea typeface="+mn-lt"/>
                <a:cs typeface="+mn-lt"/>
              </a:rPr>
              <a:t>一致 ✓</a:t>
            </a:r>
          </a:p>
        </p:txBody>
      </p:sp>
      <p:sp>
        <p:nvSpPr>
          <p:cNvPr id="38" name="Rectangle 38">
            <a:extLst xmlns:a="http://schemas.openxmlformats.org/drawingml/2006/main">
              <a:ext uri="{FF2B5EF4-FFF2-40B4-BE49-F238E27FC236}">
                <a16:creationId xmlns:a16="http://schemas.microsoft.com/office/drawing/2014/main" id="{8E939551-F35C-456E-848E-357ABC256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600" y="4762500"/>
            <a:ext cx="668655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chemeClr val="lt2"/>
          </a:solidFill>
          <a:ln xmlns:a="http://schemas.openxmlformats.org/drawingml/2006/main">
            <a:noFill/>
          </a:ln>
        </p:spPr>
      </p:sp>
      <p:sp>
        <p:nvSpPr>
          <p:cNvPr id="39" name="TextBox 39">
            <a:extLst xmlns:a="http://schemas.openxmlformats.org/drawingml/2006/main">
              <a:ext uri="{FF2B5EF4-FFF2-40B4-BE49-F238E27FC236}">
                <a16:creationId xmlns:a16="http://schemas.microsoft.com/office/drawing/2014/main" id="{B01F98CE-73F0-40D3-9FAA-672D2B4EA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67156" y="4949190"/>
            <a:ext cx="4725276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chemeClr val="accent1"/>
                </a:solidFill>
                <a:latin typeface="+mn-lt"/>
                <a:ea typeface="+mn-lt"/>
                <a:cs typeface="+mn-lt"/>
              </a:rPr>
              <a:t>批准且双 hash 一致 → 只生成 draft_only</a:t>
            </a:r>
          </a:p>
        </p:txBody>
      </p:sp>
      <p:sp>
        <p:nvSpPr>
          <p:cNvPr id="40" name="TextBox 40">
            <a:extLst xmlns:a="http://schemas.openxmlformats.org/drawingml/2006/main">
              <a:ext uri="{FF2B5EF4-FFF2-40B4-BE49-F238E27FC236}">
                <a16:creationId xmlns:a16="http://schemas.microsoft.com/office/drawing/2014/main" id="{33F0A744-C337-4156-A695-FACE14B6B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67156" y="5330190"/>
            <a:ext cx="5145089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A82C34"/>
                </a:solidFill>
                <a:latin typeface="+mn-lt"/>
                <a:ea typeface="+mn-lt"/>
                <a:cs typeface="+mn-lt"/>
              </a:rPr>
              <a:t>驳回、场景变化或计划篡改 → 旧批准立即失效</a:t>
            </a:r>
          </a:p>
        </p:txBody>
      </p:sp>
      <p:sp>
        <p:nvSpPr>
          <p:cNvPr id="42" name="TextBox 42">
            <a:extLst xmlns:a="http://schemas.openxmlformats.org/drawingml/2006/main">
              <a:ext uri="{FF2B5EF4-FFF2-40B4-BE49-F238E27FC236}">
                <a16:creationId xmlns:a16="http://schemas.microsoft.com/office/drawing/2014/main" id="{60EF2C62-4536-499D-AFF5-6D09C5E49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3504" y="6271260"/>
            <a:ext cx="6412706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>
                <a:solidFill>
                  <a:srgbClr val="5B7388"/>
                </a:solidFill>
                <a:latin typeface="+mn-lt"/>
                <a:ea typeface="+mn-lt"/>
                <a:cs typeface="+mn-lt"/>
              </a:rPr>
              <a:t>当前 PoC 使用 InMemorySaver；生产化需要持久 checkpointer、RBAC 与多实例幂等。</a:t>
            </a:r>
          </a:p>
        </p:txBody>
      </p:sp>
      <p:sp>
        <p:nvSpPr>
          <p:cNvPr id="43" name="TextBox 43">
            <a:extLst xmlns:a="http://schemas.openxmlformats.org/drawingml/2006/main">
              <a:ext uri="{FF2B5EF4-FFF2-40B4-BE49-F238E27FC236}">
                <a16:creationId xmlns:a16="http://schemas.microsoft.com/office/drawing/2014/main" id="{C2572446-22D8-4D28-934A-297702CCB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398606" y="6271260"/>
            <a:ext cx="189890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200">
                <a:solidFill>
                  <a:srgbClr val="7E9AAA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67539235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2">
            <a:extLst xmlns:a="http://schemas.openxmlformats.org/drawingml/2006/main">
              <a:ext uri="{FF2B5EF4-FFF2-40B4-BE49-F238E27FC236}">
                <a16:creationId xmlns:a16="http://schemas.microsoft.com/office/drawing/2014/main" id="{1D91D043-A9EB-4455-95FF-08A604265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91312" y="411480"/>
            <a:ext cx="7669530" cy="704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600" b="1">
                <a:solidFill>
                  <a:schemeClr val="accent1"/>
                </a:solidFill>
                <a:latin typeface="+mn-lt"/>
                <a:ea typeface="+mn-lt"/>
                <a:cs typeface="+mn-lt"/>
              </a:rPr>
              <a:t>公开工作簿原始行进入了运行链路</a:t>
            </a:r>
          </a:p>
        </p:txBody>
      </p:sp>
      <p:sp>
        <p:nvSpPr>
          <p:cNvPr id="3" name="TextBox 3">
            <a:extLst xmlns:a="http://schemas.openxmlformats.org/drawingml/2006/main">
              <a:ext uri="{FF2B5EF4-FFF2-40B4-BE49-F238E27FC236}">
                <a16:creationId xmlns:a16="http://schemas.microsoft.com/office/drawing/2014/main" id="{CFA326A6-7871-4E70-842A-1BD6200FA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1218" y="1022032"/>
            <a:ext cx="6702666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>
                <a:solidFill>
                  <a:srgbClr val="5B7388"/>
                </a:solidFill>
                <a:latin typeface="+mn-lt"/>
                <a:ea typeface="+mn-lt"/>
                <a:cs typeface="+mn-lt"/>
              </a:rPr>
              <a:t>不只说“参考了公开数据”，而是校验、抽取、溯源并验证数量守恒。</a:t>
            </a:r>
          </a:p>
        </p:txBody>
      </p:sp>
      <p:sp>
        <p:nvSpPr>
          <p:cNvPr id="4" name="TextBox 4">
            <a:extLst xmlns:a="http://schemas.openxmlformats.org/drawingml/2006/main">
              <a:ext uri="{FF2B5EF4-FFF2-40B4-BE49-F238E27FC236}">
                <a16:creationId xmlns:a16="http://schemas.microsoft.com/office/drawing/2014/main" id="{2EC11FCB-F49D-4627-BEF8-61CAB9E5A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58368" y="1917382"/>
            <a:ext cx="461010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>
                <a:solidFill>
                  <a:srgbClr val="5B7388"/>
                </a:solidFill>
                <a:latin typeface="+mn-lt"/>
                <a:ea typeface="+mn-lt"/>
                <a:cs typeface="+mn-lt"/>
              </a:rPr>
              <a:t>产品</a:t>
            </a:r>
          </a:p>
        </p:txBody>
      </p:sp>
      <p:sp>
        <p:nvSpPr>
          <p:cNvPr id="5" name="TextBox 5">
            <a:extLst xmlns:a="http://schemas.openxmlformats.org/drawingml/2006/main">
              <a:ext uri="{FF2B5EF4-FFF2-40B4-BE49-F238E27FC236}">
                <a16:creationId xmlns:a16="http://schemas.microsoft.com/office/drawing/2014/main" id="{041E4649-5384-4FCD-BA6E-28640094A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48462" y="2259330"/>
            <a:ext cx="1715826" cy="704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600" b="1">
                <a:solidFill>
                  <a:schemeClr val="accent1"/>
                </a:solidFill>
                <a:latin typeface="Consolas"/>
                <a:ea typeface="Consolas"/>
                <a:cs typeface="Consolas"/>
              </a:rPr>
              <a:t>28,049</a:t>
            </a:r>
          </a:p>
        </p:txBody>
      </p:sp>
      <p:sp>
        <p:nvSpPr>
          <p:cNvPr id="6" name="Line 6">
            <a:extLst xmlns:a="http://schemas.openxmlformats.org/drawingml/2006/main">
              <a:ext uri="{FF2B5EF4-FFF2-40B4-BE49-F238E27FC236}">
                <a16:creationId xmlns:a16="http://schemas.microsoft.com/office/drawing/2014/main" id="{4AC28EEF-EBC9-431E-96EF-4172F8B75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66750" y="2857500"/>
            <a:ext cx="2476500" cy="9525"/>
          </a:xfrm>
          <a:custGeom xmlns:a="http://schemas.openxmlformats.org/drawingml/2006/main">
            <a:rect l="l" t="t" r="r" b="b"/>
            <a:pathLst>
              <a:path w="2476500" h="9525">
                <a:moveTo>
                  <a:pt x="0" y="0"/>
                </a:moveTo>
                <a:lnTo>
                  <a:pt x="2476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chemeClr val="accent5"/>
            </a:solidFill>
          </a:ln>
        </p:spPr>
      </p:sp>
      <p:sp>
        <p:nvSpPr>
          <p:cNvPr id="7" name="TextBox 7">
            <a:extLst xmlns:a="http://schemas.openxmlformats.org/drawingml/2006/main">
              <a:ext uri="{FF2B5EF4-FFF2-40B4-BE49-F238E27FC236}">
                <a16:creationId xmlns:a16="http://schemas.microsoft.com/office/drawing/2014/main" id="{E9882240-3185-49D6-BA4C-1AC809215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58368" y="3174682"/>
            <a:ext cx="802996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>
                <a:solidFill>
                  <a:srgbClr val="5B7388"/>
                </a:solidFill>
                <a:latin typeface="+mn-lt"/>
                <a:ea typeface="+mn-lt"/>
                <a:cs typeface="+mn-lt"/>
              </a:rPr>
              <a:t>BOM 行</a:t>
            </a:r>
          </a:p>
        </p:txBody>
      </p:sp>
      <p:sp>
        <p:nvSpPr>
          <p:cNvPr id="8" name="TextBox 8">
            <a:extLst xmlns:a="http://schemas.openxmlformats.org/drawingml/2006/main">
              <a:ext uri="{FF2B5EF4-FFF2-40B4-BE49-F238E27FC236}">
                <a16:creationId xmlns:a16="http://schemas.microsoft.com/office/drawing/2014/main" id="{DAB451B1-C794-467C-B5F2-E847AA228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48462" y="3516630"/>
            <a:ext cx="1715826" cy="704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600" b="1">
                <a:solidFill>
                  <a:schemeClr val="accent2"/>
                </a:solidFill>
                <a:latin typeface="Consolas"/>
                <a:ea typeface="Consolas"/>
                <a:cs typeface="Consolas"/>
              </a:rPr>
              <a:t>87,059</a:t>
            </a:r>
          </a:p>
        </p:txBody>
      </p:sp>
      <p:sp>
        <p:nvSpPr>
          <p:cNvPr id="9" name="Line 9">
            <a:extLst xmlns:a="http://schemas.openxmlformats.org/drawingml/2006/main">
              <a:ext uri="{FF2B5EF4-FFF2-40B4-BE49-F238E27FC236}">
                <a16:creationId xmlns:a16="http://schemas.microsoft.com/office/drawing/2014/main" id="{0D060DA4-DBE3-461A-8A12-738CFFF36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66750" y="4114800"/>
            <a:ext cx="2476500" cy="9525"/>
          </a:xfrm>
          <a:custGeom xmlns:a="http://schemas.openxmlformats.org/drawingml/2006/main">
            <a:rect l="l" t="t" r="r" b="b"/>
            <a:pathLst>
              <a:path w="2476500" h="9525">
                <a:moveTo>
                  <a:pt x="0" y="0"/>
                </a:moveTo>
                <a:lnTo>
                  <a:pt x="2476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chemeClr val="accent5"/>
            </a:solidFill>
          </a:ln>
        </p:spPr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95D14137-6EA9-479C-B1BA-82C1B26CA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58368" y="4431982"/>
            <a:ext cx="683133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>
                <a:solidFill>
                  <a:srgbClr val="5B7388"/>
                </a:solidFill>
                <a:latin typeface="+mn-lt"/>
                <a:ea typeface="+mn-lt"/>
                <a:cs typeface="+mn-lt"/>
              </a:rPr>
              <a:t>需求行</a:t>
            </a:r>
          </a:p>
        </p:txBody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D8C07120-A978-4E9B-B99D-EFA59CCC0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48462" y="4773930"/>
            <a:ext cx="1715826" cy="704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600" b="1">
                <a:solidFill>
                  <a:schemeClr val="accent3"/>
                </a:solidFill>
                <a:latin typeface="Consolas"/>
                <a:ea typeface="Consolas"/>
                <a:cs typeface="Consolas"/>
              </a:rPr>
              <a:t>28,000</a:t>
            </a:r>
          </a:p>
        </p:txBody>
      </p:sp>
      <p:sp>
        <p:nvSpPr>
          <p:cNvPr id="12" name="TextBox 12">
            <a:extLst xmlns:a="http://schemas.openxmlformats.org/drawingml/2006/main">
              <a:ext uri="{FF2B5EF4-FFF2-40B4-BE49-F238E27FC236}">
                <a16:creationId xmlns:a16="http://schemas.microsoft.com/office/drawing/2014/main" id="{8BBC5FDD-0D99-4B9A-96A1-3C66194EA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58368" y="5384482"/>
            <a:ext cx="2226888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>
                <a:solidFill>
                  <a:srgbClr val="5B7388"/>
                </a:solidFill>
                <a:latin typeface="+mn-lt"/>
                <a:ea typeface="+mn-lt"/>
                <a:cs typeface="+mn-lt"/>
              </a:rPr>
              <a:t>12 节点 · 11 条供应弧</a:t>
            </a:r>
          </a:p>
        </p:txBody>
      </p:sp>
      <p:sp>
        <p:nvSpPr>
          <p:cNvPr id="14" name="Freeform 14">
            <a:extLst xmlns:a="http://schemas.openxmlformats.org/drawingml/2006/main">
              <a:ext uri="{FF2B5EF4-FFF2-40B4-BE49-F238E27FC236}">
                <a16:creationId xmlns:a16="http://schemas.microsoft.com/office/drawing/2014/main" id="{6EF06F08-753C-405F-85EA-6E3B8A27A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714750" y="2343150"/>
            <a:ext cx="9525" cy="2876550"/>
          </a:xfrm>
          <a:custGeom xmlns:a="http://schemas.openxmlformats.org/drawingml/2006/main">
            <a:rect l="l" t="t" r="r" b="b"/>
            <a:pathLst>
              <a:path w="9525" h="2876550">
                <a:moveTo>
                  <a:pt x="0" y="0"/>
                </a:moveTo>
                <a:lnTo>
                  <a:pt x="0" y="2876550"/>
                </a:lnTo>
              </a:path>
            </a:pathLst>
          </a:custGeom>
          <a:noFill xmlns:a="http://schemas.openxmlformats.org/drawingml/2006/main"/>
          <a:ln xmlns:a="http://schemas.openxmlformats.org/drawingml/2006/main" w="57150">
            <a:solidFill>
              <a:schemeClr val="accent5"/>
            </a:solidFill>
          </a:ln>
        </p:spPr>
      </p:sp>
      <p:sp>
        <p:nvSpPr>
          <p:cNvPr id="15" name="Ellipse 15">
            <a:extLst xmlns:a="http://schemas.openxmlformats.org/drawingml/2006/main">
              <a:ext uri="{FF2B5EF4-FFF2-40B4-BE49-F238E27FC236}">
                <a16:creationId xmlns:a16="http://schemas.microsoft.com/office/drawing/2014/main" id="{0840BA54-3798-49A7-BA3E-3C2705634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4099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</p:sp>
      <p:sp>
        <p:nvSpPr>
          <p:cNvPr id="16" name="Freeform 16">
            <a:extLst xmlns:a="http://schemas.openxmlformats.org/drawingml/2006/main">
              <a:ext uri="{FF2B5EF4-FFF2-40B4-BE49-F238E27FC236}">
                <a16:creationId xmlns:a16="http://schemas.microsoft.com/office/drawing/2014/main" id="{D1432E0A-31DC-4A56-9F5C-9E5AB4E4A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600450" y="2214562"/>
            <a:ext cx="228600" cy="85725"/>
          </a:xfrm>
          <a:custGeom xmlns:a="http://schemas.openxmlformats.org/drawingml/2006/main">
            <a:rect l="l" t="t" r="r" b="b"/>
            <a:pathLst>
              <a:path w="228600" h="85725">
                <a:moveTo>
                  <a:pt x="0" y="42862"/>
                </a:moveTo>
                <a:cubicBezTo>
                  <a:pt x="0" y="66535"/>
                  <a:pt x="51174" y="85725"/>
                  <a:pt x="114300" y="85725"/>
                </a:cubicBezTo>
                <a:cubicBezTo>
                  <a:pt x="177426" y="85725"/>
                  <a:pt x="228600" y="66535"/>
                  <a:pt x="228600" y="42862"/>
                </a:cubicBezTo>
                <a:cubicBezTo>
                  <a:pt x="228600" y="19190"/>
                  <a:pt x="177426" y="0"/>
                  <a:pt x="114300" y="0"/>
                </a:cubicBezTo>
                <a:cubicBezTo>
                  <a:pt x="51174" y="0"/>
                  <a:pt x="0" y="19190"/>
                  <a:pt x="0" y="42862"/>
                </a:cubicBez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FFFFFF"/>
            </a:solidFill>
          </a:ln>
        </p:spPr>
      </p:sp>
      <p:sp>
        <p:nvSpPr>
          <p:cNvPr id="17" name="Freeform 17">
            <a:extLst xmlns:a="http://schemas.openxmlformats.org/drawingml/2006/main">
              <a:ext uri="{FF2B5EF4-FFF2-40B4-BE49-F238E27FC236}">
                <a16:creationId xmlns:a16="http://schemas.microsoft.com/office/drawing/2014/main" id="{FBABFF0F-2AC4-4A54-8AE0-05816AFEC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600450" y="2257425"/>
            <a:ext cx="228600" cy="128588"/>
          </a:xfrm>
          <a:custGeom xmlns:a="http://schemas.openxmlformats.org/drawingml/2006/main">
            <a:rect l="l" t="t" r="r" b="b"/>
            <a:pathLst>
              <a:path w="228600" h="128588">
                <a:moveTo>
                  <a:pt x="0" y="0"/>
                </a:moveTo>
                <a:lnTo>
                  <a:pt x="0" y="85725"/>
                </a:lnTo>
                <a:cubicBezTo>
                  <a:pt x="0" y="109397"/>
                  <a:pt x="51174" y="128588"/>
                  <a:pt x="114300" y="128588"/>
                </a:cubicBezTo>
                <a:cubicBezTo>
                  <a:pt x="177426" y="128588"/>
                  <a:pt x="228600" y="109397"/>
                  <a:pt x="228600" y="85725"/>
                </a:cubicBez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FFFFFF"/>
            </a:solidFill>
          </a:ln>
        </p:spPr>
      </p:sp>
      <p:sp>
        <p:nvSpPr>
          <p:cNvPr id="18" name="Freeform 18">
            <a:extLst xmlns:a="http://schemas.openxmlformats.org/drawingml/2006/main">
              <a:ext uri="{FF2B5EF4-FFF2-40B4-BE49-F238E27FC236}">
                <a16:creationId xmlns:a16="http://schemas.microsoft.com/office/drawing/2014/main" id="{85ABFFFA-8A14-4688-A500-6422472C5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600450" y="2343150"/>
            <a:ext cx="228600" cy="128588"/>
          </a:xfrm>
          <a:custGeom xmlns:a="http://schemas.openxmlformats.org/drawingml/2006/main">
            <a:rect l="l" t="t" r="r" b="b"/>
            <a:pathLst>
              <a:path w="228600" h="128588">
                <a:moveTo>
                  <a:pt x="0" y="0"/>
                </a:moveTo>
                <a:lnTo>
                  <a:pt x="0" y="85725"/>
                </a:lnTo>
                <a:cubicBezTo>
                  <a:pt x="0" y="109397"/>
                  <a:pt x="51174" y="128588"/>
                  <a:pt x="114300" y="128588"/>
                </a:cubicBezTo>
                <a:cubicBezTo>
                  <a:pt x="177426" y="128588"/>
                  <a:pt x="228600" y="109397"/>
                  <a:pt x="228600" y="85725"/>
                </a:cubicBez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FFFFFF"/>
            </a:solidFill>
          </a:ln>
        </p:spPr>
      </p:sp>
      <p:sp>
        <p:nvSpPr>
          <p:cNvPr id="20" name="TextBox 20">
            <a:extLst xmlns:a="http://schemas.openxmlformats.org/drawingml/2006/main">
              <a:ext uri="{FF2B5EF4-FFF2-40B4-BE49-F238E27FC236}">
                <a16:creationId xmlns:a16="http://schemas.microsoft.com/office/drawing/2014/main" id="{9ADA2373-465F-4F3E-8F78-A8254AB97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239006" y="2072640"/>
            <a:ext cx="1239561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chemeClr val="dk1"/>
                </a:solidFill>
                <a:latin typeface="+mn-lt"/>
                <a:ea typeface="+mn-lt"/>
                <a:cs typeface="+mn-lt"/>
              </a:rPr>
              <a:t>原始 .xlsb</a:t>
            </a:r>
          </a:p>
        </p:txBody>
      </p:sp>
      <p:sp>
        <p:nvSpPr>
          <p:cNvPr id="21" name="TextBox 21">
            <a:extLst xmlns:a="http://schemas.openxmlformats.org/drawingml/2006/main">
              <a:ext uri="{FF2B5EF4-FFF2-40B4-BE49-F238E27FC236}">
                <a16:creationId xmlns:a16="http://schemas.microsoft.com/office/drawing/2014/main" id="{EF997830-F685-49C8-B341-C48D00310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239768" y="2412682"/>
            <a:ext cx="2704033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>
                <a:solidFill>
                  <a:srgbClr val="5B7388"/>
                </a:solidFill>
                <a:latin typeface="+mn-lt"/>
                <a:ea typeface="+mn-lt"/>
                <a:cs typeface="+mn-lt"/>
              </a:rPr>
              <a:t>完整文件 SHA-256 先校验</a:t>
            </a:r>
          </a:p>
        </p:txBody>
      </p:sp>
      <p:sp>
        <p:nvSpPr>
          <p:cNvPr id="23" name="Ellipse 23">
            <a:extLst xmlns:a="http://schemas.openxmlformats.org/drawingml/2006/main">
              <a:ext uri="{FF2B5EF4-FFF2-40B4-BE49-F238E27FC236}">
                <a16:creationId xmlns:a16="http://schemas.microsoft.com/office/drawing/2014/main" id="{D791290A-C6DA-41CD-B12D-D75EE3D9C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409950" y="29908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</p:sp>
      <p:sp>
        <p:nvSpPr>
          <p:cNvPr id="24" name="TextBox 24">
            <a:extLst xmlns:a="http://schemas.openxmlformats.org/drawingml/2006/main">
              <a:ext uri="{FF2B5EF4-FFF2-40B4-BE49-F238E27FC236}">
                <a16:creationId xmlns:a16="http://schemas.microsoft.com/office/drawing/2014/main" id="{30E04F87-A2A4-4CC6-AE99-470A8E4C5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565669" y="3177540"/>
            <a:ext cx="298163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800" b="1">
                <a:solidFill>
                  <a:srgbClr val="FFFFFF"/>
                </a:solidFill>
                <a:latin typeface="+mn-lt"/>
                <a:ea typeface="+mn-lt"/>
                <a:cs typeface="+mn-lt"/>
              </a:rPr>
              <a:t>61</a:t>
            </a:r>
          </a:p>
        </p:txBody>
      </p:sp>
      <p:sp>
        <p:nvSpPr>
          <p:cNvPr id="25" name="TextBox 25">
            <a:extLst xmlns:a="http://schemas.openxmlformats.org/drawingml/2006/main">
              <a:ext uri="{FF2B5EF4-FFF2-40B4-BE49-F238E27FC236}">
                <a16:creationId xmlns:a16="http://schemas.microsoft.com/office/drawing/2014/main" id="{8E8F099B-5430-4249-B192-4C564EB6A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239006" y="3025140"/>
            <a:ext cx="1722981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chemeClr val="dk1"/>
                </a:solidFill>
                <a:latin typeface="+mn-lt"/>
                <a:ea typeface="+mn-lt"/>
                <a:cs typeface="+mn-lt"/>
              </a:rPr>
              <a:t>第 61 期原始行</a:t>
            </a:r>
          </a:p>
        </p:txBody>
      </p:sp>
      <p:sp>
        <p:nvSpPr>
          <p:cNvPr id="26" name="TextBox 26">
            <a:extLst xmlns:a="http://schemas.openxmlformats.org/drawingml/2006/main">
              <a:ext uri="{FF2B5EF4-FFF2-40B4-BE49-F238E27FC236}">
                <a16:creationId xmlns:a16="http://schemas.microsoft.com/office/drawing/2014/main" id="{8D766EC6-BD05-4A14-99EB-596C804EA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239768" y="3365182"/>
            <a:ext cx="3912718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>
                <a:solidFill>
                  <a:srgbClr val="5B7388"/>
                </a:solidFill>
                <a:latin typeface="+mn-lt"/>
                <a:ea typeface="+mn-lt"/>
                <a:cs typeface="+mn-lt"/>
              </a:rPr>
              <a:t>3 个重复 BOM 配置 · 217 条逐车需求</a:t>
            </a:r>
          </a:p>
        </p:txBody>
      </p:sp>
      <p:sp>
        <p:nvSpPr>
          <p:cNvPr id="28" name="Ellipse 28">
            <a:extLst xmlns:a="http://schemas.openxmlformats.org/drawingml/2006/main">
              <a:ext uri="{FF2B5EF4-FFF2-40B4-BE49-F238E27FC236}">
                <a16:creationId xmlns:a16="http://schemas.microsoft.com/office/drawing/2014/main" id="{10DEACB1-B512-462E-9BC1-709E7D703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409950" y="3943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3"/>
          </a:solidFill>
          <a:ln xmlns:a="http://schemas.openxmlformats.org/drawingml/2006/main">
            <a:noFill/>
          </a:ln>
        </p:spPr>
      </p:sp>
      <p:sp>
        <p:nvSpPr>
          <p:cNvPr id="29" name="Freeform 29">
            <a:extLst xmlns:a="http://schemas.openxmlformats.org/drawingml/2006/main">
              <a:ext uri="{FF2B5EF4-FFF2-40B4-BE49-F238E27FC236}">
                <a16:creationId xmlns:a16="http://schemas.microsoft.com/office/drawing/2014/main" id="{13610098-B086-444F-B2B5-F9F508F1E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571875" y="4333875"/>
            <a:ext cx="57150" cy="57150"/>
          </a:xfrm>
          <a:custGeom xmlns:a="http://schemas.openxmlformats.org/drawingml/2006/main">
            <a:rect l="l" t="t" r="r" b="b"/>
            <a:pathLst>
              <a:path w="57150" h="57150">
                <a:moveTo>
                  <a:pt x="57150" y="28575"/>
                </a:moveTo>
                <a:cubicBezTo>
                  <a:pt x="57150" y="12793"/>
                  <a:pt x="44357" y="0"/>
                  <a:pt x="28575" y="0"/>
                </a:cubicBezTo>
                <a:cubicBezTo>
                  <a:pt x="12793" y="0"/>
                  <a:pt x="0" y="12793"/>
                  <a:pt x="0" y="28575"/>
                </a:cubicBezTo>
                <a:cubicBezTo>
                  <a:pt x="0" y="44357"/>
                  <a:pt x="12793" y="57150"/>
                  <a:pt x="28575" y="57150"/>
                </a:cubicBezTo>
                <a:cubicBezTo>
                  <a:pt x="44357" y="57150"/>
                  <a:pt x="57150" y="44357"/>
                  <a:pt x="57150" y="28575"/>
                </a:cubicBez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FFFFFF"/>
            </a:solidFill>
          </a:ln>
        </p:spPr>
      </p:sp>
      <p:sp>
        <p:nvSpPr>
          <p:cNvPr id="30" name="Freeform 30">
            <a:extLst xmlns:a="http://schemas.openxmlformats.org/drawingml/2006/main">
              <a:ext uri="{FF2B5EF4-FFF2-40B4-BE49-F238E27FC236}">
                <a16:creationId xmlns:a16="http://schemas.microsoft.com/office/drawing/2014/main" id="{4406E71D-3325-41FF-81F4-8139207DC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714750" y="4105275"/>
            <a:ext cx="57150" cy="57150"/>
          </a:xfrm>
          <a:custGeom xmlns:a="http://schemas.openxmlformats.org/drawingml/2006/main">
            <a:rect l="l" t="t" r="r" b="b"/>
            <a:pathLst>
              <a:path w="57150" h="57150">
                <a:moveTo>
                  <a:pt x="57150" y="28575"/>
                </a:moveTo>
                <a:cubicBezTo>
                  <a:pt x="57150" y="12793"/>
                  <a:pt x="44357" y="0"/>
                  <a:pt x="28575" y="0"/>
                </a:cubicBezTo>
                <a:cubicBezTo>
                  <a:pt x="12793" y="0"/>
                  <a:pt x="0" y="12793"/>
                  <a:pt x="0" y="28575"/>
                </a:cubicBezTo>
                <a:cubicBezTo>
                  <a:pt x="0" y="44357"/>
                  <a:pt x="12793" y="57150"/>
                  <a:pt x="28575" y="57150"/>
                </a:cubicBezTo>
                <a:cubicBezTo>
                  <a:pt x="44357" y="57150"/>
                  <a:pt x="57150" y="44357"/>
                  <a:pt x="57150" y="28575"/>
                </a:cubicBez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FFFFFF"/>
            </a:solidFill>
          </a:ln>
        </p:spPr>
      </p:sp>
      <p:sp>
        <p:nvSpPr>
          <p:cNvPr id="31" name="Freeform 31">
            <a:extLst xmlns:a="http://schemas.openxmlformats.org/drawingml/2006/main">
              <a:ext uri="{FF2B5EF4-FFF2-40B4-BE49-F238E27FC236}">
                <a16:creationId xmlns:a16="http://schemas.microsoft.com/office/drawing/2014/main" id="{200C40DC-22A2-49E1-A0BB-7DF7018C8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714750" y="4333875"/>
            <a:ext cx="57150" cy="57150"/>
          </a:xfrm>
          <a:custGeom xmlns:a="http://schemas.openxmlformats.org/drawingml/2006/main">
            <a:rect l="l" t="t" r="r" b="b"/>
            <a:pathLst>
              <a:path w="57150" h="57150">
                <a:moveTo>
                  <a:pt x="57150" y="28575"/>
                </a:moveTo>
                <a:cubicBezTo>
                  <a:pt x="57150" y="12793"/>
                  <a:pt x="44357" y="0"/>
                  <a:pt x="28575" y="0"/>
                </a:cubicBezTo>
                <a:cubicBezTo>
                  <a:pt x="12793" y="0"/>
                  <a:pt x="0" y="12793"/>
                  <a:pt x="0" y="28575"/>
                </a:cubicBezTo>
                <a:cubicBezTo>
                  <a:pt x="0" y="44357"/>
                  <a:pt x="12793" y="57150"/>
                  <a:pt x="28575" y="57150"/>
                </a:cubicBezTo>
                <a:cubicBezTo>
                  <a:pt x="44357" y="57150"/>
                  <a:pt x="57150" y="44357"/>
                  <a:pt x="57150" y="28575"/>
                </a:cubicBez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FFFFFF"/>
            </a:solidFill>
          </a:ln>
        </p:spPr>
      </p:sp>
      <p:sp>
        <p:nvSpPr>
          <p:cNvPr id="32" name="Freeform 32">
            <a:extLst xmlns:a="http://schemas.openxmlformats.org/drawingml/2006/main">
              <a:ext uri="{FF2B5EF4-FFF2-40B4-BE49-F238E27FC236}">
                <a16:creationId xmlns:a16="http://schemas.microsoft.com/office/drawing/2014/main" id="{082CDE54-A39C-46C8-871F-C671F148A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643312" y="4219575"/>
            <a:ext cx="57150" cy="57150"/>
          </a:xfrm>
          <a:custGeom xmlns:a="http://schemas.openxmlformats.org/drawingml/2006/main">
            <a:rect l="l" t="t" r="r" b="b"/>
            <a:pathLst>
              <a:path w="57150" h="57150">
                <a:moveTo>
                  <a:pt x="57150" y="28575"/>
                </a:moveTo>
                <a:cubicBezTo>
                  <a:pt x="57150" y="12793"/>
                  <a:pt x="44357" y="0"/>
                  <a:pt x="28575" y="0"/>
                </a:cubicBezTo>
                <a:cubicBezTo>
                  <a:pt x="12793" y="0"/>
                  <a:pt x="0" y="12793"/>
                  <a:pt x="0" y="28575"/>
                </a:cubicBezTo>
                <a:cubicBezTo>
                  <a:pt x="0" y="44357"/>
                  <a:pt x="12793" y="57150"/>
                  <a:pt x="28575" y="57150"/>
                </a:cubicBezTo>
                <a:cubicBezTo>
                  <a:pt x="44357" y="57150"/>
                  <a:pt x="57150" y="44357"/>
                  <a:pt x="57150" y="28575"/>
                </a:cubicBez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FFFFFF"/>
            </a:solidFill>
          </a:ln>
        </p:spPr>
      </p:sp>
      <p:sp>
        <p:nvSpPr>
          <p:cNvPr id="33" name="Freeform 33">
            <a:extLst xmlns:a="http://schemas.openxmlformats.org/drawingml/2006/main">
              <a:ext uri="{FF2B5EF4-FFF2-40B4-BE49-F238E27FC236}">
                <a16:creationId xmlns:a16="http://schemas.microsoft.com/office/drawing/2014/main" id="{B26BF19C-96E7-4F65-B722-AF934FF2C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786188" y="4219575"/>
            <a:ext cx="57150" cy="57150"/>
          </a:xfrm>
          <a:custGeom xmlns:a="http://schemas.openxmlformats.org/drawingml/2006/main">
            <a:rect l="l" t="t" r="r" b="b"/>
            <a:pathLst>
              <a:path w="57150" h="57150">
                <a:moveTo>
                  <a:pt x="57150" y="28575"/>
                </a:moveTo>
                <a:cubicBezTo>
                  <a:pt x="57150" y="12793"/>
                  <a:pt x="44357" y="0"/>
                  <a:pt x="28575" y="0"/>
                </a:cubicBezTo>
                <a:cubicBezTo>
                  <a:pt x="12793" y="0"/>
                  <a:pt x="0" y="12793"/>
                  <a:pt x="0" y="28575"/>
                </a:cubicBezTo>
                <a:cubicBezTo>
                  <a:pt x="0" y="44357"/>
                  <a:pt x="12793" y="57150"/>
                  <a:pt x="28575" y="57150"/>
                </a:cubicBezTo>
                <a:cubicBezTo>
                  <a:pt x="44357" y="57150"/>
                  <a:pt x="57150" y="44357"/>
                  <a:pt x="57150" y="28575"/>
                </a:cubicBez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FFFFFF"/>
            </a:solidFill>
          </a:ln>
        </p:spPr>
      </p:sp>
      <p:sp>
        <p:nvSpPr>
          <p:cNvPr id="34" name="Freeform 34">
            <a:extLst xmlns:a="http://schemas.openxmlformats.org/drawingml/2006/main">
              <a:ext uri="{FF2B5EF4-FFF2-40B4-BE49-F238E27FC236}">
                <a16:creationId xmlns:a16="http://schemas.microsoft.com/office/drawing/2014/main" id="{5A50800A-27A3-42CF-A9B5-2C6898BC8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615566" y="4272439"/>
            <a:ext cx="41148" cy="65808"/>
          </a:xfrm>
          <a:custGeom xmlns:a="http://schemas.openxmlformats.org/drawingml/2006/main">
            <a:rect l="l" t="t" r="r" b="b"/>
            <a:pathLst>
              <a:path w="41148" h="65808">
                <a:moveTo>
                  <a:pt x="0" y="65808"/>
                </a:moveTo>
                <a:lnTo>
                  <a:pt x="4114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FFFFFF"/>
            </a:solidFill>
          </a:ln>
        </p:spPr>
      </p:sp>
      <p:sp>
        <p:nvSpPr>
          <p:cNvPr id="35" name="Freeform 35">
            <a:extLst xmlns:a="http://schemas.openxmlformats.org/drawingml/2006/main">
              <a:ext uri="{FF2B5EF4-FFF2-40B4-BE49-F238E27FC236}">
                <a16:creationId xmlns:a16="http://schemas.microsoft.com/office/drawing/2014/main" id="{18A5BA53-F8B6-4315-84BA-461260650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687047" y="4158124"/>
            <a:ext cx="41105" cy="65780"/>
          </a:xfrm>
          <a:custGeom xmlns:a="http://schemas.openxmlformats.org/drawingml/2006/main">
            <a:rect l="l" t="t" r="r" b="b"/>
            <a:pathLst>
              <a:path w="41105" h="65780">
                <a:moveTo>
                  <a:pt x="0" y="65780"/>
                </a:moveTo>
                <a:lnTo>
                  <a:pt x="4110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FFFFFF"/>
            </a:solidFill>
          </a:ln>
        </p:spPr>
      </p:sp>
      <p:sp>
        <p:nvSpPr>
          <p:cNvPr id="36" name="Freeform 36">
            <a:extLst xmlns:a="http://schemas.openxmlformats.org/drawingml/2006/main">
              <a:ext uri="{FF2B5EF4-FFF2-40B4-BE49-F238E27FC236}">
                <a16:creationId xmlns:a16="http://schemas.microsoft.com/office/drawing/2014/main" id="{61DCD124-3D2D-472F-923B-6BCEA63C7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687104" y="4272510"/>
            <a:ext cx="41091" cy="65722"/>
          </a:xfrm>
          <a:custGeom xmlns:a="http://schemas.openxmlformats.org/drawingml/2006/main">
            <a:rect l="l" t="t" r="r" b="b"/>
            <a:pathLst>
              <a:path w="41091" h="65722">
                <a:moveTo>
                  <a:pt x="0" y="0"/>
                </a:moveTo>
                <a:lnTo>
                  <a:pt x="41091" y="65722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FFFFFF"/>
            </a:solidFill>
          </a:ln>
        </p:spPr>
      </p:sp>
      <p:sp>
        <p:nvSpPr>
          <p:cNvPr id="37" name="Freeform 37">
            <a:extLst xmlns:a="http://schemas.openxmlformats.org/drawingml/2006/main">
              <a:ext uri="{FF2B5EF4-FFF2-40B4-BE49-F238E27FC236}">
                <a16:creationId xmlns:a16="http://schemas.microsoft.com/office/drawing/2014/main" id="{CE1DD797-FDB0-4B3F-A82B-05D2B7147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758513" y="4158139"/>
            <a:ext cx="41162" cy="65865"/>
          </a:xfrm>
          <a:custGeom xmlns:a="http://schemas.openxmlformats.org/drawingml/2006/main">
            <a:rect l="l" t="t" r="r" b="b"/>
            <a:pathLst>
              <a:path w="41162" h="65865">
                <a:moveTo>
                  <a:pt x="0" y="0"/>
                </a:moveTo>
                <a:lnTo>
                  <a:pt x="41162" y="65865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FFFFFF"/>
            </a:solidFill>
          </a:ln>
        </p:spPr>
      </p:sp>
      <p:sp>
        <p:nvSpPr>
          <p:cNvPr id="39" name="TextBox 39">
            <a:extLst xmlns:a="http://schemas.openxmlformats.org/drawingml/2006/main">
              <a:ext uri="{FF2B5EF4-FFF2-40B4-BE49-F238E27FC236}">
                <a16:creationId xmlns:a16="http://schemas.microsoft.com/office/drawing/2014/main" id="{5FE9E410-1071-4AEC-B451-89DB17C4A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239006" y="3977640"/>
            <a:ext cx="1506714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chemeClr val="dk1"/>
                </a:solidFill>
                <a:latin typeface="+mn-lt"/>
                <a:ea typeface="+mn-lt"/>
                <a:cs typeface="+mn-lt"/>
              </a:rPr>
              <a:t>lineage.json</a:t>
            </a:r>
          </a:p>
        </p:txBody>
      </p:sp>
      <p:sp>
        <p:nvSpPr>
          <p:cNvPr id="40" name="TextBox 40">
            <a:extLst xmlns:a="http://schemas.openxmlformats.org/drawingml/2006/main">
              <a:ext uri="{FF2B5EF4-FFF2-40B4-BE49-F238E27FC236}">
                <a16:creationId xmlns:a16="http://schemas.microsoft.com/office/drawing/2014/main" id="{7AD7C2A0-8BD2-42AF-A7B7-0DDE9AD84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239768" y="4317682"/>
            <a:ext cx="4253027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>
                <a:solidFill>
                  <a:srgbClr val="5B7388"/>
                </a:solidFill>
                <a:latin typeface="+mn-lt"/>
                <a:ea typeface="+mn-lt"/>
                <a:cs typeface="+mn-lt"/>
              </a:rPr>
              <a:t>需求、BOM、库存、容量保留工作表行号</a:t>
            </a:r>
          </a:p>
        </p:txBody>
      </p:sp>
      <p:sp>
        <p:nvSpPr>
          <p:cNvPr id="42" name="Ellipse 42">
            <a:extLst xmlns:a="http://schemas.openxmlformats.org/drawingml/2006/main">
              <a:ext uri="{FF2B5EF4-FFF2-40B4-BE49-F238E27FC236}">
                <a16:creationId xmlns:a16="http://schemas.microsoft.com/office/drawing/2014/main" id="{846C95E2-5C27-4255-ADB2-ACFB9B7F2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409950" y="48958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A085"/>
          </a:solidFill>
          <a:ln xmlns:a="http://schemas.openxmlformats.org/drawingml/2006/main">
            <a:noFill/>
          </a:ln>
        </p:spPr>
      </p:sp>
      <p:sp>
        <p:nvSpPr>
          <p:cNvPr id="43" name="Freeform 43">
            <a:extLst xmlns:a="http://schemas.openxmlformats.org/drawingml/2006/main">
              <a:ext uri="{FF2B5EF4-FFF2-40B4-BE49-F238E27FC236}">
                <a16:creationId xmlns:a16="http://schemas.microsoft.com/office/drawing/2014/main" id="{BB782B64-E27C-489D-9484-BA8DBDAFB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566881" y="5072062"/>
            <a:ext cx="279010" cy="254975"/>
          </a:xfrm>
          <a:custGeom xmlns:a="http://schemas.openxmlformats.org/drawingml/2006/main">
            <a:rect l="l" t="t" r="r" b="b"/>
            <a:pathLst>
              <a:path w="279010" h="254975">
                <a:moveTo>
                  <a:pt x="140154" y="254975"/>
                </a:moveTo>
                <a:cubicBezTo>
                  <a:pt x="50649" y="227230"/>
                  <a:pt x="0" y="132765"/>
                  <a:pt x="26425" y="42862"/>
                </a:cubicBezTo>
                <a:cubicBezTo>
                  <a:pt x="70939" y="44899"/>
                  <a:pt x="114496" y="29526"/>
                  <a:pt x="147869" y="0"/>
                </a:cubicBezTo>
                <a:cubicBezTo>
                  <a:pt x="181242" y="29526"/>
                  <a:pt x="224800" y="44899"/>
                  <a:pt x="269313" y="42862"/>
                </a:cubicBezTo>
                <a:cubicBezTo>
                  <a:pt x="279010" y="75854"/>
                  <a:pt x="278561" y="110999"/>
                  <a:pt x="268027" y="143732"/>
                </a:cubicBez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FFFFFF"/>
            </a:solidFill>
          </a:ln>
        </p:spPr>
      </p:sp>
      <p:sp>
        <p:nvSpPr>
          <p:cNvPr id="44" name="Freeform 44">
            <a:extLst xmlns:a="http://schemas.openxmlformats.org/drawingml/2006/main">
              <a:ext uri="{FF2B5EF4-FFF2-40B4-BE49-F238E27FC236}">
                <a16:creationId xmlns:a16="http://schemas.microsoft.com/office/drawing/2014/main" id="{AFCE4279-9F7B-4E2B-B63B-9D2644E41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757612" y="5272088"/>
            <a:ext cx="85725" cy="57150"/>
          </a:xfrm>
          <a:custGeom xmlns:a="http://schemas.openxmlformats.org/drawingml/2006/main">
            <a:rect l="l" t="t" r="r" b="b"/>
            <a:pathLst>
              <a:path w="85725" h="57150">
                <a:moveTo>
                  <a:pt x="0" y="28575"/>
                </a:moveTo>
                <a:lnTo>
                  <a:pt x="28575" y="57150"/>
                </a:lnTo>
                <a:lnTo>
                  <a:pt x="857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FFFFFF"/>
            </a:solidFill>
          </a:ln>
        </p:spPr>
      </p:sp>
      <p:sp>
        <p:nvSpPr>
          <p:cNvPr id="46" name="TextBox 46">
            <a:extLst xmlns:a="http://schemas.openxmlformats.org/drawingml/2006/main">
              <a:ext uri="{FF2B5EF4-FFF2-40B4-BE49-F238E27FC236}">
                <a16:creationId xmlns:a16="http://schemas.microsoft.com/office/drawing/2014/main" id="{30D2A9C0-F8C2-4235-B093-3842A8FE6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239006" y="4930140"/>
            <a:ext cx="1150510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chemeClr val="dk1"/>
                </a:solidFill>
                <a:latin typeface="+mn-lt"/>
                <a:ea typeface="+mn-lt"/>
                <a:cs typeface="+mn-lt"/>
              </a:rPr>
              <a:t>217 → 217</a:t>
            </a:r>
          </a:p>
        </p:txBody>
      </p:sp>
      <p:sp>
        <p:nvSpPr>
          <p:cNvPr id="47" name="TextBox 47">
            <a:extLst xmlns:a="http://schemas.openxmlformats.org/drawingml/2006/main">
              <a:ext uri="{FF2B5EF4-FFF2-40B4-BE49-F238E27FC236}">
                <a16:creationId xmlns:a16="http://schemas.microsoft.com/office/drawing/2014/main" id="{46DF731E-7978-4E08-83F9-EF6639FD2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239768" y="5270182"/>
            <a:ext cx="1982553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>
                <a:solidFill>
                  <a:srgbClr val="5B7388"/>
                </a:solidFill>
                <a:latin typeface="+mn-lt"/>
                <a:ea typeface="+mn-lt"/>
                <a:cs typeface="+mn-lt"/>
              </a:rPr>
              <a:t>聚合前后数量差为 0</a:t>
            </a:r>
          </a:p>
        </p:txBody>
      </p:sp>
      <p:sp>
        <p:nvSpPr>
          <p:cNvPr id="50" name="Rectangle 50">
            <a:extLst xmlns:a="http://schemas.openxmlformats.org/drawingml/2006/main">
              <a:ext uri="{FF2B5EF4-FFF2-40B4-BE49-F238E27FC236}">
                <a16:creationId xmlns:a16="http://schemas.microsoft.com/office/drawing/2014/main" id="{A3BAC180-A287-4795-A9EB-E4A5AA442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096250" y="1790700"/>
            <a:ext cx="3181350" cy="1657350"/>
          </a:xfrm>
          <a:prstGeom xmlns:a="http://schemas.openxmlformats.org/drawingml/2006/main" prst="roundRect">
            <a:avLst>
              <a:gd name="adj" fmla="val 9195"/>
            </a:avLst>
          </a:prstGeom>
          <a:solidFill xmlns:a="http://schemas.openxmlformats.org/drawingml/2006/main">
            <a:schemeClr val="lt2"/>
          </a:solidFill>
          <a:ln xmlns:a="http://schemas.openxmlformats.org/drawingml/2006/main" w="19050">
            <a:solidFill>
              <a:schemeClr val="accent5"/>
            </a:solidFill>
          </a:ln>
        </p:spPr>
      </p:sp>
      <p:sp>
        <p:nvSpPr>
          <p:cNvPr id="51" name="TextBox 51">
            <a:extLst xmlns:a="http://schemas.openxmlformats.org/drawingml/2006/main">
              <a:ext uri="{FF2B5EF4-FFF2-40B4-BE49-F238E27FC236}">
                <a16:creationId xmlns:a16="http://schemas.microsoft.com/office/drawing/2014/main" id="{0019150D-FEF4-42DC-9580-5CF37D669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34756" y="1977390"/>
            <a:ext cx="2330257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chemeClr val="accent1"/>
                </a:solidFill>
                <a:latin typeface="+mn-lt"/>
                <a:ea typeface="+mn-lt"/>
                <a:cs typeface="+mn-lt"/>
              </a:rPr>
              <a:t>公开层 · CC BY 4.0</a:t>
            </a:r>
          </a:p>
        </p:txBody>
      </p:sp>
      <p:sp>
        <p:nvSpPr>
          <p:cNvPr id="52" name="TextBox 52">
            <a:extLst xmlns:a="http://schemas.openxmlformats.org/drawingml/2006/main">
              <a:ext uri="{FF2B5EF4-FFF2-40B4-BE49-F238E27FC236}">
                <a16:creationId xmlns:a16="http://schemas.microsoft.com/office/drawing/2014/main" id="{0CF0896A-878B-4870-9B3F-AA8CFDF87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35518" y="2393632"/>
            <a:ext cx="1976476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>
                <a:solidFill>
                  <a:schemeClr val="dk1"/>
                </a:solidFill>
                <a:latin typeface="+mn-lt"/>
                <a:ea typeface="+mn-lt"/>
                <a:cs typeface="+mn-lt"/>
              </a:rPr>
              <a:t>BOM · 需求 · 库存</a:t>
            </a:r>
          </a:p>
        </p:txBody>
      </p:sp>
      <p:sp>
        <p:nvSpPr>
          <p:cNvPr id="53" name="TextBox 53">
            <a:extLst xmlns:a="http://schemas.openxmlformats.org/drawingml/2006/main">
              <a:ext uri="{FF2B5EF4-FFF2-40B4-BE49-F238E27FC236}">
                <a16:creationId xmlns:a16="http://schemas.microsoft.com/office/drawing/2014/main" id="{EACE1B5E-2E1A-4712-AC69-10188BA7D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35518" y="2736532"/>
            <a:ext cx="2304631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>
                <a:solidFill>
                  <a:schemeClr val="dk1"/>
                </a:solidFill>
                <a:latin typeface="+mn-lt"/>
                <a:ea typeface="+mn-lt"/>
                <a:cs typeface="+mn-lt"/>
              </a:rPr>
              <a:t>提前期 · 容量 · 供应弧</a:t>
            </a:r>
          </a:p>
        </p:txBody>
      </p:sp>
      <p:sp>
        <p:nvSpPr>
          <p:cNvPr id="54" name="TextBox 54">
            <a:extLst xmlns:a="http://schemas.openxmlformats.org/drawingml/2006/main">
              <a:ext uri="{FF2B5EF4-FFF2-40B4-BE49-F238E27FC236}">
                <a16:creationId xmlns:a16="http://schemas.microsoft.com/office/drawing/2014/main" id="{4139590A-0CDA-4B6C-AA6C-240D6A0B4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37042" y="3092768"/>
            <a:ext cx="3284982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5B7388"/>
                </a:solidFill>
                <a:latin typeface="+mn-lt"/>
                <a:ea typeface="+mn-lt"/>
                <a:cs typeface="+mn-lt"/>
              </a:rPr>
              <a:t>行业背景随机化数据，不是企业原始流水</a:t>
            </a:r>
          </a:p>
        </p:txBody>
      </p:sp>
      <p:sp>
        <p:nvSpPr>
          <p:cNvPr id="55" name="Rectangle 55">
            <a:extLst xmlns:a="http://schemas.openxmlformats.org/drawingml/2006/main">
              <a:ext uri="{FF2B5EF4-FFF2-40B4-BE49-F238E27FC236}">
                <a16:creationId xmlns:a16="http://schemas.microsoft.com/office/drawing/2014/main" id="{209EC218-C6CE-4D59-B901-BDF1285B6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096250" y="3695700"/>
            <a:ext cx="3181350" cy="1657350"/>
          </a:xfrm>
          <a:prstGeom xmlns:a="http://schemas.openxmlformats.org/drawingml/2006/main" prst="roundRect">
            <a:avLst>
              <a:gd name="adj" fmla="val 9195"/>
            </a:avLst>
          </a:prstGeom>
          <a:solidFill xmlns:a="http://schemas.openxmlformats.org/drawingml/2006/main">
            <a:srgbClr val="FFF6E8"/>
          </a:solidFill>
          <a:ln xmlns:a="http://schemas.openxmlformats.org/drawingml/2006/main" w="19050">
            <a:solidFill>
              <a:srgbClr val="FFCF8C"/>
            </a:solidFill>
          </a:ln>
        </p:spPr>
      </p:sp>
      <p:sp>
        <p:nvSpPr>
          <p:cNvPr id="56" name="TextBox 56">
            <a:extLst xmlns:a="http://schemas.openxmlformats.org/drawingml/2006/main">
              <a:ext uri="{FF2B5EF4-FFF2-40B4-BE49-F238E27FC236}">
                <a16:creationId xmlns:a16="http://schemas.microsoft.com/office/drawing/2014/main" id="{F7A34EA0-782F-4582-807D-689AD51A8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34756" y="3882390"/>
            <a:ext cx="2829759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9B5B00"/>
                </a:solidFill>
                <a:latin typeface="+mn-lt"/>
                <a:ea typeface="+mn-lt"/>
                <a:cs typeface="+mn-lt"/>
              </a:rPr>
              <a:t>模拟层 · seed 20260809</a:t>
            </a:r>
          </a:p>
        </p:txBody>
      </p:sp>
      <p:sp>
        <p:nvSpPr>
          <p:cNvPr id="57" name="TextBox 57">
            <a:extLst xmlns:a="http://schemas.openxmlformats.org/drawingml/2006/main">
              <a:ext uri="{FF2B5EF4-FFF2-40B4-BE49-F238E27FC236}">
                <a16:creationId xmlns:a16="http://schemas.microsoft.com/office/drawing/2014/main" id="{A508E734-4799-4908-8E75-B7D21D7D0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35518" y="4298632"/>
            <a:ext cx="2304631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>
                <a:solidFill>
                  <a:schemeClr val="dk1"/>
                </a:solidFill>
                <a:latin typeface="+mn-lt"/>
                <a:ea typeface="+mn-lt"/>
                <a:cs typeface="+mn-lt"/>
              </a:rPr>
              <a:t>客户 · 邮件 · 应急报价</a:t>
            </a:r>
          </a:p>
        </p:txBody>
      </p:sp>
      <p:sp>
        <p:nvSpPr>
          <p:cNvPr id="58" name="TextBox 58">
            <a:extLst xmlns:a="http://schemas.openxmlformats.org/drawingml/2006/main">
              <a:ext uri="{FF2B5EF4-FFF2-40B4-BE49-F238E27FC236}">
                <a16:creationId xmlns:a16="http://schemas.microsoft.com/office/drawing/2014/main" id="{446BB82A-8600-4FD9-8163-D81544836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35518" y="4641532"/>
            <a:ext cx="2304631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>
                <a:solidFill>
                  <a:schemeClr val="dk1"/>
                </a:solidFill>
                <a:latin typeface="+mn-lt"/>
                <a:ea typeface="+mn-lt"/>
                <a:cs typeface="+mn-lt"/>
              </a:rPr>
              <a:t>预算 · 审批 · 随机事故</a:t>
            </a:r>
          </a:p>
        </p:txBody>
      </p:sp>
      <p:sp>
        <p:nvSpPr>
          <p:cNvPr id="59" name="TextBox 59">
            <a:extLst xmlns:a="http://schemas.openxmlformats.org/drawingml/2006/main">
              <a:ext uri="{FF2B5EF4-FFF2-40B4-BE49-F238E27FC236}">
                <a16:creationId xmlns:a16="http://schemas.microsoft.com/office/drawing/2014/main" id="{411E3F35-A9EA-465B-BE26-F2053B7F9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37042" y="4997768"/>
            <a:ext cx="2739771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5B7388"/>
                </a:solidFill>
                <a:latin typeface="+mn-lt"/>
                <a:ea typeface="+mn-lt"/>
                <a:cs typeface="+mn-lt"/>
              </a:rPr>
              <a:t>不能归因于数据集作者或真实企业</a:t>
            </a:r>
          </a:p>
        </p:txBody>
      </p:sp>
      <p:sp>
        <p:nvSpPr>
          <p:cNvPr id="61" name="TextBox 61">
            <a:extLst xmlns:a="http://schemas.openxmlformats.org/drawingml/2006/main">
              <a:ext uri="{FF2B5EF4-FFF2-40B4-BE49-F238E27FC236}">
                <a16:creationId xmlns:a16="http://schemas.microsoft.com/office/drawing/2014/main" id="{AE61458C-40AA-4843-A66F-99242C3D4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3504" y="5985510"/>
            <a:ext cx="6782476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>
                <a:solidFill>
                  <a:srgbClr val="5B7388"/>
                </a:solidFill>
                <a:latin typeface="+mn-lt"/>
                <a:ea typeface="+mn-lt"/>
                <a:cs typeface="+mn-lt"/>
              </a:rPr>
              <a:t>Moetz, Quetschlich &amp; Otto · DOI 10.17632/pr3sdy5vp3.1 · Mendeley Data · CC BY 4.0</a:t>
            </a:r>
          </a:p>
        </p:txBody>
      </p:sp>
      <p:sp>
        <p:nvSpPr>
          <p:cNvPr id="62" name="TextBox 62">
            <a:extLst xmlns:a="http://schemas.openxmlformats.org/drawingml/2006/main">
              <a:ext uri="{FF2B5EF4-FFF2-40B4-BE49-F238E27FC236}">
                <a16:creationId xmlns:a16="http://schemas.microsoft.com/office/drawing/2014/main" id="{9164D69E-826C-487E-AAB6-D0EAC52F1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398606" y="6271260"/>
            <a:ext cx="189890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200">
                <a:solidFill>
                  <a:srgbClr val="7E9AAA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07408709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2">
            <a:extLst xmlns:a="http://schemas.openxmlformats.org/drawingml/2006/main">
              <a:ext uri="{FF2B5EF4-FFF2-40B4-BE49-F238E27FC236}">
                <a16:creationId xmlns:a16="http://schemas.microsoft.com/office/drawing/2014/main" id="{C0B99D62-EBCC-4EB4-A6F2-558D174B7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91312" y="411480"/>
            <a:ext cx="9196121" cy="704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600" b="1">
                <a:solidFill>
                  <a:schemeClr val="accent1"/>
                </a:solidFill>
                <a:latin typeface="+mn-lt"/>
                <a:ea typeface="+mn-lt"/>
                <a:cs typeface="+mn-lt"/>
              </a:rPr>
              <a:t>同一组硬约束，给出三种真正不同的取舍</a:t>
            </a:r>
          </a:p>
        </p:txBody>
      </p:sp>
      <p:sp>
        <p:nvSpPr>
          <p:cNvPr id="3" name="TextBox 3">
            <a:extLst xmlns:a="http://schemas.openxmlformats.org/drawingml/2006/main">
              <a:ext uri="{FF2B5EF4-FFF2-40B4-BE49-F238E27FC236}">
                <a16:creationId xmlns:a16="http://schemas.microsoft.com/office/drawing/2014/main" id="{A714349F-6611-4962-BDE7-06630ECA6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1218" y="1022032"/>
            <a:ext cx="6014085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>
                <a:solidFill>
                  <a:srgbClr val="5B7388"/>
                </a:solidFill>
                <a:latin typeface="+mn-lt"/>
                <a:ea typeface="+mn-lt"/>
                <a:cs typeface="+mn-lt"/>
              </a:rPr>
              <a:t>不是改标题：服务、应急量和成本随策略偏好发生真实变化。</a:t>
            </a:r>
          </a:p>
        </p:txBody>
      </p:sp>
      <p:sp>
        <p:nvSpPr>
          <p:cNvPr id="4" name="Line 4">
            <a:extLst xmlns:a="http://schemas.openxmlformats.org/drawingml/2006/main">
              <a:ext uri="{FF2B5EF4-FFF2-40B4-BE49-F238E27FC236}">
                <a16:creationId xmlns:a16="http://schemas.microsoft.com/office/drawing/2014/main" id="{CEC77C7E-17F0-41FE-8878-C39848832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714750" y="1866900"/>
            <a:ext cx="6286500" cy="9525"/>
          </a:xfrm>
          <a:custGeom xmlns:a="http://schemas.openxmlformats.org/drawingml/2006/main">
            <a:rect l="l" t="t" r="r" b="b"/>
            <a:pathLst>
              <a:path w="6286500" h="9525">
                <a:moveTo>
                  <a:pt x="0" y="0"/>
                </a:moveTo>
                <a:lnTo>
                  <a:pt x="6286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chemeClr val="accent5"/>
            </a:solidFill>
          </a:ln>
        </p:spPr>
      </p:sp>
      <p:sp>
        <p:nvSpPr>
          <p:cNvPr id="5" name="Line 5">
            <a:extLst xmlns:a="http://schemas.openxmlformats.org/drawingml/2006/main">
              <a:ext uri="{FF2B5EF4-FFF2-40B4-BE49-F238E27FC236}">
                <a16:creationId xmlns:a16="http://schemas.microsoft.com/office/drawing/2014/main" id="{1E56A1CB-42D3-499C-990E-6958D6683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714750" y="1790700"/>
            <a:ext cx="9525" cy="152400"/>
          </a:xfrm>
          <a:custGeom xmlns:a="http://schemas.openxmlformats.org/drawingml/2006/main">
            <a:rect l="l" t="t" r="r" b="b"/>
            <a:pathLst>
              <a:path w="9525" h="152400">
                <a:moveTo>
                  <a:pt x="0" y="0"/>
                </a:moveTo>
                <a:lnTo>
                  <a:pt x="0" y="1524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chemeClr val="accent5"/>
            </a:solidFill>
          </a:ln>
        </p:spPr>
      </p:sp>
      <p:sp>
        <p:nvSpPr>
          <p:cNvPr id="6" name="Line 6">
            <a:extLst xmlns:a="http://schemas.openxmlformats.org/drawingml/2006/main">
              <a:ext uri="{FF2B5EF4-FFF2-40B4-BE49-F238E27FC236}">
                <a16:creationId xmlns:a16="http://schemas.microsoft.com/office/drawing/2014/main" id="{70458061-B7E9-4BFB-BD48-3967D1F09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858000" y="1790700"/>
            <a:ext cx="9525" cy="152400"/>
          </a:xfrm>
          <a:custGeom xmlns:a="http://schemas.openxmlformats.org/drawingml/2006/main">
            <a:rect l="l" t="t" r="r" b="b"/>
            <a:pathLst>
              <a:path w="9525" h="152400">
                <a:moveTo>
                  <a:pt x="0" y="0"/>
                </a:moveTo>
                <a:lnTo>
                  <a:pt x="0" y="1524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chemeClr val="accent5"/>
            </a:solidFill>
          </a:ln>
        </p:spPr>
      </p:sp>
      <p:sp>
        <p:nvSpPr>
          <p:cNvPr id="7" name="Line 7">
            <a:extLst xmlns:a="http://schemas.openxmlformats.org/drawingml/2006/main">
              <a:ext uri="{FF2B5EF4-FFF2-40B4-BE49-F238E27FC236}">
                <a16:creationId xmlns:a16="http://schemas.microsoft.com/office/drawing/2014/main" id="{0F1B2B78-D6CF-4112-B446-6786DF188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001250" y="1790700"/>
            <a:ext cx="9525" cy="152400"/>
          </a:xfrm>
          <a:custGeom xmlns:a="http://schemas.openxmlformats.org/drawingml/2006/main">
            <a:rect l="l" t="t" r="r" b="b"/>
            <a:pathLst>
              <a:path w="9525" h="152400">
                <a:moveTo>
                  <a:pt x="0" y="0"/>
                </a:moveTo>
                <a:lnTo>
                  <a:pt x="0" y="1524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chemeClr val="accent5"/>
            </a:solidFill>
          </a:ln>
        </p:spPr>
      </p:sp>
      <p:sp>
        <p:nvSpPr>
          <p:cNvPr id="8" name="TextBox 8">
            <a:extLst xmlns:a="http://schemas.openxmlformats.org/drawingml/2006/main">
              <a:ext uri="{FF2B5EF4-FFF2-40B4-BE49-F238E27FC236}">
                <a16:creationId xmlns:a16="http://schemas.microsoft.com/office/drawing/2014/main" id="{334DE397-C2C3-4DD3-9C28-4707AE469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664229" y="1546860"/>
            <a:ext cx="101041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>
                <a:solidFill>
                  <a:srgbClr val="5B7388"/>
                </a:solidFill>
                <a:latin typeface="+mn-lt"/>
                <a:ea typeface="+mn-lt"/>
                <a:cs typeface="+mn-lt"/>
              </a:rPr>
              <a:t>0</a:t>
            </a:r>
          </a:p>
        </p:txBody>
      </p:sp>
      <p:sp>
        <p:nvSpPr>
          <p:cNvPr id="9" name="TextBox 9">
            <a:extLst xmlns:a="http://schemas.openxmlformats.org/drawingml/2006/main">
              <a:ext uri="{FF2B5EF4-FFF2-40B4-BE49-F238E27FC236}">
                <a16:creationId xmlns:a16="http://schemas.microsoft.com/office/drawing/2014/main" id="{DB5076A5-394D-4AF7-9176-56963B214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613627" y="1546860"/>
            <a:ext cx="488747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>
                <a:solidFill>
                  <a:srgbClr val="5B7388"/>
                </a:solidFill>
                <a:latin typeface="+mn-lt"/>
                <a:ea typeface="+mn-lt"/>
                <a:cs typeface="+mn-lt"/>
              </a:rPr>
              <a:t>约 109</a:t>
            </a:r>
          </a:p>
        </p:txBody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CB718B3D-B98B-4E3D-9BC7-5164E7D0A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756877" y="1546860"/>
            <a:ext cx="488747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>
                <a:solidFill>
                  <a:srgbClr val="5B7388"/>
                </a:solidFill>
                <a:latin typeface="+mn-lt"/>
                <a:ea typeface="+mn-lt"/>
                <a:cs typeface="+mn-lt"/>
              </a:rPr>
              <a:t>217 台</a:t>
            </a:r>
          </a:p>
        </p:txBody>
      </p:sp>
      <p:sp>
        <p:nvSpPr>
          <p:cNvPr id="11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1DD35FDA-0662-4435-BB29-EAB81E7CB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714750" y="2343150"/>
            <a:ext cx="6286500" cy="552450"/>
          </a:xfrm>
          <a:prstGeom xmlns:a="http://schemas.openxmlformats.org/drawingml/2006/main" prst="roundRect">
            <a:avLst>
              <a:gd name="adj" fmla="val 17241"/>
            </a:avLst>
          </a:prstGeom>
          <a:solidFill xmlns:a="http://schemas.openxmlformats.org/drawingml/2006/main">
            <a:srgbClr val="DCEBF0"/>
          </a:solidFill>
          <a:ln xmlns:a="http://schemas.openxmlformats.org/drawingml/2006/main">
            <a:noFill/>
          </a:ln>
        </p:spPr>
      </p:sp>
      <p:sp>
        <p:nvSpPr>
          <p:cNvPr id="12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07E0C3BB-397B-4E4F-A34E-43C798F86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714750" y="2343150"/>
            <a:ext cx="2638425" cy="552450"/>
          </a:xfrm>
          <a:prstGeom xmlns:a="http://schemas.openxmlformats.org/drawingml/2006/main" prst="roundRect">
            <a:avLst>
              <a:gd name="adj" fmla="val 17241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</p:sp>
      <p:sp>
        <p:nvSpPr>
          <p:cNvPr id="13" name="TextBox 13">
            <a:extLst xmlns:a="http://schemas.openxmlformats.org/drawingml/2006/main">
              <a:ext uri="{FF2B5EF4-FFF2-40B4-BE49-F238E27FC236}">
                <a16:creationId xmlns:a16="http://schemas.microsoft.com/office/drawing/2014/main" id="{7FC719B8-70B2-4B85-8707-2337A25DD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42848" y="2462212"/>
            <a:ext cx="372704" cy="4400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25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91</a:t>
            </a:r>
          </a:p>
        </p:txBody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C55D2E92-3B3D-4D52-B224-BDFCD2845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725375" y="2526982"/>
            <a:ext cx="894150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650">
                <a:solidFill>
                  <a:srgbClr val="5B7388"/>
                </a:solidFill>
                <a:latin typeface="+mn-lt"/>
                <a:ea typeface="+mn-lt"/>
                <a:cs typeface="+mn-lt"/>
              </a:rPr>
              <a:t>126 延迟</a:t>
            </a:r>
          </a:p>
        </p:txBody>
      </p:sp>
      <p:sp>
        <p:nvSpPr>
          <p:cNvPr id="16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17F9DE91-FA47-4E9E-A315-3AC417FC0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714750" y="3467100"/>
            <a:ext cx="6286500" cy="552450"/>
          </a:xfrm>
          <a:prstGeom xmlns:a="http://schemas.openxmlformats.org/drawingml/2006/main" prst="roundRect">
            <a:avLst>
              <a:gd name="adj" fmla="val 17241"/>
            </a:avLst>
          </a:prstGeom>
          <a:solidFill xmlns:a="http://schemas.openxmlformats.org/drawingml/2006/main">
            <a:srgbClr val="DCEBF0"/>
          </a:solidFill>
          <a:ln xmlns:a="http://schemas.openxmlformats.org/drawingml/2006/main">
            <a:noFill/>
          </a:ln>
        </p:spPr>
      </p:sp>
      <p:sp>
        <p:nvSpPr>
          <p:cNvPr id="17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A585E7D1-D62C-4544-B178-94F2CA5F7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714750" y="3467100"/>
            <a:ext cx="1304925" cy="552450"/>
          </a:xfrm>
          <a:prstGeom xmlns:a="http://schemas.openxmlformats.org/drawingml/2006/main" prst="roundRect">
            <a:avLst>
              <a:gd name="adj" fmla="val 17241"/>
            </a:avLst>
          </a:prstGeom>
          <a:solidFill xmlns:a="http://schemas.openxmlformats.org/drawingml/2006/main">
            <a:schemeClr val="accent3"/>
          </a:solidFill>
          <a:ln xmlns:a="http://schemas.openxmlformats.org/drawingml/2006/main">
            <a:noFill/>
          </a:ln>
        </p:spPr>
      </p:sp>
      <p:sp>
        <p:nvSpPr>
          <p:cNvPr id="18" name="TextBox 18">
            <a:extLst xmlns:a="http://schemas.openxmlformats.org/drawingml/2006/main">
              <a:ext uri="{FF2B5EF4-FFF2-40B4-BE49-F238E27FC236}">
                <a16:creationId xmlns:a16="http://schemas.microsoft.com/office/drawing/2014/main" id="{D9281203-873D-4376-8098-86B9CBEFA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76098" y="3586162"/>
            <a:ext cx="372704" cy="4400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25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45</a:t>
            </a:r>
          </a:p>
        </p:txBody>
      </p:sp>
      <p:sp>
        <p:nvSpPr>
          <p:cNvPr id="19" name="TextBox 19">
            <a:extLst xmlns:a="http://schemas.openxmlformats.org/drawingml/2006/main">
              <a:ext uri="{FF2B5EF4-FFF2-40B4-BE49-F238E27FC236}">
                <a16:creationId xmlns:a16="http://schemas.microsoft.com/office/drawing/2014/main" id="{B8257D25-C64E-4132-8EE0-01BD6112E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077675" y="3650932"/>
            <a:ext cx="894150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650">
                <a:solidFill>
                  <a:srgbClr val="5B7388"/>
                </a:solidFill>
                <a:latin typeface="+mn-lt"/>
                <a:ea typeface="+mn-lt"/>
                <a:cs typeface="+mn-lt"/>
              </a:rPr>
              <a:t>172 延迟</a:t>
            </a:r>
          </a:p>
        </p:txBody>
      </p:sp>
      <p:sp>
        <p:nvSpPr>
          <p:cNvPr id="21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E6E3E4E8-8C12-4AE4-A14F-32DB13D95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714750" y="4591050"/>
            <a:ext cx="6286500" cy="552450"/>
          </a:xfrm>
          <a:prstGeom xmlns:a="http://schemas.openxmlformats.org/drawingml/2006/main" prst="roundRect">
            <a:avLst>
              <a:gd name="adj" fmla="val 17241"/>
            </a:avLst>
          </a:prstGeom>
          <a:solidFill xmlns:a="http://schemas.openxmlformats.org/drawingml/2006/main">
            <a:srgbClr val="DCEBF0"/>
          </a:solidFill>
          <a:ln xmlns:a="http://schemas.openxmlformats.org/drawingml/2006/main">
            <a:noFill/>
          </a:ln>
        </p:spPr>
      </p:sp>
      <p:sp>
        <p:nvSpPr>
          <p:cNvPr id="22" name="Line 22">
            <a:extLst xmlns:a="http://schemas.openxmlformats.org/drawingml/2006/main">
              <a:ext uri="{FF2B5EF4-FFF2-40B4-BE49-F238E27FC236}">
                <a16:creationId xmlns:a16="http://schemas.microsoft.com/office/drawing/2014/main" id="{86574D7C-7301-41F6-B16D-4E6D42CD1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714750" y="4591050"/>
            <a:ext cx="9525" cy="552450"/>
          </a:xfrm>
          <a:custGeom xmlns:a="http://schemas.openxmlformats.org/drawingml/2006/main">
            <a:rect l="l" t="t" r="r" b="b"/>
            <a:pathLst>
              <a:path w="9525" h="552450">
                <a:moveTo>
                  <a:pt x="0" y="0"/>
                </a:moveTo>
                <a:lnTo>
                  <a:pt x="0" y="552450"/>
                </a:lnTo>
              </a:path>
            </a:pathLst>
          </a:custGeom>
          <a:noFill xmlns:a="http://schemas.openxmlformats.org/drawingml/2006/main"/>
          <a:ln xmlns:a="http://schemas.openxmlformats.org/drawingml/2006/main" w="57150">
            <a:solidFill>
              <a:schemeClr val="accent6"/>
            </a:solidFill>
          </a:ln>
        </p:spPr>
      </p:sp>
      <p:sp>
        <p:nvSpPr>
          <p:cNvPr id="23" name="TextBox 23">
            <a:extLst xmlns:a="http://schemas.openxmlformats.org/drawingml/2006/main">
              <a:ext uri="{FF2B5EF4-FFF2-40B4-BE49-F238E27FC236}">
                <a16:creationId xmlns:a16="http://schemas.microsoft.com/office/drawing/2014/main" id="{2887B550-D122-42F0-83B9-06C528028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410925" y="4774882"/>
            <a:ext cx="894150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650">
                <a:solidFill>
                  <a:srgbClr val="5B7388"/>
                </a:solidFill>
                <a:latin typeface="+mn-lt"/>
                <a:ea typeface="+mn-lt"/>
                <a:cs typeface="+mn-lt"/>
              </a:rPr>
              <a:t>217 延迟</a:t>
            </a:r>
          </a:p>
        </p:txBody>
      </p:sp>
      <p:sp>
        <p:nvSpPr>
          <p:cNvPr id="26" name="TextBox 26">
            <a:extLst xmlns:a="http://schemas.openxmlformats.org/drawingml/2006/main">
              <a:ext uri="{FF2B5EF4-FFF2-40B4-BE49-F238E27FC236}">
                <a16:creationId xmlns:a16="http://schemas.microsoft.com/office/drawing/2014/main" id="{788A0498-642F-4120-801F-D7D1A37F6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72846" y="2296478"/>
            <a:ext cx="1107243" cy="4987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50" b="1">
                <a:solidFill>
                  <a:schemeClr val="accent1"/>
                </a:solidFill>
                <a:latin typeface="+mn-lt"/>
                <a:ea typeface="+mn-lt"/>
                <a:cs typeface="+mn-lt"/>
              </a:rPr>
              <a:t>保交付</a:t>
            </a:r>
          </a:p>
        </p:txBody>
      </p:sp>
      <p:sp>
        <p:nvSpPr>
          <p:cNvPr id="27" name="TextBox 27">
            <a:extLst xmlns:a="http://schemas.openxmlformats.org/drawingml/2006/main">
              <a:ext uri="{FF2B5EF4-FFF2-40B4-BE49-F238E27FC236}">
                <a16:creationId xmlns:a16="http://schemas.microsoft.com/office/drawing/2014/main" id="{A790A979-A1A7-42FC-A14D-ADBFA9C80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77418" y="2717482"/>
            <a:ext cx="1516094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>
                <a:solidFill>
                  <a:srgbClr val="5B7388"/>
                </a:solidFill>
                <a:latin typeface="+mn-lt"/>
                <a:ea typeface="+mn-lt"/>
                <a:cs typeface="+mn-lt"/>
              </a:rPr>
              <a:t>应急 91 · ¥728</a:t>
            </a:r>
          </a:p>
        </p:txBody>
      </p:sp>
      <p:sp>
        <p:nvSpPr>
          <p:cNvPr id="28" name="TextBox 28">
            <a:extLst xmlns:a="http://schemas.openxmlformats.org/drawingml/2006/main">
              <a:ext uri="{FF2B5EF4-FFF2-40B4-BE49-F238E27FC236}">
                <a16:creationId xmlns:a16="http://schemas.microsoft.com/office/drawing/2014/main" id="{52CB3B08-4409-4071-B4C4-A26F32237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72846" y="3420428"/>
            <a:ext cx="746798" cy="4987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50" b="1">
                <a:solidFill>
                  <a:srgbClr val="4B45B7"/>
                </a:solidFill>
                <a:latin typeface="+mn-lt"/>
                <a:ea typeface="+mn-lt"/>
                <a:cs typeface="+mn-lt"/>
              </a:rPr>
              <a:t>平衡</a:t>
            </a:r>
          </a:p>
        </p:txBody>
      </p:sp>
      <p:sp>
        <p:nvSpPr>
          <p:cNvPr id="29" name="TextBox 29">
            <a:extLst xmlns:a="http://schemas.openxmlformats.org/drawingml/2006/main">
              <a:ext uri="{FF2B5EF4-FFF2-40B4-BE49-F238E27FC236}">
                <a16:creationId xmlns:a16="http://schemas.microsoft.com/office/drawing/2014/main" id="{38B2A577-D2B7-4829-80A9-03E4320F2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77418" y="3841432"/>
            <a:ext cx="1516094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>
                <a:solidFill>
                  <a:srgbClr val="5B7388"/>
                </a:solidFill>
                <a:latin typeface="+mn-lt"/>
                <a:ea typeface="+mn-lt"/>
                <a:cs typeface="+mn-lt"/>
              </a:rPr>
              <a:t>应急 45 · ¥360</a:t>
            </a:r>
          </a:p>
        </p:txBody>
      </p:sp>
      <p:sp>
        <p:nvSpPr>
          <p:cNvPr id="30" name="TextBox 30">
            <a:extLst xmlns:a="http://schemas.openxmlformats.org/drawingml/2006/main">
              <a:ext uri="{FF2B5EF4-FFF2-40B4-BE49-F238E27FC236}">
                <a16:creationId xmlns:a16="http://schemas.microsoft.com/office/drawing/2014/main" id="{628C240E-A8DF-4272-9A85-5010C065B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72846" y="4544378"/>
            <a:ext cx="1107243" cy="4987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50" b="1">
                <a:solidFill>
                  <a:srgbClr val="9B5B00"/>
                </a:solidFill>
                <a:latin typeface="+mn-lt"/>
                <a:ea typeface="+mn-lt"/>
                <a:cs typeface="+mn-lt"/>
              </a:rPr>
              <a:t>少变更</a:t>
            </a:r>
          </a:p>
        </p:txBody>
      </p:sp>
      <p:sp>
        <p:nvSpPr>
          <p:cNvPr id="31" name="TextBox 31">
            <a:extLst xmlns:a="http://schemas.openxmlformats.org/drawingml/2006/main">
              <a:ext uri="{FF2B5EF4-FFF2-40B4-BE49-F238E27FC236}">
                <a16:creationId xmlns:a16="http://schemas.microsoft.com/office/drawing/2014/main" id="{1426998B-85DB-4749-81CF-D3BE15FBE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77418" y="4965382"/>
            <a:ext cx="1149591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>
                <a:solidFill>
                  <a:srgbClr val="5B7388"/>
                </a:solidFill>
                <a:latin typeface="+mn-lt"/>
                <a:ea typeface="+mn-lt"/>
                <a:cs typeface="+mn-lt"/>
              </a:rPr>
              <a:t>应急 0 · ¥0</a:t>
            </a:r>
          </a:p>
        </p:txBody>
      </p:sp>
      <p:sp>
        <p:nvSpPr>
          <p:cNvPr id="33" name="TextBox 33">
            <a:extLst xmlns:a="http://schemas.openxmlformats.org/drawingml/2006/main">
              <a:ext uri="{FF2B5EF4-FFF2-40B4-BE49-F238E27FC236}">
                <a16:creationId xmlns:a16="http://schemas.microsoft.com/office/drawing/2014/main" id="{85485137-B305-476E-BF21-C9C10CBD3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376154" y="2013585"/>
            <a:ext cx="729082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16A085"/>
                </a:solidFill>
                <a:latin typeface="+mn-lt"/>
                <a:ea typeface="+mn-lt"/>
                <a:cs typeface="+mn-lt"/>
              </a:rPr>
              <a:t>OPTIMAL</a:t>
            </a:r>
          </a:p>
        </p:txBody>
      </p:sp>
      <p:sp>
        <p:nvSpPr>
          <p:cNvPr id="34" name="Freeform 34">
            <a:extLst xmlns:a="http://schemas.openxmlformats.org/drawingml/2006/main">
              <a:ext uri="{FF2B5EF4-FFF2-40B4-BE49-F238E27FC236}">
                <a16:creationId xmlns:a16="http://schemas.microsoft.com/office/drawing/2014/main" id="{CC5C34A6-5222-4E6F-A358-70ADBBD26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547041" y="2419350"/>
            <a:ext cx="372013" cy="339966"/>
          </a:xfrm>
          <a:custGeom xmlns:a="http://schemas.openxmlformats.org/drawingml/2006/main">
            <a:rect l="l" t="t" r="r" b="b"/>
            <a:pathLst>
              <a:path w="372013" h="339966">
                <a:moveTo>
                  <a:pt x="186872" y="339966"/>
                </a:moveTo>
                <a:cubicBezTo>
                  <a:pt x="67532" y="302974"/>
                  <a:pt x="0" y="177021"/>
                  <a:pt x="35234" y="57150"/>
                </a:cubicBezTo>
                <a:cubicBezTo>
                  <a:pt x="94585" y="59866"/>
                  <a:pt x="152661" y="39368"/>
                  <a:pt x="197159" y="0"/>
                </a:cubicBezTo>
                <a:cubicBezTo>
                  <a:pt x="241657" y="39368"/>
                  <a:pt x="299733" y="59866"/>
                  <a:pt x="359084" y="57150"/>
                </a:cubicBezTo>
                <a:cubicBezTo>
                  <a:pt x="372013" y="101139"/>
                  <a:pt x="371415" y="147998"/>
                  <a:pt x="357369" y="191643"/>
                </a:cubicBez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rgbClr val="16A085"/>
            </a:solidFill>
          </a:ln>
        </p:spPr>
      </p:sp>
      <p:sp>
        <p:nvSpPr>
          <p:cNvPr id="35" name="Freeform 35">
            <a:extLst xmlns:a="http://schemas.openxmlformats.org/drawingml/2006/main">
              <a:ext uri="{FF2B5EF4-FFF2-40B4-BE49-F238E27FC236}">
                <a16:creationId xmlns:a16="http://schemas.microsoft.com/office/drawing/2014/main" id="{F3398A09-0E0D-460D-9005-678E40717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801350" y="2686050"/>
            <a:ext cx="114300" cy="76200"/>
          </a:xfrm>
          <a:custGeom xmlns:a="http://schemas.openxmlformats.org/drawingml/2006/main">
            <a:rect l="l" t="t" r="r" b="b"/>
            <a:pathLst>
              <a:path w="114300" h="76200">
                <a:moveTo>
                  <a:pt x="0" y="38100"/>
                </a:moveTo>
                <a:lnTo>
                  <a:pt x="38100" y="76200"/>
                </a:ln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rgbClr val="16A085"/>
            </a:solidFill>
          </a:ln>
        </p:spPr>
      </p:sp>
      <p:sp>
        <p:nvSpPr>
          <p:cNvPr id="37" name="TextBox 37">
            <a:extLst xmlns:a="http://schemas.openxmlformats.org/drawingml/2006/main">
              <a:ext uri="{FF2B5EF4-FFF2-40B4-BE49-F238E27FC236}">
                <a16:creationId xmlns:a16="http://schemas.microsoft.com/office/drawing/2014/main" id="{072303FE-A845-4620-9F44-AD7E11886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423093" y="2918460"/>
            <a:ext cx="642214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>
                <a:solidFill>
                  <a:srgbClr val="116956"/>
                </a:solidFill>
                <a:latin typeface="+mn-lt"/>
                <a:ea typeface="+mn-lt"/>
                <a:cs typeface="+mn-lt"/>
              </a:rPr>
              <a:t>verified</a:t>
            </a:r>
          </a:p>
        </p:txBody>
      </p:sp>
      <p:sp>
        <p:nvSpPr>
          <p:cNvPr id="38" name="Freeform 38">
            <a:extLst xmlns:a="http://schemas.openxmlformats.org/drawingml/2006/main">
              <a:ext uri="{FF2B5EF4-FFF2-40B4-BE49-F238E27FC236}">
                <a16:creationId xmlns:a16="http://schemas.microsoft.com/office/drawing/2014/main" id="{F9A608B5-4755-4526-95AE-B04D42449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547041" y="3543300"/>
            <a:ext cx="372013" cy="339966"/>
          </a:xfrm>
          <a:custGeom xmlns:a="http://schemas.openxmlformats.org/drawingml/2006/main">
            <a:rect l="l" t="t" r="r" b="b"/>
            <a:pathLst>
              <a:path w="372013" h="339966">
                <a:moveTo>
                  <a:pt x="186872" y="339966"/>
                </a:moveTo>
                <a:cubicBezTo>
                  <a:pt x="67532" y="302974"/>
                  <a:pt x="0" y="177021"/>
                  <a:pt x="35234" y="57150"/>
                </a:cubicBezTo>
                <a:cubicBezTo>
                  <a:pt x="94585" y="59866"/>
                  <a:pt x="152661" y="39368"/>
                  <a:pt x="197159" y="0"/>
                </a:cubicBezTo>
                <a:cubicBezTo>
                  <a:pt x="241657" y="39368"/>
                  <a:pt x="299733" y="59866"/>
                  <a:pt x="359084" y="57150"/>
                </a:cubicBezTo>
                <a:cubicBezTo>
                  <a:pt x="372013" y="101139"/>
                  <a:pt x="371415" y="147998"/>
                  <a:pt x="357369" y="191643"/>
                </a:cubicBez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rgbClr val="16A085"/>
            </a:solidFill>
          </a:ln>
        </p:spPr>
      </p:sp>
      <p:sp>
        <p:nvSpPr>
          <p:cNvPr id="39" name="Freeform 39">
            <a:extLst xmlns:a="http://schemas.openxmlformats.org/drawingml/2006/main">
              <a:ext uri="{FF2B5EF4-FFF2-40B4-BE49-F238E27FC236}">
                <a16:creationId xmlns:a16="http://schemas.microsoft.com/office/drawing/2014/main" id="{796B9CAA-C6FC-414E-8F09-E929402C2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801350" y="3810000"/>
            <a:ext cx="114300" cy="76200"/>
          </a:xfrm>
          <a:custGeom xmlns:a="http://schemas.openxmlformats.org/drawingml/2006/main">
            <a:rect l="l" t="t" r="r" b="b"/>
            <a:pathLst>
              <a:path w="114300" h="76200">
                <a:moveTo>
                  <a:pt x="0" y="38100"/>
                </a:moveTo>
                <a:lnTo>
                  <a:pt x="38100" y="76200"/>
                </a:ln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rgbClr val="16A085"/>
            </a:solidFill>
          </a:ln>
        </p:spPr>
      </p:sp>
      <p:sp>
        <p:nvSpPr>
          <p:cNvPr id="41" name="TextBox 41">
            <a:extLst xmlns:a="http://schemas.openxmlformats.org/drawingml/2006/main">
              <a:ext uri="{FF2B5EF4-FFF2-40B4-BE49-F238E27FC236}">
                <a16:creationId xmlns:a16="http://schemas.microsoft.com/office/drawing/2014/main" id="{DFCEA631-E679-43F5-8835-E67832337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423093" y="4042410"/>
            <a:ext cx="642214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>
                <a:solidFill>
                  <a:srgbClr val="116956"/>
                </a:solidFill>
                <a:latin typeface="+mn-lt"/>
                <a:ea typeface="+mn-lt"/>
                <a:cs typeface="+mn-lt"/>
              </a:rPr>
              <a:t>verified</a:t>
            </a:r>
          </a:p>
        </p:txBody>
      </p:sp>
      <p:sp>
        <p:nvSpPr>
          <p:cNvPr id="42" name="Freeform 42">
            <a:extLst xmlns:a="http://schemas.openxmlformats.org/drawingml/2006/main">
              <a:ext uri="{FF2B5EF4-FFF2-40B4-BE49-F238E27FC236}">
                <a16:creationId xmlns:a16="http://schemas.microsoft.com/office/drawing/2014/main" id="{225AD661-F828-4FF2-803A-DE554EBBF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547041" y="4667250"/>
            <a:ext cx="372013" cy="339966"/>
          </a:xfrm>
          <a:custGeom xmlns:a="http://schemas.openxmlformats.org/drawingml/2006/main">
            <a:rect l="l" t="t" r="r" b="b"/>
            <a:pathLst>
              <a:path w="372013" h="339966">
                <a:moveTo>
                  <a:pt x="186872" y="339966"/>
                </a:moveTo>
                <a:cubicBezTo>
                  <a:pt x="67532" y="302974"/>
                  <a:pt x="0" y="177021"/>
                  <a:pt x="35234" y="57150"/>
                </a:cubicBezTo>
                <a:cubicBezTo>
                  <a:pt x="94585" y="59866"/>
                  <a:pt x="152661" y="39368"/>
                  <a:pt x="197159" y="0"/>
                </a:cubicBezTo>
                <a:cubicBezTo>
                  <a:pt x="241657" y="39368"/>
                  <a:pt x="299733" y="59866"/>
                  <a:pt x="359084" y="57150"/>
                </a:cubicBezTo>
                <a:cubicBezTo>
                  <a:pt x="372013" y="101139"/>
                  <a:pt x="371415" y="147998"/>
                  <a:pt x="357369" y="191643"/>
                </a:cubicBez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rgbClr val="16A085"/>
            </a:solidFill>
          </a:ln>
        </p:spPr>
      </p:sp>
      <p:sp>
        <p:nvSpPr>
          <p:cNvPr id="43" name="Freeform 43">
            <a:extLst xmlns:a="http://schemas.openxmlformats.org/drawingml/2006/main">
              <a:ext uri="{FF2B5EF4-FFF2-40B4-BE49-F238E27FC236}">
                <a16:creationId xmlns:a16="http://schemas.microsoft.com/office/drawing/2014/main" id="{80A7B4F8-E7BD-41CF-A2B5-77B8DE856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801350" y="4933950"/>
            <a:ext cx="114300" cy="76200"/>
          </a:xfrm>
          <a:custGeom xmlns:a="http://schemas.openxmlformats.org/drawingml/2006/main">
            <a:rect l="l" t="t" r="r" b="b"/>
            <a:pathLst>
              <a:path w="114300" h="76200">
                <a:moveTo>
                  <a:pt x="0" y="38100"/>
                </a:moveTo>
                <a:lnTo>
                  <a:pt x="38100" y="76200"/>
                </a:ln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rgbClr val="16A085"/>
            </a:solidFill>
          </a:ln>
        </p:spPr>
      </p:sp>
      <p:sp>
        <p:nvSpPr>
          <p:cNvPr id="45" name="TextBox 45">
            <a:extLst xmlns:a="http://schemas.openxmlformats.org/drawingml/2006/main">
              <a:ext uri="{FF2B5EF4-FFF2-40B4-BE49-F238E27FC236}">
                <a16:creationId xmlns:a16="http://schemas.microsoft.com/office/drawing/2014/main" id="{DE3EF82B-6F38-4168-BE5A-552C569D1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423093" y="5166360"/>
            <a:ext cx="642214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>
                <a:solidFill>
                  <a:srgbClr val="116956"/>
                </a:solidFill>
                <a:latin typeface="+mn-lt"/>
                <a:ea typeface="+mn-lt"/>
                <a:cs typeface="+mn-lt"/>
              </a:rPr>
              <a:t>verified</a:t>
            </a:r>
          </a:p>
        </p:txBody>
      </p:sp>
      <p:sp>
        <p:nvSpPr>
          <p:cNvPr id="47" name="Rectangle 47">
            <a:extLst xmlns:a="http://schemas.openxmlformats.org/drawingml/2006/main">
              <a:ext uri="{FF2B5EF4-FFF2-40B4-BE49-F238E27FC236}">
                <a16:creationId xmlns:a16="http://schemas.microsoft.com/office/drawing/2014/main" id="{59BD803C-ECF4-4AFF-B05F-B3F35B053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600" y="5619750"/>
            <a:ext cx="10287000" cy="476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6E8"/>
          </a:solidFill>
          <a:ln xmlns:a="http://schemas.openxmlformats.org/drawingml/2006/main">
            <a:noFill/>
          </a:ln>
        </p:spPr>
      </p:sp>
      <p:sp>
        <p:nvSpPr>
          <p:cNvPr id="48" name="TextBox 48">
            <a:extLst xmlns:a="http://schemas.openxmlformats.org/drawingml/2006/main">
              <a:ext uri="{FF2B5EF4-FFF2-40B4-BE49-F238E27FC236}">
                <a16:creationId xmlns:a16="http://schemas.microsoft.com/office/drawing/2014/main" id="{99130022-6EB4-484A-8E94-0C189C6D6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29818" y="5746432"/>
            <a:ext cx="7180231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>
                <a:solidFill>
                  <a:srgbClr val="9B5B00"/>
                </a:solidFill>
                <a:latin typeface="+mn-lt"/>
                <a:ea typeface="+mn-lt"/>
                <a:cs typeface="+mn-lt"/>
              </a:rPr>
              <a:t>应急来源最多 100 件，订单必须整批交付；系统不会拆单制造漂亮数字。</a:t>
            </a:r>
          </a:p>
        </p:txBody>
      </p:sp>
      <p:sp>
        <p:nvSpPr>
          <p:cNvPr id="49" name="TextBox 49">
            <a:extLst xmlns:a="http://schemas.openxmlformats.org/drawingml/2006/main">
              <a:ext uri="{FF2B5EF4-FFF2-40B4-BE49-F238E27FC236}">
                <a16:creationId xmlns:a16="http://schemas.microsoft.com/office/drawing/2014/main" id="{67E09BC5-589C-4B36-8F0F-642429192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3504" y="6271260"/>
            <a:ext cx="5254295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>
                <a:solidFill>
                  <a:srgbClr val="5B7388"/>
                </a:solidFill>
                <a:latin typeface="+mn-lt"/>
                <a:ea typeface="+mn-lt"/>
                <a:cs typeface="+mn-lt"/>
              </a:rPr>
              <a:t>模拟项：应急上限、单价、预算；91 / 45 / 0 为 solver artifact 结果。</a:t>
            </a:r>
          </a:p>
        </p:txBody>
      </p:sp>
      <p:sp>
        <p:nvSpPr>
          <p:cNvPr id="50" name="TextBox 50">
            <a:extLst xmlns:a="http://schemas.openxmlformats.org/drawingml/2006/main">
              <a:ext uri="{FF2B5EF4-FFF2-40B4-BE49-F238E27FC236}">
                <a16:creationId xmlns:a16="http://schemas.microsoft.com/office/drawing/2014/main" id="{EBAD9EC1-4AEF-425D-A587-BCC4AA8AE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398606" y="6271260"/>
            <a:ext cx="189890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200">
                <a:solidFill>
                  <a:srgbClr val="7E9AAA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9760021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2">
            <a:extLst xmlns:a="http://schemas.openxmlformats.org/drawingml/2006/main">
              <a:ext uri="{FF2B5EF4-FFF2-40B4-BE49-F238E27FC236}">
                <a16:creationId xmlns:a16="http://schemas.microsoft.com/office/drawing/2014/main" id="{392557FE-A8A4-4FEC-8CDB-592BE8FEF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91312" y="411480"/>
            <a:ext cx="10722712" cy="704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600" b="1">
                <a:solidFill>
                  <a:schemeClr val="accent1"/>
                </a:solidFill>
                <a:latin typeface="+mn-lt"/>
                <a:ea typeface="+mn-lt"/>
                <a:cs typeface="+mn-lt"/>
              </a:rPr>
              <a:t>真实界面把证据、方案和审批放在同一条路径上</a:t>
            </a:r>
          </a:p>
        </p:txBody>
      </p:sp>
      <p:sp>
        <p:nvSpPr>
          <p:cNvPr id="3" name="TextBox 3">
            <a:extLst xmlns:a="http://schemas.openxmlformats.org/drawingml/2006/main">
              <a:ext uri="{FF2B5EF4-FFF2-40B4-BE49-F238E27FC236}">
                <a16:creationId xmlns:a16="http://schemas.microsoft.com/office/drawing/2014/main" id="{7D8C382D-8607-438B-A46F-480CD9487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1218" y="1022032"/>
            <a:ext cx="6987235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>
                <a:solidFill>
                  <a:srgbClr val="5B7388"/>
                </a:solidFill>
                <a:latin typeface="+mn-lt"/>
                <a:ea typeface="+mn-lt"/>
                <a:cs typeface="+mn-lt"/>
              </a:rPr>
              <a:t>启动事故、比较方案、查看排程、批准或驳回，再下载完整 JSON。</a:t>
            </a:r>
          </a:p>
        </p:txBody>
      </p:sp>
      <p:sp>
        <p:nvSpPr>
          <p:cNvPr id="4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DD3D955-68BC-4E19-8237-2466A37AA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85800" y="2133600"/>
            <a:ext cx="5619750" cy="3390900"/>
          </a:xfrm>
          <a:prstGeom xmlns:a="http://schemas.openxmlformats.org/drawingml/2006/main" prst="roundRect">
            <a:avLst>
              <a:gd name="adj" fmla="val 39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chemeClr val="accent5"/>
            </a:solidFill>
          </a:ln>
        </p:spPr>
      </p:sp>
      <p:sp>
        <p:nvSpPr>
          <p:cNvPr id="5" name="Rectangle 5">
            <a:extLst xmlns:a="http://schemas.openxmlformats.org/drawingml/2006/main">
              <a:ext uri="{FF2B5EF4-FFF2-40B4-BE49-F238E27FC236}">
                <a16:creationId xmlns:a16="http://schemas.microsoft.com/office/drawing/2014/main" id="{4F35BEB7-FD0F-469E-9B95-FF5BC777E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85800" y="2133600"/>
            <a:ext cx="5619750" cy="304800"/>
          </a:xfrm>
          <a:prstGeom xmlns:a="http://schemas.openxmlformats.org/drawingml/2006/main" prst="roundRect">
            <a:avLst>
              <a:gd name="adj" fmla="val 43750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</p:sp>
      <p:sp>
        <p:nvSpPr>
          <p:cNvPr id="6" name="Ellipse 6">
            <a:extLst xmlns:a="http://schemas.openxmlformats.org/drawingml/2006/main">
              <a:ext uri="{FF2B5EF4-FFF2-40B4-BE49-F238E27FC236}">
                <a16:creationId xmlns:a16="http://schemas.microsoft.com/office/drawing/2014/main" id="{C7689B68-86C9-4981-AA70-1149F0E25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47725" y="2238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484D"/>
          </a:solidFill>
          <a:ln xmlns:a="http://schemas.openxmlformats.org/drawingml/2006/main">
            <a:noFill/>
          </a:ln>
        </p:spPr>
      </p:sp>
      <p:sp>
        <p:nvSpPr>
          <p:cNvPr id="7" name="Ellipse 7">
            <a:extLst xmlns:a="http://schemas.openxmlformats.org/drawingml/2006/main">
              <a:ext uri="{FF2B5EF4-FFF2-40B4-BE49-F238E27FC236}">
                <a16:creationId xmlns:a16="http://schemas.microsoft.com/office/drawing/2014/main" id="{3F8E3768-857A-484D-9552-9A253396A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19175" y="2238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6"/>
          </a:solidFill>
          <a:ln xmlns:a="http://schemas.openxmlformats.org/drawingml/2006/main">
            <a:noFill/>
          </a:ln>
        </p:spPr>
      </p:sp>
      <p:sp>
        <p:nvSpPr>
          <p:cNvPr id="8" name="Ellipse 8">
            <a:extLst xmlns:a="http://schemas.openxmlformats.org/drawingml/2006/main">
              <a:ext uri="{FF2B5EF4-FFF2-40B4-BE49-F238E27FC236}">
                <a16:creationId xmlns:a16="http://schemas.microsoft.com/office/drawing/2014/main" id="{854AABA4-F559-46B5-9D35-4993AA9FC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90625" y="2238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A085"/>
          </a:solidFill>
          <a:ln xmlns:a="http://schemas.openxmlformats.org/drawingml/2006/main">
            <a:noFill/>
          </a:ln>
        </p:spPr>
      </p:sp>
      <p:pic>
        <p:nvPicPr>
          <p:cNvPr id="41" name="Imag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2ff5c8f8ae4bd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921808" y="2533650"/>
            <a:ext cx="5147733" cy="2895600"/>
          </a:xfrm>
          <a:prstGeom xmlns:a="http://schemas.openxmlformats.org/drawingml/2006/main" prst="rect">
            <a:avLst/>
          </a:prstGeom>
        </p:spPr>
      </p:pic>
      <p:sp>
        <p:nvSpPr>
          <p:cNvPr id="11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543F03B8-FB2F-4017-AEEF-D4FA23792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19650" y="1638300"/>
            <a:ext cx="6572250" cy="3962400"/>
          </a:xfrm>
          <a:prstGeom xmlns:a="http://schemas.openxmlformats.org/drawingml/2006/main" prst="roundRect">
            <a:avLst>
              <a:gd name="adj" fmla="val 33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chemeClr val="accent2"/>
            </a:solidFill>
          </a:ln>
        </p:spPr>
      </p:sp>
      <p:sp>
        <p:nvSpPr>
          <p:cNvPr id="12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9F5AAF7A-744B-4840-A606-74B0612CC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19650" y="1638300"/>
            <a:ext cx="6572250" cy="323850"/>
          </a:xfrm>
          <a:prstGeom xmlns:a="http://schemas.openxmlformats.org/drawingml/2006/main" prst="roundRect">
            <a:avLst>
              <a:gd name="adj" fmla="val 4117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</p:sp>
      <p:sp>
        <p:nvSpPr>
          <p:cNvPr id="13" name="Ellipse 13">
            <a:extLst xmlns:a="http://schemas.openxmlformats.org/drawingml/2006/main">
              <a:ext uri="{FF2B5EF4-FFF2-40B4-BE49-F238E27FC236}">
                <a16:creationId xmlns:a16="http://schemas.microsoft.com/office/drawing/2014/main" id="{0C19F8F6-E030-41D3-B4E3-428D379EE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000625" y="17526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484D"/>
          </a:solidFill>
          <a:ln xmlns:a="http://schemas.openxmlformats.org/drawingml/2006/main">
            <a:noFill/>
          </a:ln>
        </p:spPr>
      </p:sp>
      <p:sp>
        <p:nvSpPr>
          <p:cNvPr id="14" name="Ellipse 14">
            <a:extLst xmlns:a="http://schemas.openxmlformats.org/drawingml/2006/main">
              <a:ext uri="{FF2B5EF4-FFF2-40B4-BE49-F238E27FC236}">
                <a16:creationId xmlns:a16="http://schemas.microsoft.com/office/drawing/2014/main" id="{14DB6198-F801-428C-8CDC-2A4E254A0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72075" y="17526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6"/>
          </a:solidFill>
          <a:ln xmlns:a="http://schemas.openxmlformats.org/drawingml/2006/main">
            <a:noFill/>
          </a:ln>
        </p:spPr>
      </p:sp>
      <p:sp>
        <p:nvSpPr>
          <p:cNvPr id="15" name="Ellipse 15">
            <a:extLst xmlns:a="http://schemas.openxmlformats.org/drawingml/2006/main">
              <a:ext uri="{FF2B5EF4-FFF2-40B4-BE49-F238E27FC236}">
                <a16:creationId xmlns:a16="http://schemas.microsoft.com/office/drawing/2014/main" id="{4AB5173B-4258-4F31-8B52-DF90CA247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343525" y="17526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A085"/>
          </a:solidFill>
          <a:ln xmlns:a="http://schemas.openxmlformats.org/drawingml/2006/main">
            <a:noFill/>
          </a:ln>
        </p:spPr>
      </p:sp>
      <p:pic>
        <p:nvPicPr>
          <p:cNvPr id="47" name="Image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f4b21b115e456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5091642" y="2076450"/>
            <a:ext cx="6028267" cy="3390900"/>
          </a:xfrm>
          <a:prstGeom xmlns:a="http://schemas.openxmlformats.org/drawingml/2006/main" prst="rect">
            <a:avLst/>
          </a:prstGeom>
        </p:spPr>
      </p:pic>
      <p:sp>
        <p:nvSpPr>
          <p:cNvPr id="18" name="Ellipse 18">
            <a:extLst xmlns:a="http://schemas.openxmlformats.org/drawingml/2006/main">
              <a:ext uri="{FF2B5EF4-FFF2-40B4-BE49-F238E27FC236}">
                <a16:creationId xmlns:a16="http://schemas.microsoft.com/office/drawing/2014/main" id="{7C6C0F92-3222-4677-B121-7F430EE1C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76300" y="154305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3"/>
          </a:solidFill>
          <a:ln xmlns:a="http://schemas.openxmlformats.org/drawingml/2006/main">
            <a:noFill/>
          </a:ln>
        </p:spPr>
      </p:sp>
      <p:sp>
        <p:nvSpPr>
          <p:cNvPr id="19" name="TextBox 19">
            <a:extLst xmlns:a="http://schemas.openxmlformats.org/drawingml/2006/main">
              <a:ext uri="{FF2B5EF4-FFF2-40B4-BE49-F238E27FC236}">
                <a16:creationId xmlns:a16="http://schemas.microsoft.com/office/drawing/2014/main" id="{58F39ED1-5336-47CB-8FEB-54939A32B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63887" y="1701165"/>
            <a:ext cx="158225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800" b="1">
                <a:solidFill>
                  <a:srgbClr val="FFFFFF"/>
                </a:solidFill>
                <a:latin typeface="+mn-lt"/>
                <a:ea typeface="+mn-lt"/>
                <a:cs typeface="+mn-lt"/>
              </a:rPr>
              <a:t>1</a:t>
            </a:r>
          </a:p>
        </p:txBody>
      </p:sp>
      <p:sp>
        <p:nvSpPr>
          <p:cNvPr id="20" name="TextBox 20">
            <a:extLst xmlns:a="http://schemas.openxmlformats.org/drawingml/2006/main">
              <a:ext uri="{FF2B5EF4-FFF2-40B4-BE49-F238E27FC236}">
                <a16:creationId xmlns:a16="http://schemas.microsoft.com/office/drawing/2014/main" id="{EE2476B9-0F4E-4D36-81AA-3EDCB951F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15618" y="1707832"/>
            <a:ext cx="1182910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1">
                <a:solidFill>
                  <a:srgbClr val="4B45B7"/>
                </a:solidFill>
                <a:latin typeface="+mn-lt"/>
                <a:ea typeface="+mn-lt"/>
                <a:cs typeface="+mn-lt"/>
              </a:rPr>
              <a:t>输入可追溯</a:t>
            </a:r>
          </a:p>
        </p:txBody>
      </p:sp>
      <p:sp>
        <p:nvSpPr>
          <p:cNvPr id="21" name="Freeform 21">
            <a:extLst xmlns:a="http://schemas.openxmlformats.org/drawingml/2006/main">
              <a:ext uri="{FF2B5EF4-FFF2-40B4-BE49-F238E27FC236}">
                <a16:creationId xmlns:a16="http://schemas.microsoft.com/office/drawing/2014/main" id="{DDFD2841-6313-4A9A-A3AA-836DC2813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609850" y="1828800"/>
            <a:ext cx="609600" cy="361950"/>
          </a:xfrm>
          <a:custGeom xmlns:a="http://schemas.openxmlformats.org/drawingml/2006/main">
            <a:rect l="l" t="t" r="r" b="b"/>
            <a:pathLst>
              <a:path w="609600" h="361950">
                <a:moveTo>
                  <a:pt x="0" y="0"/>
                </a:moveTo>
                <a:lnTo>
                  <a:pt x="609600" y="0"/>
                </a:lnTo>
                <a:lnTo>
                  <a:pt x="609600" y="3619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chemeClr val="accent3"/>
            </a:solidFill>
          </a:ln>
        </p:spPr>
      </p:sp>
      <p:sp>
        <p:nvSpPr>
          <p:cNvPr id="22" name="Ellipse 22">
            <a:extLst xmlns:a="http://schemas.openxmlformats.org/drawingml/2006/main">
              <a:ext uri="{FF2B5EF4-FFF2-40B4-BE49-F238E27FC236}">
                <a16:creationId xmlns:a16="http://schemas.microsoft.com/office/drawing/2014/main" id="{73B9399B-1911-41BD-BEE3-0C3175E8C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496300" y="116205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</p:sp>
      <p:sp>
        <p:nvSpPr>
          <p:cNvPr id="23" name="TextBox 23">
            <a:extLst xmlns:a="http://schemas.openxmlformats.org/drawingml/2006/main">
              <a:ext uri="{FF2B5EF4-FFF2-40B4-BE49-F238E27FC236}">
                <a16:creationId xmlns:a16="http://schemas.microsoft.com/office/drawing/2014/main" id="{0A3A695A-6DFC-4B32-B7BA-D3FB04C8F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683887" y="1320165"/>
            <a:ext cx="158225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800" b="1">
                <a:solidFill>
                  <a:srgbClr val="FFFFFF"/>
                </a:solidFill>
                <a:latin typeface="+mn-lt"/>
                <a:ea typeface="+mn-lt"/>
                <a:cs typeface="+mn-lt"/>
              </a:rPr>
              <a:t>2</a:t>
            </a:r>
          </a:p>
        </p:txBody>
      </p:sp>
      <p:sp>
        <p:nvSpPr>
          <p:cNvPr id="24" name="TextBox 24">
            <a:extLst xmlns:a="http://schemas.openxmlformats.org/drawingml/2006/main">
              <a:ext uri="{FF2B5EF4-FFF2-40B4-BE49-F238E27FC236}">
                <a16:creationId xmlns:a16="http://schemas.microsoft.com/office/drawing/2014/main" id="{1278901A-5539-4D8B-8BDB-28C88419C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135618" y="1326832"/>
            <a:ext cx="1416139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1">
                <a:solidFill>
                  <a:schemeClr val="accent1"/>
                </a:solidFill>
                <a:latin typeface="+mn-lt"/>
                <a:ea typeface="+mn-lt"/>
                <a:cs typeface="+mn-lt"/>
              </a:rPr>
              <a:t>三方案可验证</a:t>
            </a:r>
          </a:p>
        </p:txBody>
      </p:sp>
      <p:sp>
        <p:nvSpPr>
          <p:cNvPr id="25" name="Ellipse 25">
            <a:extLst xmlns:a="http://schemas.openxmlformats.org/drawingml/2006/main">
              <a:ext uri="{FF2B5EF4-FFF2-40B4-BE49-F238E27FC236}">
                <a16:creationId xmlns:a16="http://schemas.microsoft.com/office/drawing/2014/main" id="{DD55EFC5-0D9C-4816-A4BA-3CCA88258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372600" y="552450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A085"/>
          </a:solidFill>
          <a:ln xmlns:a="http://schemas.openxmlformats.org/drawingml/2006/main">
            <a:noFill/>
          </a:ln>
        </p:spPr>
      </p:sp>
      <p:sp>
        <p:nvSpPr>
          <p:cNvPr id="26" name="TextBox 26">
            <a:extLst xmlns:a="http://schemas.openxmlformats.org/drawingml/2006/main">
              <a:ext uri="{FF2B5EF4-FFF2-40B4-BE49-F238E27FC236}">
                <a16:creationId xmlns:a16="http://schemas.microsoft.com/office/drawing/2014/main" id="{CD61E0DD-3CA0-4C8F-AD5E-D970E89BF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560187" y="5682615"/>
            <a:ext cx="158225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800" b="1">
                <a:solidFill>
                  <a:srgbClr val="FFFFFF"/>
                </a:solidFill>
                <a:latin typeface="+mn-lt"/>
                <a:ea typeface="+mn-lt"/>
                <a:cs typeface="+mn-lt"/>
              </a:rPr>
              <a:t>3</a:t>
            </a:r>
          </a:p>
        </p:txBody>
      </p:sp>
      <p:sp>
        <p:nvSpPr>
          <p:cNvPr id="27" name="TextBox 27">
            <a:extLst xmlns:a="http://schemas.openxmlformats.org/drawingml/2006/main">
              <a:ext uri="{FF2B5EF4-FFF2-40B4-BE49-F238E27FC236}">
                <a16:creationId xmlns:a16="http://schemas.microsoft.com/office/drawing/2014/main" id="{4B366CD8-934E-4058-B689-9302333F0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011918" y="5689282"/>
            <a:ext cx="1684352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1">
                <a:solidFill>
                  <a:srgbClr val="116956"/>
                </a:solidFill>
                <a:latin typeface="+mn-lt"/>
                <a:ea typeface="+mn-lt"/>
                <a:cs typeface="+mn-lt"/>
              </a:rPr>
              <a:t>人工批准 / 驳回</a:t>
            </a:r>
          </a:p>
        </p:txBody>
      </p:sp>
      <p:sp>
        <p:nvSpPr>
          <p:cNvPr id="29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8AC9AF55-BEB9-4650-970B-23B775D65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600" y="5905500"/>
            <a:ext cx="720090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chemeClr val="lt2"/>
          </a:solidFill>
          <a:ln xmlns:a="http://schemas.openxmlformats.org/drawingml/2006/main">
            <a:noFill/>
          </a:ln>
        </p:spPr>
      </p:sp>
      <p:sp>
        <p:nvSpPr>
          <p:cNvPr id="30" name="TextBox 30">
            <a:extLst xmlns:a="http://schemas.openxmlformats.org/drawingml/2006/main">
              <a:ext uri="{FF2B5EF4-FFF2-40B4-BE49-F238E27FC236}">
                <a16:creationId xmlns:a16="http://schemas.microsoft.com/office/drawing/2014/main" id="{00C4557E-AF1C-4EE2-820F-8870F5FB6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93242" y="6007418"/>
            <a:ext cx="4701656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chemeClr val="accent1"/>
                </a:solidFill>
                <a:latin typeface="+mn-lt"/>
                <a:ea typeface="+mn-lt"/>
                <a:cs typeface="+mn-lt"/>
              </a:rPr>
              <a:t>Replay 保障无密钥稳定复现；它不代表 live 模型准确率。</a:t>
            </a:r>
          </a:p>
        </p:txBody>
      </p:sp>
      <p:sp>
        <p:nvSpPr>
          <p:cNvPr id="31" name="TextBox 31">
            <a:extLst xmlns:a="http://schemas.openxmlformats.org/drawingml/2006/main">
              <a:ext uri="{FF2B5EF4-FFF2-40B4-BE49-F238E27FC236}">
                <a16:creationId xmlns:a16="http://schemas.microsoft.com/office/drawing/2014/main" id="{839C9595-4236-4045-8DD4-7330CA3A7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398606" y="6271260"/>
            <a:ext cx="189890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200">
                <a:solidFill>
                  <a:srgbClr val="7E9AAA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729664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2">
            <a:extLst xmlns:a="http://schemas.openxmlformats.org/drawingml/2006/main">
              <a:ext uri="{FF2B5EF4-FFF2-40B4-BE49-F238E27FC236}">
                <a16:creationId xmlns:a16="http://schemas.microsoft.com/office/drawing/2014/main" id="{939C3583-0287-4B4D-A502-D73E2A70B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91312" y="411480"/>
            <a:ext cx="7987522" cy="704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600" b="1">
                <a:solidFill>
                  <a:schemeClr val="accent1"/>
                </a:solidFill>
                <a:latin typeface="+mn-lt"/>
                <a:ea typeface="+mn-lt"/>
                <a:cs typeface="+mn-lt"/>
              </a:rPr>
              <a:t>随机事故 Agent 专门负责“找麻烦”</a:t>
            </a:r>
          </a:p>
        </p:txBody>
      </p:sp>
      <p:sp>
        <p:nvSpPr>
          <p:cNvPr id="3" name="TextBox 3">
            <a:extLst xmlns:a="http://schemas.openxmlformats.org/drawingml/2006/main">
              <a:ext uri="{FF2B5EF4-FFF2-40B4-BE49-F238E27FC236}">
                <a16:creationId xmlns:a16="http://schemas.microsoft.com/office/drawing/2014/main" id="{9E1F3936-852A-4536-8F2C-02223889E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1218" y="1022032"/>
            <a:ext cx="6236208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>
                <a:solidFill>
                  <a:srgbClr val="5B7388"/>
                </a:solidFill>
                <a:latin typeface="+mn-lt"/>
                <a:ea typeface="+mn-lt"/>
                <a:cs typeface="+mn-lt"/>
              </a:rPr>
              <a:t>受限、可复现、覆盖五类异常；它没有求解、批准或写回权限。</a:t>
            </a:r>
          </a:p>
        </p:txBody>
      </p:sp>
      <p:sp>
        <p:nvSpPr>
          <p:cNvPr id="4" name="Ellipse 4">
            <a:extLst xmlns:a="http://schemas.openxmlformats.org/drawingml/2006/main">
              <a:ext uri="{FF2B5EF4-FFF2-40B4-BE49-F238E27FC236}">
                <a16:creationId xmlns:a16="http://schemas.microsoft.com/office/drawing/2014/main" id="{40EEBA90-DE48-444F-BB4B-A03BA2944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200400" y="1676400"/>
            <a:ext cx="3962400" cy="39624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chemeClr val="accent5"/>
            </a:solidFill>
          </a:ln>
        </p:spPr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64BAFDC7-DD4C-460A-9EE3-7AF4F2DF3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162300" y="1866900"/>
            <a:ext cx="4019550" cy="3086100"/>
          </a:xfrm>
          <a:custGeom xmlns:a="http://schemas.openxmlformats.org/drawingml/2006/main">
            <a:rect l="l" t="t" r="r" b="b"/>
            <a:pathLst>
              <a:path w="4019550" h="3086100">
                <a:moveTo>
                  <a:pt x="2019300" y="838200"/>
                </a:moveTo>
                <a:lnTo>
                  <a:pt x="2019300" y="0"/>
                </a:lnTo>
                <a:moveTo>
                  <a:pt x="2800350" y="1219200"/>
                </a:moveTo>
                <a:lnTo>
                  <a:pt x="3886200" y="457200"/>
                </a:lnTo>
                <a:moveTo>
                  <a:pt x="2800350" y="2362200"/>
                </a:moveTo>
                <a:lnTo>
                  <a:pt x="4019550" y="2952750"/>
                </a:lnTo>
                <a:moveTo>
                  <a:pt x="1238250" y="2362200"/>
                </a:moveTo>
                <a:lnTo>
                  <a:pt x="76200" y="3086100"/>
                </a:lnTo>
                <a:moveTo>
                  <a:pt x="1238250" y="1219200"/>
                </a:moveTo>
                <a:lnTo>
                  <a:pt x="0" y="47625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chemeClr val="accent2"/>
            </a:solidFill>
          </a:ln>
        </p:spPr>
      </p:sp>
      <p:sp>
        <p:nvSpPr>
          <p:cNvPr id="6" name="Ellipse 6">
            <a:extLst xmlns:a="http://schemas.openxmlformats.org/drawingml/2006/main">
              <a:ext uri="{FF2B5EF4-FFF2-40B4-BE49-F238E27FC236}">
                <a16:creationId xmlns:a16="http://schemas.microsoft.com/office/drawing/2014/main" id="{59C030E0-3E62-4227-818B-FACAF4CAF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91000" y="2667000"/>
            <a:ext cx="1981200" cy="1981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</p:sp>
      <p:sp>
        <p:nvSpPr>
          <p:cNvPr id="7" name="Freeform 7">
            <a:extLst xmlns:a="http://schemas.openxmlformats.org/drawingml/2006/main">
              <a:ext uri="{FF2B5EF4-FFF2-40B4-BE49-F238E27FC236}">
                <a16:creationId xmlns:a16="http://schemas.microsoft.com/office/drawing/2014/main" id="{5F643FAC-18AF-4958-97A6-70F5EE349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010150" y="3162300"/>
            <a:ext cx="342900" cy="228600"/>
          </a:xfrm>
          <a:custGeom xmlns:a="http://schemas.openxmlformats.org/drawingml/2006/main">
            <a:rect l="l" t="t" r="r" b="b"/>
            <a:pathLst>
              <a:path w="342900" h="228600">
                <a:moveTo>
                  <a:pt x="0" y="57150"/>
                </a:moveTo>
                <a:cubicBezTo>
                  <a:pt x="0" y="25587"/>
                  <a:pt x="25587" y="0"/>
                  <a:pt x="57150" y="0"/>
                </a:cubicBezTo>
                <a:lnTo>
                  <a:pt x="285750" y="0"/>
                </a:lnTo>
                <a:cubicBezTo>
                  <a:pt x="317313" y="0"/>
                  <a:pt x="342900" y="25587"/>
                  <a:pt x="342900" y="57150"/>
                </a:cubicBezTo>
                <a:lnTo>
                  <a:pt x="342900" y="171450"/>
                </a:lnTo>
                <a:cubicBezTo>
                  <a:pt x="342900" y="203013"/>
                  <a:pt x="317313" y="228600"/>
                  <a:pt x="285750" y="228600"/>
                </a:cubicBezTo>
                <a:lnTo>
                  <a:pt x="57150" y="228600"/>
                </a:lnTo>
                <a:cubicBezTo>
                  <a:pt x="25587" y="228600"/>
                  <a:pt x="0" y="203013"/>
                  <a:pt x="0" y="171450"/>
                </a:cubicBezTo>
                <a:lnTo>
                  <a:pt x="0" y="57150"/>
                </a:lnTo>
              </a:path>
            </a:pathLst>
          </a:custGeom>
          <a:noFill xmlns:a="http://schemas.openxmlformats.org/drawingml/2006/main"/>
          <a:ln xmlns:a="http://schemas.openxmlformats.org/drawingml/2006/main" w="57150">
            <a:solidFill>
              <a:srgbClr val="FFFFFF"/>
            </a:solidFill>
          </a:ln>
        </p:spPr>
      </p:sp>
      <p:sp>
        <p:nvSpPr>
          <p:cNvPr id="8" name="Freeform 8">
            <a:extLst xmlns:a="http://schemas.openxmlformats.org/drawingml/2006/main">
              <a:ext uri="{FF2B5EF4-FFF2-40B4-BE49-F238E27FC236}">
                <a16:creationId xmlns:a16="http://schemas.microsoft.com/office/drawing/2014/main" id="{1500C3D4-E1F5-484C-B470-1D22DBC28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81600" y="3105150"/>
            <a:ext cx="9525" cy="57150"/>
          </a:xfrm>
          <a:custGeom xmlns:a="http://schemas.openxmlformats.org/drawingml/2006/main">
            <a:rect l="l" t="t" r="r" b="b"/>
            <a:pathLst>
              <a:path w="9525" h="57150">
                <a:moveTo>
                  <a:pt x="0" y="0"/>
                </a:moveTo>
                <a:lnTo>
                  <a:pt x="0" y="57150"/>
                </a:lnTo>
              </a:path>
            </a:pathLst>
          </a:custGeom>
          <a:noFill xmlns:a="http://schemas.openxmlformats.org/drawingml/2006/main"/>
          <a:ln xmlns:a="http://schemas.openxmlformats.org/drawingml/2006/main" w="57150">
            <a:solidFill>
              <a:srgbClr val="FFFFFF"/>
            </a:solidFill>
          </a:ln>
        </p:spPr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716C3FA1-E276-4ABA-AB35-71A390241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095875" y="3390900"/>
            <a:ext cx="9525" cy="257175"/>
          </a:xfrm>
          <a:custGeom xmlns:a="http://schemas.openxmlformats.org/drawingml/2006/main">
            <a:rect l="l" t="t" r="r" b="b"/>
            <a:pathLst>
              <a:path w="9525" h="257175">
                <a:moveTo>
                  <a:pt x="0" y="0"/>
                </a:moveTo>
                <a:lnTo>
                  <a:pt x="0" y="257175"/>
                </a:lnTo>
              </a:path>
            </a:pathLst>
          </a:custGeom>
          <a:noFill xmlns:a="http://schemas.openxmlformats.org/drawingml/2006/main"/>
          <a:ln xmlns:a="http://schemas.openxmlformats.org/drawingml/2006/main" w="57150">
            <a:solidFill>
              <a:srgbClr val="FFFFFF"/>
            </a:solidFill>
          </a:ln>
        </p:spPr>
      </p:sp>
      <p:sp>
        <p:nvSpPr>
          <p:cNvPr id="10" name="Freeform 10">
            <a:extLst xmlns:a="http://schemas.openxmlformats.org/drawingml/2006/main">
              <a:ext uri="{FF2B5EF4-FFF2-40B4-BE49-F238E27FC236}">
                <a16:creationId xmlns:a16="http://schemas.microsoft.com/office/drawing/2014/main" id="{B2F3BCA2-027A-4E77-8FC3-CCB03C9C6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267325" y="3390900"/>
            <a:ext cx="9525" cy="257175"/>
          </a:xfrm>
          <a:custGeom xmlns:a="http://schemas.openxmlformats.org/drawingml/2006/main">
            <a:rect l="l" t="t" r="r" b="b"/>
            <a:pathLst>
              <a:path w="9525" h="257175">
                <a:moveTo>
                  <a:pt x="0" y="0"/>
                </a:moveTo>
                <a:lnTo>
                  <a:pt x="0" y="257175"/>
                </a:lnTo>
              </a:path>
            </a:pathLst>
          </a:custGeom>
          <a:noFill xmlns:a="http://schemas.openxmlformats.org/drawingml/2006/main"/>
          <a:ln xmlns:a="http://schemas.openxmlformats.org/drawingml/2006/main" w="57150">
            <a:solidFill>
              <a:srgbClr val="FFFFFF"/>
            </a:solidFill>
          </a:ln>
        </p:spPr>
      </p:sp>
      <p:sp>
        <p:nvSpPr>
          <p:cNvPr id="11" name="Freeform 11">
            <a:extLst xmlns:a="http://schemas.openxmlformats.org/drawingml/2006/main">
              <a:ext uri="{FF2B5EF4-FFF2-40B4-BE49-F238E27FC236}">
                <a16:creationId xmlns:a16="http://schemas.microsoft.com/office/drawing/2014/main" id="{4C823FBB-EAA2-45F1-93A5-B785C8710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981575" y="3448050"/>
            <a:ext cx="114300" cy="57150"/>
          </a:xfrm>
          <a:custGeom xmlns:a="http://schemas.openxmlformats.org/drawingml/2006/main">
            <a:rect l="l" t="t" r="r" b="b"/>
            <a:pathLst>
              <a:path w="114300" h="57150">
                <a:moveTo>
                  <a:pt x="0" y="57150"/>
                </a:move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57150">
            <a:solidFill>
              <a:srgbClr val="FFFFFF"/>
            </a:solidFill>
          </a:ln>
        </p:spPr>
      </p:sp>
      <p:sp>
        <p:nvSpPr>
          <p:cNvPr id="12" name="Freeform 12">
            <a:extLst xmlns:a="http://schemas.openxmlformats.org/drawingml/2006/main">
              <a:ext uri="{FF2B5EF4-FFF2-40B4-BE49-F238E27FC236}">
                <a16:creationId xmlns:a16="http://schemas.microsoft.com/office/drawing/2014/main" id="{1A13D4FC-A8D1-4325-9C7D-39DB0635D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267325" y="3448050"/>
            <a:ext cx="114300" cy="57150"/>
          </a:xfrm>
          <a:custGeom xmlns:a="http://schemas.openxmlformats.org/drawingml/2006/main">
            <a:rect l="l" t="t" r="r" b="b"/>
            <a:pathLst>
              <a:path w="114300" h="57150">
                <a:moveTo>
                  <a:pt x="0" y="0"/>
                </a:moveTo>
                <a:lnTo>
                  <a:pt x="114300" y="57150"/>
                </a:lnTo>
              </a:path>
            </a:pathLst>
          </a:custGeom>
          <a:noFill xmlns:a="http://schemas.openxmlformats.org/drawingml/2006/main"/>
          <a:ln xmlns:a="http://schemas.openxmlformats.org/drawingml/2006/main" w="57150">
            <a:solidFill>
              <a:srgbClr val="FFFFFF"/>
            </a:solidFill>
          </a:ln>
        </p:spPr>
      </p:sp>
      <p:sp>
        <p:nvSpPr>
          <p:cNvPr id="13" name="Freeform 13">
            <a:extLst xmlns:a="http://schemas.openxmlformats.org/drawingml/2006/main">
              <a:ext uri="{FF2B5EF4-FFF2-40B4-BE49-F238E27FC236}">
                <a16:creationId xmlns:a16="http://schemas.microsoft.com/office/drawing/2014/main" id="{9BAE11E3-EE3A-45AB-99C4-9CC011650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095875" y="3562350"/>
            <a:ext cx="171450" cy="9525"/>
          </a:xfrm>
          <a:custGeom xmlns:a="http://schemas.openxmlformats.org/drawingml/2006/main">
            <a:rect l="l" t="t" r="r" b="b"/>
            <a:pathLst>
              <a:path w="171450" h="9525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57150">
            <a:solidFill>
              <a:srgbClr val="FFFFFF"/>
            </a:solidFill>
          </a:ln>
        </p:spPr>
      </p:sp>
      <p:sp>
        <p:nvSpPr>
          <p:cNvPr id="14" name="Freeform 14">
            <a:extLst xmlns:a="http://schemas.openxmlformats.org/drawingml/2006/main">
              <a:ext uri="{FF2B5EF4-FFF2-40B4-BE49-F238E27FC236}">
                <a16:creationId xmlns:a16="http://schemas.microsoft.com/office/drawing/2014/main" id="{1BBCC938-805A-439E-8997-369906284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24450" y="3276600"/>
            <a:ext cx="9525" cy="9525"/>
          </a:xfrm>
          <a:custGeom xmlns:a="http://schemas.openxmlformats.org/drawingml/2006/main">
            <a:rect l="l" t="t" r="r" b="b"/>
            <a:pathLst>
              <a:path w="9525" h="9525">
                <a:moveTo>
                  <a:pt x="0" y="0"/>
                </a:moveTo>
                <a:lnTo>
                  <a:pt x="0" y="286"/>
                </a:lnTo>
              </a:path>
            </a:pathLst>
          </a:custGeom>
          <a:noFill xmlns:a="http://schemas.openxmlformats.org/drawingml/2006/main"/>
          <a:ln xmlns:a="http://schemas.openxmlformats.org/drawingml/2006/main" w="57150">
            <a:solidFill>
              <a:srgbClr val="FFFFFF"/>
            </a:solidFill>
          </a:ln>
        </p:spPr>
      </p:sp>
      <p:sp>
        <p:nvSpPr>
          <p:cNvPr id="15" name="Freeform 15">
            <a:extLst xmlns:a="http://schemas.openxmlformats.org/drawingml/2006/main">
              <a:ext uri="{FF2B5EF4-FFF2-40B4-BE49-F238E27FC236}">
                <a16:creationId xmlns:a16="http://schemas.microsoft.com/office/drawing/2014/main" id="{32343008-1AA9-4F56-AEA7-6521F9DFF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238750" y="3276600"/>
            <a:ext cx="9525" cy="9525"/>
          </a:xfrm>
          <a:custGeom xmlns:a="http://schemas.openxmlformats.org/drawingml/2006/main">
            <a:rect l="l" t="t" r="r" b="b"/>
            <a:pathLst>
              <a:path w="9525" h="9525">
                <a:moveTo>
                  <a:pt x="0" y="0"/>
                </a:moveTo>
                <a:lnTo>
                  <a:pt x="0" y="286"/>
                </a:lnTo>
              </a:path>
            </a:pathLst>
          </a:custGeom>
          <a:noFill xmlns:a="http://schemas.openxmlformats.org/drawingml/2006/main"/>
          <a:ln xmlns:a="http://schemas.openxmlformats.org/drawingml/2006/main" w="57150">
            <a:solidFill>
              <a:srgbClr val="FFFFFF"/>
            </a:solidFill>
          </a:ln>
        </p:spPr>
      </p:sp>
      <p:sp>
        <p:nvSpPr>
          <p:cNvPr id="17" name="TextBox 17">
            <a:extLst xmlns:a="http://schemas.openxmlformats.org/drawingml/2006/main">
              <a:ext uri="{FF2B5EF4-FFF2-40B4-BE49-F238E27FC236}">
                <a16:creationId xmlns:a16="http://schemas.microsoft.com/office/drawing/2014/main" id="{FA51B51A-3CCD-4421-AABE-FDA779B0C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92581" y="3863340"/>
            <a:ext cx="578038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800" b="1">
                <a:solidFill>
                  <a:srgbClr val="FFFFFF"/>
                </a:solidFill>
                <a:latin typeface="+mn-lt"/>
                <a:ea typeface="+mn-lt"/>
                <a:cs typeface="+mn-lt"/>
              </a:rPr>
              <a:t>seed</a:t>
            </a:r>
          </a:p>
        </p:txBody>
      </p:sp>
      <p:sp>
        <p:nvSpPr>
          <p:cNvPr id="18" name="TextBox 18">
            <a:extLst xmlns:a="http://schemas.openxmlformats.org/drawingml/2006/main">
              <a:ext uri="{FF2B5EF4-FFF2-40B4-BE49-F238E27FC236}">
                <a16:creationId xmlns:a16="http://schemas.microsoft.com/office/drawing/2014/main" id="{93FD6B98-B64A-4F33-987B-EE04F3205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684547" y="4184332"/>
            <a:ext cx="994105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650">
                <a:solidFill>
                  <a:srgbClr val="B7E5EF"/>
                </a:solidFill>
                <a:latin typeface="Consolas"/>
                <a:ea typeface="Consolas"/>
                <a:cs typeface="Consolas"/>
              </a:rPr>
              <a:t>20260810</a:t>
            </a:r>
          </a:p>
        </p:txBody>
      </p:sp>
      <p:sp>
        <p:nvSpPr>
          <p:cNvPr id="19" name="Ellipse 19">
            <a:extLst xmlns:a="http://schemas.openxmlformats.org/drawingml/2006/main">
              <a:ext uri="{FF2B5EF4-FFF2-40B4-BE49-F238E27FC236}">
                <a16:creationId xmlns:a16="http://schemas.microsoft.com/office/drawing/2014/main" id="{8E4CAD1A-F527-4CE4-8A9F-2FB10289C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648200" y="1257300"/>
            <a:ext cx="1066800" cy="1066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chemeClr val="accent2"/>
            </a:solidFill>
          </a:ln>
        </p:spPr>
      </p:sp>
      <p:sp>
        <p:nvSpPr>
          <p:cNvPr id="20" name="Freeform 20">
            <a:extLst xmlns:a="http://schemas.openxmlformats.org/drawingml/2006/main">
              <a:ext uri="{FF2B5EF4-FFF2-40B4-BE49-F238E27FC236}">
                <a16:creationId xmlns:a16="http://schemas.microsoft.com/office/drawing/2014/main" id="{E5B4FADB-A669-478E-89E1-452BA5E93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010150" y="1504950"/>
            <a:ext cx="342900" cy="266700"/>
          </a:xfrm>
          <a:custGeom xmlns:a="http://schemas.openxmlformats.org/drawingml/2006/main">
            <a:rect l="l" t="t" r="r" b="b"/>
            <a:pathLst>
              <a:path w="342900" h="266700">
                <a:moveTo>
                  <a:pt x="0" y="38100"/>
                </a:moveTo>
                <a:cubicBezTo>
                  <a:pt x="0" y="17058"/>
                  <a:pt x="17058" y="0"/>
                  <a:pt x="38100" y="0"/>
                </a:cubicBezTo>
                <a:lnTo>
                  <a:pt x="304800" y="0"/>
                </a:lnTo>
                <a:cubicBezTo>
                  <a:pt x="325842" y="0"/>
                  <a:pt x="342900" y="17058"/>
                  <a:pt x="342900" y="38100"/>
                </a:cubicBezTo>
                <a:lnTo>
                  <a:pt x="342900" y="228600"/>
                </a:lnTo>
                <a:cubicBezTo>
                  <a:pt x="342900" y="249642"/>
                  <a:pt x="325842" y="266700"/>
                  <a:pt x="304800" y="266700"/>
                </a:cubicBezTo>
                <a:lnTo>
                  <a:pt x="38100" y="266700"/>
                </a:lnTo>
                <a:cubicBezTo>
                  <a:pt x="17058" y="266700"/>
                  <a:pt x="0" y="249642"/>
                  <a:pt x="0" y="228600"/>
                </a:cubicBezTo>
                <a:lnTo>
                  <a:pt x="0" y="38100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chemeClr val="accent1"/>
            </a:solidFill>
          </a:ln>
        </p:spPr>
      </p:sp>
      <p:sp>
        <p:nvSpPr>
          <p:cNvPr id="21" name="Freeform 21">
            <a:extLst xmlns:a="http://schemas.openxmlformats.org/drawingml/2006/main">
              <a:ext uri="{FF2B5EF4-FFF2-40B4-BE49-F238E27FC236}">
                <a16:creationId xmlns:a16="http://schemas.microsoft.com/office/drawing/2014/main" id="{C4F65659-819B-45C1-9B5D-24321AF0B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010150" y="1543050"/>
            <a:ext cx="342900" cy="114300"/>
          </a:xfrm>
          <a:custGeom xmlns:a="http://schemas.openxmlformats.org/drawingml/2006/main">
            <a:rect l="l" t="t" r="r" b="b"/>
            <a:pathLst>
              <a:path w="342900" h="114300">
                <a:moveTo>
                  <a:pt x="0" y="0"/>
                </a:moveTo>
                <a:lnTo>
                  <a:pt x="171450" y="114300"/>
                </a:lnTo>
                <a:lnTo>
                  <a:pt x="3429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chemeClr val="accent1"/>
            </a:solidFill>
          </a:ln>
        </p:spPr>
      </p:sp>
      <p:sp>
        <p:nvSpPr>
          <p:cNvPr id="23" name="TextBox 23">
            <a:extLst xmlns:a="http://schemas.openxmlformats.org/drawingml/2006/main">
              <a:ext uri="{FF2B5EF4-FFF2-40B4-BE49-F238E27FC236}">
                <a16:creationId xmlns:a16="http://schemas.microsoft.com/office/drawing/2014/main" id="{8636F0F9-F9BE-4D23-B6FE-7A5D4BC56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793094" y="1949768"/>
            <a:ext cx="777011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 b="1">
                <a:solidFill>
                  <a:schemeClr val="dk1"/>
                </a:solidFill>
                <a:latin typeface="+mn-lt"/>
                <a:ea typeface="+mn-lt"/>
                <a:cs typeface="+mn-lt"/>
              </a:rPr>
              <a:t>供应延期</a:t>
            </a:r>
          </a:p>
        </p:txBody>
      </p:sp>
      <p:sp>
        <p:nvSpPr>
          <p:cNvPr id="25" name="Ellipse 25">
            <a:extLst xmlns:a="http://schemas.openxmlformats.org/drawingml/2006/main">
              <a:ext uri="{FF2B5EF4-FFF2-40B4-BE49-F238E27FC236}">
                <a16:creationId xmlns:a16="http://schemas.microsoft.com/office/drawing/2014/main" id="{72C94C7E-2052-4FE1-87B8-B39E37265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800850" y="1504950"/>
            <a:ext cx="1181100" cy="1181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chemeClr val="accent6"/>
            </a:solidFill>
          </a:ln>
        </p:spPr>
      </p:sp>
      <p:sp>
        <p:nvSpPr>
          <p:cNvPr id="26" name="Freeform 26">
            <a:extLst xmlns:a="http://schemas.openxmlformats.org/drawingml/2006/main">
              <a:ext uri="{FF2B5EF4-FFF2-40B4-BE49-F238E27FC236}">
                <a16:creationId xmlns:a16="http://schemas.microsoft.com/office/drawing/2014/main" id="{95D63B18-1CAF-43D7-8AE2-2FD7C2899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391400" y="1862138"/>
            <a:ext cx="9525" cy="82550"/>
          </a:xfrm>
          <a:custGeom xmlns:a="http://schemas.openxmlformats.org/drawingml/2006/main">
            <a:rect l="l" t="t" r="r" b="b"/>
            <a:pathLst>
              <a:path w="9525" h="82550">
                <a:moveTo>
                  <a:pt x="0" y="0"/>
                </a:moveTo>
                <a:lnTo>
                  <a:pt x="0" y="82550"/>
                </a:lnTo>
              </a:path>
            </a:pathLst>
          </a:custGeom>
          <a:noFill xmlns:a="http://schemas.openxmlformats.org/drawingml/2006/main"/>
          <a:ln xmlns:a="http://schemas.openxmlformats.org/drawingml/2006/main" w="41275">
            <a:solidFill>
              <a:schemeClr val="accent6"/>
            </a:solidFill>
          </a:ln>
        </p:spPr>
      </p:sp>
      <p:sp>
        <p:nvSpPr>
          <p:cNvPr id="27" name="Freeform 27">
            <a:extLst xmlns:a="http://schemas.openxmlformats.org/drawingml/2006/main">
              <a:ext uri="{FF2B5EF4-FFF2-40B4-BE49-F238E27FC236}">
                <a16:creationId xmlns:a16="http://schemas.microsoft.com/office/drawing/2014/main" id="{BEA54D64-9F5B-43BA-B236-E7ECDA8EC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183269" y="1731456"/>
            <a:ext cx="416248" cy="357612"/>
          </a:xfrm>
          <a:custGeom xmlns:a="http://schemas.openxmlformats.org/drawingml/2006/main">
            <a:rect l="l" t="t" r="r" b="b"/>
            <a:pathLst>
              <a:path w="416248" h="357612">
                <a:moveTo>
                  <a:pt x="174348" y="19053"/>
                </a:moveTo>
                <a:lnTo>
                  <a:pt x="7060" y="298361"/>
                </a:lnTo>
                <a:cubicBezTo>
                  <a:pt x="43" y="310514"/>
                  <a:pt x="0" y="325478"/>
                  <a:pt x="6948" y="337670"/>
                </a:cubicBezTo>
                <a:cubicBezTo>
                  <a:pt x="13896" y="349863"/>
                  <a:pt x="26791" y="357454"/>
                  <a:pt x="40823" y="357612"/>
                </a:cubicBezTo>
                <a:lnTo>
                  <a:pt x="375440" y="357612"/>
                </a:lnTo>
                <a:cubicBezTo>
                  <a:pt x="389466" y="357450"/>
                  <a:pt x="402355" y="349862"/>
                  <a:pt x="409301" y="337676"/>
                </a:cubicBezTo>
                <a:cubicBezTo>
                  <a:pt x="416248" y="325489"/>
                  <a:pt x="416210" y="310533"/>
                  <a:pt x="409203" y="298382"/>
                </a:cubicBezTo>
                <a:lnTo>
                  <a:pt x="241916" y="19032"/>
                </a:lnTo>
                <a:cubicBezTo>
                  <a:pt x="234757" y="7217"/>
                  <a:pt x="221946" y="0"/>
                  <a:pt x="208132" y="0"/>
                </a:cubicBezTo>
                <a:cubicBezTo>
                  <a:pt x="194317" y="0"/>
                  <a:pt x="181507" y="7217"/>
                  <a:pt x="174348" y="19032"/>
                </a:cubicBezTo>
              </a:path>
            </a:pathLst>
          </a:custGeom>
          <a:noFill xmlns:a="http://schemas.openxmlformats.org/drawingml/2006/main"/>
          <a:ln xmlns:a="http://schemas.openxmlformats.org/drawingml/2006/main" w="41275">
            <a:solidFill>
              <a:schemeClr val="accent6"/>
            </a:solidFill>
          </a:ln>
        </p:spPr>
      </p:sp>
      <p:sp>
        <p:nvSpPr>
          <p:cNvPr id="28" name="Freeform 28">
            <a:extLst xmlns:a="http://schemas.openxmlformats.org/drawingml/2006/main">
              <a:ext uri="{FF2B5EF4-FFF2-40B4-BE49-F238E27FC236}">
                <a16:creationId xmlns:a16="http://schemas.microsoft.com/office/drawing/2014/main" id="{07E228CF-2C7F-4A71-B2A4-29FA17DD0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391400" y="2006601"/>
            <a:ext cx="9525" cy="9525"/>
          </a:xfrm>
          <a:custGeom xmlns:a="http://schemas.openxmlformats.org/drawingml/2006/main">
            <a:rect l="l" t="t" r="r" b="b"/>
            <a:pathLst>
              <a:path w="9525" h="9525">
                <a:moveTo>
                  <a:pt x="0" y="0"/>
                </a:moveTo>
                <a:lnTo>
                  <a:pt x="206" y="0"/>
                </a:lnTo>
              </a:path>
            </a:pathLst>
          </a:custGeom>
          <a:noFill xmlns:a="http://schemas.openxmlformats.org/drawingml/2006/main"/>
          <a:ln xmlns:a="http://schemas.openxmlformats.org/drawingml/2006/main" w="41275">
            <a:solidFill>
              <a:schemeClr val="accent6"/>
            </a:solidFill>
          </a:ln>
        </p:spPr>
      </p:sp>
      <p:sp>
        <p:nvSpPr>
          <p:cNvPr id="30" name="TextBox 30">
            <a:extLst xmlns:a="http://schemas.openxmlformats.org/drawingml/2006/main">
              <a:ext uri="{FF2B5EF4-FFF2-40B4-BE49-F238E27FC236}">
                <a16:creationId xmlns:a16="http://schemas.microsoft.com/office/drawing/2014/main" id="{E08F3C63-B92B-4E7E-9FA8-3A0D03B3C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002894" y="2235518"/>
            <a:ext cx="777011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 b="1">
                <a:solidFill>
                  <a:schemeClr val="dk1"/>
                </a:solidFill>
                <a:latin typeface="+mn-lt"/>
                <a:ea typeface="+mn-lt"/>
                <a:cs typeface="+mn-lt"/>
              </a:rPr>
              <a:t>供应中断</a:t>
            </a:r>
          </a:p>
        </p:txBody>
      </p:sp>
      <p:sp>
        <p:nvSpPr>
          <p:cNvPr id="32" name="Ellipse 32">
            <a:extLst xmlns:a="http://schemas.openxmlformats.org/drawingml/2006/main">
              <a:ext uri="{FF2B5EF4-FFF2-40B4-BE49-F238E27FC236}">
                <a16:creationId xmlns:a16="http://schemas.microsoft.com/office/drawing/2014/main" id="{FDA97320-4A9A-48BE-BA55-2CFFE5194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934200" y="4419600"/>
            <a:ext cx="1181100" cy="1181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chemeClr val="accent3"/>
            </a:solidFill>
          </a:ln>
        </p:spPr>
      </p:sp>
      <p:sp>
        <p:nvSpPr>
          <p:cNvPr id="33" name="Freeform 33">
            <a:extLst xmlns:a="http://schemas.openxmlformats.org/drawingml/2006/main">
              <a:ext uri="{FF2B5EF4-FFF2-40B4-BE49-F238E27FC236}">
                <a16:creationId xmlns:a16="http://schemas.microsoft.com/office/drawing/2014/main" id="{59AFA5DF-ECB5-4496-A8EF-475996133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339013" y="4838700"/>
            <a:ext cx="123825" cy="165100"/>
          </a:xfrm>
          <a:custGeom xmlns:a="http://schemas.openxmlformats.org/drawingml/2006/main">
            <a:rect l="l" t="t" r="r" b="b"/>
            <a:pathLst>
              <a:path w="123825" h="165100">
                <a:moveTo>
                  <a:pt x="0" y="20638"/>
                </a:moveTo>
                <a:cubicBezTo>
                  <a:pt x="0" y="9240"/>
                  <a:pt x="9240" y="0"/>
                  <a:pt x="20638" y="0"/>
                </a:cubicBezTo>
                <a:lnTo>
                  <a:pt x="103188" y="0"/>
                </a:lnTo>
                <a:cubicBezTo>
                  <a:pt x="114585" y="0"/>
                  <a:pt x="123825" y="9240"/>
                  <a:pt x="123825" y="20638"/>
                </a:cubicBezTo>
                <a:lnTo>
                  <a:pt x="123825" y="144463"/>
                </a:lnTo>
                <a:cubicBezTo>
                  <a:pt x="123825" y="155861"/>
                  <a:pt x="114585" y="165100"/>
                  <a:pt x="103188" y="165100"/>
                </a:cubicBezTo>
                <a:lnTo>
                  <a:pt x="20638" y="165100"/>
                </a:lnTo>
                <a:cubicBezTo>
                  <a:pt x="9240" y="165100"/>
                  <a:pt x="0" y="155861"/>
                  <a:pt x="0" y="144463"/>
                </a:cubicBezTo>
                <a:lnTo>
                  <a:pt x="0" y="20638"/>
                </a:lnTo>
              </a:path>
            </a:pathLst>
          </a:custGeom>
          <a:noFill xmlns:a="http://schemas.openxmlformats.org/drawingml/2006/main"/>
          <a:ln xmlns:a="http://schemas.openxmlformats.org/drawingml/2006/main" w="41275">
            <a:solidFill>
              <a:schemeClr val="accent3"/>
            </a:solidFill>
          </a:ln>
        </p:spPr>
      </p:sp>
      <p:sp>
        <p:nvSpPr>
          <p:cNvPr id="34" name="Freeform 34">
            <a:extLst xmlns:a="http://schemas.openxmlformats.org/drawingml/2006/main">
              <a:ext uri="{FF2B5EF4-FFF2-40B4-BE49-F238E27FC236}">
                <a16:creationId xmlns:a16="http://schemas.microsoft.com/office/drawing/2014/main" id="{67AD7637-4430-4CDA-B141-82619F53E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586663" y="4756150"/>
            <a:ext cx="123825" cy="247650"/>
          </a:xfrm>
          <a:custGeom xmlns:a="http://schemas.openxmlformats.org/drawingml/2006/main">
            <a:rect l="l" t="t" r="r" b="b"/>
            <a:pathLst>
              <a:path w="123825" h="247650">
                <a:moveTo>
                  <a:pt x="0" y="20638"/>
                </a:moveTo>
                <a:cubicBezTo>
                  <a:pt x="0" y="9240"/>
                  <a:pt x="9240" y="0"/>
                  <a:pt x="20638" y="0"/>
                </a:cubicBezTo>
                <a:lnTo>
                  <a:pt x="103188" y="0"/>
                </a:lnTo>
                <a:cubicBezTo>
                  <a:pt x="114585" y="0"/>
                  <a:pt x="123825" y="9240"/>
                  <a:pt x="123825" y="20638"/>
                </a:cubicBezTo>
                <a:lnTo>
                  <a:pt x="123825" y="227013"/>
                </a:lnTo>
                <a:cubicBezTo>
                  <a:pt x="123825" y="238411"/>
                  <a:pt x="114585" y="247650"/>
                  <a:pt x="103188" y="247650"/>
                </a:cubicBezTo>
                <a:lnTo>
                  <a:pt x="20638" y="247650"/>
                </a:lnTo>
                <a:cubicBezTo>
                  <a:pt x="9240" y="247650"/>
                  <a:pt x="0" y="238411"/>
                  <a:pt x="0" y="227013"/>
                </a:cubicBezTo>
                <a:lnTo>
                  <a:pt x="0" y="20638"/>
                </a:lnTo>
              </a:path>
            </a:pathLst>
          </a:custGeom>
          <a:noFill xmlns:a="http://schemas.openxmlformats.org/drawingml/2006/main"/>
          <a:ln xmlns:a="http://schemas.openxmlformats.org/drawingml/2006/main" w="41275">
            <a:solidFill>
              <a:schemeClr val="accent3"/>
            </a:solidFill>
          </a:ln>
        </p:spPr>
      </p:sp>
      <p:sp>
        <p:nvSpPr>
          <p:cNvPr id="35" name="Freeform 35">
            <a:extLst xmlns:a="http://schemas.openxmlformats.org/drawingml/2006/main">
              <a:ext uri="{FF2B5EF4-FFF2-40B4-BE49-F238E27FC236}">
                <a16:creationId xmlns:a16="http://schemas.microsoft.com/office/drawing/2014/main" id="{499EA75E-689F-4712-A66C-E5C093C51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462838" y="4673600"/>
            <a:ext cx="123825" cy="330201"/>
          </a:xfrm>
          <a:custGeom xmlns:a="http://schemas.openxmlformats.org/drawingml/2006/main">
            <a:rect l="l" t="t" r="r" b="b"/>
            <a:pathLst>
              <a:path w="123825" h="330201">
                <a:moveTo>
                  <a:pt x="0" y="20638"/>
                </a:moveTo>
                <a:cubicBezTo>
                  <a:pt x="0" y="9240"/>
                  <a:pt x="9240" y="0"/>
                  <a:pt x="20638" y="0"/>
                </a:cubicBezTo>
                <a:lnTo>
                  <a:pt x="103188" y="0"/>
                </a:lnTo>
                <a:cubicBezTo>
                  <a:pt x="114585" y="0"/>
                  <a:pt x="123825" y="9240"/>
                  <a:pt x="123825" y="20638"/>
                </a:cubicBezTo>
                <a:lnTo>
                  <a:pt x="123825" y="309563"/>
                </a:lnTo>
                <a:cubicBezTo>
                  <a:pt x="123825" y="320961"/>
                  <a:pt x="114585" y="330201"/>
                  <a:pt x="103188" y="330201"/>
                </a:cubicBezTo>
                <a:lnTo>
                  <a:pt x="20638" y="330201"/>
                </a:lnTo>
                <a:cubicBezTo>
                  <a:pt x="9240" y="330201"/>
                  <a:pt x="0" y="320961"/>
                  <a:pt x="0" y="309563"/>
                </a:cubicBezTo>
                <a:lnTo>
                  <a:pt x="0" y="20638"/>
                </a:lnTo>
              </a:path>
            </a:pathLst>
          </a:custGeom>
          <a:noFill xmlns:a="http://schemas.openxmlformats.org/drawingml/2006/main"/>
          <a:ln xmlns:a="http://schemas.openxmlformats.org/drawingml/2006/main" w="41275">
            <a:solidFill>
              <a:schemeClr val="accent3"/>
            </a:solidFill>
          </a:ln>
        </p:spPr>
      </p:sp>
      <p:sp>
        <p:nvSpPr>
          <p:cNvPr id="36" name="Freeform 36">
            <a:extLst xmlns:a="http://schemas.openxmlformats.org/drawingml/2006/main">
              <a:ext uri="{FF2B5EF4-FFF2-40B4-BE49-F238E27FC236}">
                <a16:creationId xmlns:a16="http://schemas.microsoft.com/office/drawing/2014/main" id="{D62B5EC7-4C16-4A88-8ABF-57C82122A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359650" y="5003801"/>
            <a:ext cx="288925" cy="9525"/>
          </a:xfrm>
          <a:custGeom xmlns:a="http://schemas.openxmlformats.org/drawingml/2006/main">
            <a:rect l="l" t="t" r="r" b="b"/>
            <a:pathLst>
              <a:path w="288925" h="9525">
                <a:moveTo>
                  <a:pt x="0" y="0"/>
                </a:moveTo>
                <a:lnTo>
                  <a:pt x="2889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41275">
            <a:solidFill>
              <a:schemeClr val="accent3"/>
            </a:solidFill>
          </a:ln>
        </p:spPr>
      </p:sp>
      <p:sp>
        <p:nvSpPr>
          <p:cNvPr id="38" name="TextBox 38">
            <a:extLst xmlns:a="http://schemas.openxmlformats.org/drawingml/2006/main">
              <a:ext uri="{FF2B5EF4-FFF2-40B4-BE49-F238E27FC236}">
                <a16:creationId xmlns:a16="http://schemas.microsoft.com/office/drawing/2014/main" id="{FD6457DE-F2C2-4321-AD47-1AFB98839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136244" y="5150168"/>
            <a:ext cx="777011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 b="1">
                <a:solidFill>
                  <a:schemeClr val="dk1"/>
                </a:solidFill>
                <a:latin typeface="+mn-lt"/>
                <a:ea typeface="+mn-lt"/>
                <a:cs typeface="+mn-lt"/>
              </a:rPr>
              <a:t>需求激增</a:t>
            </a:r>
          </a:p>
        </p:txBody>
      </p:sp>
      <p:sp>
        <p:nvSpPr>
          <p:cNvPr id="40" name="Ellipse 40">
            <a:extLst xmlns:a="http://schemas.openxmlformats.org/drawingml/2006/main">
              <a:ext uri="{FF2B5EF4-FFF2-40B4-BE49-F238E27FC236}">
                <a16:creationId xmlns:a16="http://schemas.microsoft.com/office/drawing/2014/main" id="{B1E2814B-FFC4-4D5D-A85B-4FA3E1B43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24100" y="4552950"/>
            <a:ext cx="1181100" cy="1181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E5484D"/>
            </a:solidFill>
          </a:ln>
        </p:spPr>
      </p:sp>
      <p:sp>
        <p:nvSpPr>
          <p:cNvPr id="41" name="Freeform 41">
            <a:extLst xmlns:a="http://schemas.openxmlformats.org/drawingml/2006/main">
              <a:ext uri="{FF2B5EF4-FFF2-40B4-BE49-F238E27FC236}">
                <a16:creationId xmlns:a16="http://schemas.microsoft.com/office/drawing/2014/main" id="{CB80B653-641C-4AEC-8464-0AB4A7C87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749550" y="4910138"/>
            <a:ext cx="206375" cy="247650"/>
          </a:xfrm>
          <a:custGeom xmlns:a="http://schemas.openxmlformats.org/drawingml/2006/main">
            <a:rect l="l" t="t" r="r" b="b"/>
            <a:pathLst>
              <a:path w="206375" h="247650">
                <a:moveTo>
                  <a:pt x="0" y="247650"/>
                </a:moveTo>
                <a:cubicBezTo>
                  <a:pt x="23671" y="164688"/>
                  <a:pt x="40924" y="81993"/>
                  <a:pt x="41275" y="0"/>
                </a:cubicBezTo>
                <a:lnTo>
                  <a:pt x="165100" y="0"/>
                </a:lnTo>
                <a:cubicBezTo>
                  <a:pt x="165451" y="81993"/>
                  <a:pt x="182704" y="164688"/>
                  <a:pt x="206375" y="247650"/>
                </a:cubicBezTo>
              </a:path>
            </a:pathLst>
          </a:custGeom>
          <a:noFill xmlns:a="http://schemas.openxmlformats.org/drawingml/2006/main"/>
          <a:ln xmlns:a="http://schemas.openxmlformats.org/drawingml/2006/main" w="41275">
            <a:solidFill>
              <a:srgbClr val="E5484D"/>
            </a:solidFill>
          </a:ln>
        </p:spPr>
      </p:sp>
      <p:sp>
        <p:nvSpPr>
          <p:cNvPr id="42" name="Freeform 42">
            <a:extLst xmlns:a="http://schemas.openxmlformats.org/drawingml/2006/main">
              <a:ext uri="{FF2B5EF4-FFF2-40B4-BE49-F238E27FC236}">
                <a16:creationId xmlns:a16="http://schemas.microsoft.com/office/drawing/2014/main" id="{2CEB5E74-3679-47EA-A0C2-4C5E583D5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924969" y="4992688"/>
            <a:ext cx="134144" cy="165100"/>
          </a:xfrm>
          <a:custGeom xmlns:a="http://schemas.openxmlformats.org/drawingml/2006/main">
            <a:rect l="l" t="t" r="r" b="b"/>
            <a:pathLst>
              <a:path w="134144" h="165100">
                <a:moveTo>
                  <a:pt x="0" y="0"/>
                </a:moveTo>
                <a:lnTo>
                  <a:pt x="92869" y="0"/>
                </a:lnTo>
                <a:cubicBezTo>
                  <a:pt x="93385" y="53905"/>
                  <a:pt x="111319" y="109296"/>
                  <a:pt x="134144" y="165100"/>
                </a:cubicBezTo>
              </a:path>
            </a:pathLst>
          </a:custGeom>
          <a:noFill xmlns:a="http://schemas.openxmlformats.org/drawingml/2006/main"/>
          <a:ln xmlns:a="http://schemas.openxmlformats.org/drawingml/2006/main" w="41275">
            <a:solidFill>
              <a:srgbClr val="E5484D"/>
            </a:solidFill>
          </a:ln>
        </p:spPr>
      </p:sp>
      <p:sp>
        <p:nvSpPr>
          <p:cNvPr id="43" name="Freeform 43">
            <a:extLst xmlns:a="http://schemas.openxmlformats.org/drawingml/2006/main">
              <a:ext uri="{FF2B5EF4-FFF2-40B4-BE49-F238E27FC236}">
                <a16:creationId xmlns:a16="http://schemas.microsoft.com/office/drawing/2014/main" id="{9A30CE5D-F2DA-448C-A097-03A04636A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852738" y="4806608"/>
            <a:ext cx="247650" cy="41959"/>
          </a:xfrm>
          <a:custGeom xmlns:a="http://schemas.openxmlformats.org/drawingml/2006/main">
            <a:rect l="l" t="t" r="r" b="b"/>
            <a:pathLst>
              <a:path w="247650" h="41959">
                <a:moveTo>
                  <a:pt x="0" y="20979"/>
                </a:moveTo>
                <a:cubicBezTo>
                  <a:pt x="9518" y="7720"/>
                  <a:pt x="24957" y="0"/>
                  <a:pt x="41275" y="342"/>
                </a:cubicBezTo>
                <a:cubicBezTo>
                  <a:pt x="57593" y="0"/>
                  <a:pt x="73033" y="7720"/>
                  <a:pt x="82550" y="20979"/>
                </a:cubicBezTo>
                <a:cubicBezTo>
                  <a:pt x="92068" y="34239"/>
                  <a:pt x="107507" y="41959"/>
                  <a:pt x="123825" y="41617"/>
                </a:cubicBezTo>
                <a:cubicBezTo>
                  <a:pt x="140144" y="41959"/>
                  <a:pt x="155583" y="34239"/>
                  <a:pt x="165100" y="20979"/>
                </a:cubicBezTo>
                <a:cubicBezTo>
                  <a:pt x="174618" y="7720"/>
                  <a:pt x="190057" y="0"/>
                  <a:pt x="206375" y="342"/>
                </a:cubicBezTo>
                <a:cubicBezTo>
                  <a:pt x="222694" y="0"/>
                  <a:pt x="238133" y="7720"/>
                  <a:pt x="247650" y="20979"/>
                </a:cubicBezTo>
              </a:path>
            </a:pathLst>
          </a:custGeom>
          <a:noFill xmlns:a="http://schemas.openxmlformats.org/drawingml/2006/main"/>
          <a:ln xmlns:a="http://schemas.openxmlformats.org/drawingml/2006/main" w="41275">
            <a:solidFill>
              <a:srgbClr val="E5484D"/>
            </a:solidFill>
          </a:ln>
        </p:spPr>
      </p:sp>
      <p:sp>
        <p:nvSpPr>
          <p:cNvPr id="44" name="Freeform 44">
            <a:extLst xmlns:a="http://schemas.openxmlformats.org/drawingml/2006/main">
              <a:ext uri="{FF2B5EF4-FFF2-40B4-BE49-F238E27FC236}">
                <a16:creationId xmlns:a16="http://schemas.microsoft.com/office/drawing/2014/main" id="{D522D663-D1D1-4AD8-9D14-D08D7FD8A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728913" y="5157788"/>
            <a:ext cx="392113" cy="9525"/>
          </a:xfrm>
          <a:custGeom xmlns:a="http://schemas.openxmlformats.org/drawingml/2006/main">
            <a:rect l="l" t="t" r="r" b="b"/>
            <a:pathLst>
              <a:path w="392113" h="9525">
                <a:moveTo>
                  <a:pt x="0" y="0"/>
                </a:moveTo>
                <a:lnTo>
                  <a:pt x="3921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41275">
            <a:solidFill>
              <a:srgbClr val="E5484D"/>
            </a:solidFill>
          </a:ln>
        </p:spPr>
      </p:sp>
      <p:sp>
        <p:nvSpPr>
          <p:cNvPr id="46" name="TextBox 46">
            <a:extLst xmlns:a="http://schemas.openxmlformats.org/drawingml/2006/main">
              <a:ext uri="{FF2B5EF4-FFF2-40B4-BE49-F238E27FC236}">
                <a16:creationId xmlns:a16="http://schemas.microsoft.com/office/drawing/2014/main" id="{EE6E71EF-50F9-4D7A-B34D-2A491DB7A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526144" y="5283518"/>
            <a:ext cx="777011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 b="1">
                <a:solidFill>
                  <a:schemeClr val="dk1"/>
                </a:solidFill>
                <a:latin typeface="+mn-lt"/>
                <a:ea typeface="+mn-lt"/>
                <a:cs typeface="+mn-lt"/>
              </a:rPr>
              <a:t>产线停机</a:t>
            </a:r>
          </a:p>
        </p:txBody>
      </p:sp>
      <p:sp>
        <p:nvSpPr>
          <p:cNvPr id="48" name="Ellipse 48">
            <a:extLst xmlns:a="http://schemas.openxmlformats.org/drawingml/2006/main">
              <a:ext uri="{FF2B5EF4-FFF2-40B4-BE49-F238E27FC236}">
                <a16:creationId xmlns:a16="http://schemas.microsoft.com/office/drawing/2014/main" id="{C15E113E-8646-49F8-808A-29F1B92BB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228850" y="1504950"/>
            <a:ext cx="1181100" cy="1181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16A085"/>
            </a:solidFill>
          </a:ln>
        </p:spPr>
      </p:sp>
      <p:sp>
        <p:nvSpPr>
          <p:cNvPr id="49" name="Freeform 49">
            <a:extLst xmlns:a="http://schemas.openxmlformats.org/drawingml/2006/main">
              <a:ext uri="{FF2B5EF4-FFF2-40B4-BE49-F238E27FC236}">
                <a16:creationId xmlns:a16="http://schemas.microsoft.com/office/drawing/2014/main" id="{1C092B74-7735-42FB-AB58-BF2C8ECBA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654300" y="1738313"/>
            <a:ext cx="330201" cy="123825"/>
          </a:xfrm>
          <a:custGeom xmlns:a="http://schemas.openxmlformats.org/drawingml/2006/main">
            <a:rect l="l" t="t" r="r" b="b"/>
            <a:pathLst>
              <a:path w="330201" h="123825">
                <a:moveTo>
                  <a:pt x="0" y="61913"/>
                </a:moveTo>
                <a:cubicBezTo>
                  <a:pt x="0" y="96106"/>
                  <a:pt x="73918" y="123825"/>
                  <a:pt x="165100" y="123825"/>
                </a:cubicBezTo>
                <a:cubicBezTo>
                  <a:pt x="256283" y="123825"/>
                  <a:pt x="330201" y="96106"/>
                  <a:pt x="330201" y="61913"/>
                </a:cubicBezTo>
                <a:cubicBezTo>
                  <a:pt x="330201" y="27719"/>
                  <a:pt x="256283" y="0"/>
                  <a:pt x="165100" y="0"/>
                </a:cubicBezTo>
                <a:cubicBezTo>
                  <a:pt x="73918" y="0"/>
                  <a:pt x="0" y="27719"/>
                  <a:pt x="0" y="61913"/>
                </a:cubicBezTo>
              </a:path>
            </a:pathLst>
          </a:custGeom>
          <a:noFill xmlns:a="http://schemas.openxmlformats.org/drawingml/2006/main"/>
          <a:ln xmlns:a="http://schemas.openxmlformats.org/drawingml/2006/main" w="41275">
            <a:solidFill>
              <a:srgbClr val="16A085"/>
            </a:solidFill>
          </a:ln>
        </p:spPr>
      </p:sp>
      <p:sp>
        <p:nvSpPr>
          <p:cNvPr id="50" name="Freeform 50">
            <a:extLst xmlns:a="http://schemas.openxmlformats.org/drawingml/2006/main">
              <a:ext uri="{FF2B5EF4-FFF2-40B4-BE49-F238E27FC236}">
                <a16:creationId xmlns:a16="http://schemas.microsoft.com/office/drawing/2014/main" id="{7B791BBC-DA57-48FC-93AF-F920ED024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654300" y="1800225"/>
            <a:ext cx="330201" cy="185738"/>
          </a:xfrm>
          <a:custGeom xmlns:a="http://schemas.openxmlformats.org/drawingml/2006/main">
            <a:rect l="l" t="t" r="r" b="b"/>
            <a:pathLst>
              <a:path w="330201" h="185738">
                <a:moveTo>
                  <a:pt x="0" y="0"/>
                </a:moveTo>
                <a:lnTo>
                  <a:pt x="0" y="123825"/>
                </a:lnTo>
                <a:cubicBezTo>
                  <a:pt x="0" y="158019"/>
                  <a:pt x="73918" y="185738"/>
                  <a:pt x="165100" y="185738"/>
                </a:cubicBezTo>
                <a:cubicBezTo>
                  <a:pt x="256283" y="185738"/>
                  <a:pt x="330201" y="158019"/>
                  <a:pt x="330201" y="123825"/>
                </a:cubicBezTo>
                <a:lnTo>
                  <a:pt x="330201" y="0"/>
                </a:lnTo>
              </a:path>
            </a:pathLst>
          </a:custGeom>
          <a:noFill xmlns:a="http://schemas.openxmlformats.org/drawingml/2006/main"/>
          <a:ln xmlns:a="http://schemas.openxmlformats.org/drawingml/2006/main" w="41275">
            <a:solidFill>
              <a:srgbClr val="16A085"/>
            </a:solidFill>
          </a:ln>
        </p:spPr>
      </p:sp>
      <p:sp>
        <p:nvSpPr>
          <p:cNvPr id="51" name="Freeform 51">
            <a:extLst xmlns:a="http://schemas.openxmlformats.org/drawingml/2006/main">
              <a:ext uri="{FF2B5EF4-FFF2-40B4-BE49-F238E27FC236}">
                <a16:creationId xmlns:a16="http://schemas.microsoft.com/office/drawing/2014/main" id="{DC79837C-4030-492D-BD33-E832D6948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654300" y="1924050"/>
            <a:ext cx="330201" cy="185738"/>
          </a:xfrm>
          <a:custGeom xmlns:a="http://schemas.openxmlformats.org/drawingml/2006/main">
            <a:rect l="l" t="t" r="r" b="b"/>
            <a:pathLst>
              <a:path w="330201" h="185738">
                <a:moveTo>
                  <a:pt x="0" y="0"/>
                </a:moveTo>
                <a:lnTo>
                  <a:pt x="0" y="123825"/>
                </a:lnTo>
                <a:cubicBezTo>
                  <a:pt x="0" y="158019"/>
                  <a:pt x="73918" y="185738"/>
                  <a:pt x="165100" y="185738"/>
                </a:cubicBezTo>
                <a:cubicBezTo>
                  <a:pt x="256283" y="185738"/>
                  <a:pt x="330201" y="158019"/>
                  <a:pt x="330201" y="123825"/>
                </a:cubicBezTo>
                <a:lnTo>
                  <a:pt x="330201" y="0"/>
                </a:lnTo>
              </a:path>
            </a:pathLst>
          </a:custGeom>
          <a:noFill xmlns:a="http://schemas.openxmlformats.org/drawingml/2006/main"/>
          <a:ln xmlns:a="http://schemas.openxmlformats.org/drawingml/2006/main" w="41275">
            <a:solidFill>
              <a:srgbClr val="16A085"/>
            </a:solidFill>
          </a:ln>
        </p:spPr>
      </p:sp>
      <p:sp>
        <p:nvSpPr>
          <p:cNvPr id="53" name="TextBox 53">
            <a:extLst xmlns:a="http://schemas.openxmlformats.org/drawingml/2006/main">
              <a:ext uri="{FF2B5EF4-FFF2-40B4-BE49-F238E27FC236}">
                <a16:creationId xmlns:a16="http://schemas.microsoft.com/office/drawing/2014/main" id="{0376543A-2404-49E7-8B16-8F1DCEB30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430894" y="2235518"/>
            <a:ext cx="777011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 b="1">
                <a:solidFill>
                  <a:schemeClr val="dk1"/>
                </a:solidFill>
                <a:latin typeface="+mn-lt"/>
                <a:ea typeface="+mn-lt"/>
                <a:cs typeface="+mn-lt"/>
              </a:rPr>
              <a:t>库存损失</a:t>
            </a:r>
          </a:p>
        </p:txBody>
      </p:sp>
      <p:sp>
        <p:nvSpPr>
          <p:cNvPr id="56" name="Rectangle 56">
            <a:extLst xmlns:a="http://schemas.openxmlformats.org/drawingml/2006/main">
              <a:ext uri="{FF2B5EF4-FFF2-40B4-BE49-F238E27FC236}">
                <a16:creationId xmlns:a16="http://schemas.microsoft.com/office/drawing/2014/main" id="{AC7DB073-031D-4A2D-811A-BF6A80BF7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591550" y="1771650"/>
            <a:ext cx="2876550" cy="3314700"/>
          </a:xfrm>
          <a:prstGeom xmlns:a="http://schemas.openxmlformats.org/drawingml/2006/main" prst="roundRect">
            <a:avLst>
              <a:gd name="adj" fmla="val 6623"/>
            </a:avLst>
          </a:prstGeom>
          <a:solidFill xmlns:a="http://schemas.openxmlformats.org/drawingml/2006/main">
            <a:schemeClr val="lt2"/>
          </a:solidFill>
          <a:ln xmlns:a="http://schemas.openxmlformats.org/drawingml/2006/main" w="19050">
            <a:solidFill>
              <a:schemeClr val="accent5"/>
            </a:solidFill>
          </a:ln>
        </p:spPr>
      </p:sp>
      <p:sp>
        <p:nvSpPr>
          <p:cNvPr id="57" name="TextBox 57">
            <a:extLst xmlns:a="http://schemas.openxmlformats.org/drawingml/2006/main">
              <a:ext uri="{FF2B5EF4-FFF2-40B4-BE49-F238E27FC236}">
                <a16:creationId xmlns:a16="http://schemas.microsoft.com/office/drawing/2014/main" id="{68A455E8-A4FB-4F92-9110-9CA6ED859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887206" y="2015490"/>
            <a:ext cx="2308174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chemeClr val="accent1"/>
                </a:solidFill>
                <a:latin typeface="+mn-lt"/>
                <a:ea typeface="+mn-lt"/>
                <a:cs typeface="+mn-lt"/>
              </a:rPr>
              <a:t>每次都回到同一闭环</a:t>
            </a:r>
          </a:p>
        </p:txBody>
      </p:sp>
      <p:sp>
        <p:nvSpPr>
          <p:cNvPr id="58" name="Freeform 58">
            <a:extLst xmlns:a="http://schemas.openxmlformats.org/drawingml/2006/main">
              <a:ext uri="{FF2B5EF4-FFF2-40B4-BE49-F238E27FC236}">
                <a16:creationId xmlns:a16="http://schemas.microsoft.com/office/drawing/2014/main" id="{846CBA1F-1F3C-4194-B9B8-184F5E4AE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067800" y="2743200"/>
            <a:ext cx="1809750" cy="1771650"/>
          </a:xfrm>
          <a:custGeom xmlns:a="http://schemas.openxmlformats.org/drawingml/2006/main">
            <a:rect l="l" t="t" r="r" b="b"/>
            <a:pathLst>
              <a:path w="1809750" h="1771650">
                <a:moveTo>
                  <a:pt x="0" y="0"/>
                </a:moveTo>
                <a:lnTo>
                  <a:pt x="1809750" y="0"/>
                </a:lnTo>
                <a:lnTo>
                  <a:pt x="1809750" y="1771650"/>
                </a:lnTo>
                <a:lnTo>
                  <a:pt x="0" y="177165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chemeClr val="accent2"/>
            </a:solidFill>
          </a:ln>
        </p:spPr>
      </p:sp>
      <p:sp>
        <p:nvSpPr>
          <p:cNvPr id="59" name="Ellipse 59">
            <a:extLst xmlns:a="http://schemas.openxmlformats.org/drawingml/2006/main">
              <a:ext uri="{FF2B5EF4-FFF2-40B4-BE49-F238E27FC236}">
                <a16:creationId xmlns:a16="http://schemas.microsoft.com/office/drawing/2014/main" id="{63EE1B93-A65C-4968-BE47-4D226B5E5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820150" y="24955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chemeClr val="accent2"/>
            </a:solidFill>
          </a:ln>
        </p:spPr>
      </p:sp>
      <p:sp>
        <p:nvSpPr>
          <p:cNvPr id="60" name="TextBox 60">
            <a:extLst xmlns:a="http://schemas.openxmlformats.org/drawingml/2006/main">
              <a:ext uri="{FF2B5EF4-FFF2-40B4-BE49-F238E27FC236}">
                <a16:creationId xmlns:a16="http://schemas.microsoft.com/office/drawing/2014/main" id="{774156BF-0179-460B-9F48-74AEEE477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008465" y="2673668"/>
            <a:ext cx="118669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 b="1">
                <a:solidFill>
                  <a:schemeClr val="accent1"/>
                </a:solidFill>
                <a:latin typeface="+mn-lt"/>
                <a:ea typeface="+mn-lt"/>
                <a:cs typeface="+mn-lt"/>
              </a:rPr>
              <a:t>1</a:t>
            </a:r>
          </a:p>
        </p:txBody>
      </p:sp>
      <p:sp>
        <p:nvSpPr>
          <p:cNvPr id="61" name="TextBox 61">
            <a:extLst xmlns:a="http://schemas.openxmlformats.org/drawingml/2006/main">
              <a:ext uri="{FF2B5EF4-FFF2-40B4-BE49-F238E27FC236}">
                <a16:creationId xmlns:a16="http://schemas.microsoft.com/office/drawing/2014/main" id="{94D0E6B3-9B2B-4E5A-BF7A-90E6AC60E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421368" y="2641282"/>
            <a:ext cx="1130103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>
                <a:solidFill>
                  <a:schemeClr val="dk1"/>
                </a:solidFill>
                <a:latin typeface="+mn-lt"/>
                <a:ea typeface="+mn-lt"/>
                <a:cs typeface="+mn-lt"/>
              </a:rPr>
              <a:t>LangGraph</a:t>
            </a:r>
          </a:p>
        </p:txBody>
      </p:sp>
      <p:sp>
        <p:nvSpPr>
          <p:cNvPr id="62" name="Ellipse 62">
            <a:extLst xmlns:a="http://schemas.openxmlformats.org/drawingml/2006/main">
              <a:ext uri="{FF2B5EF4-FFF2-40B4-BE49-F238E27FC236}">
                <a16:creationId xmlns:a16="http://schemas.microsoft.com/office/drawing/2014/main" id="{920AC79A-4669-4328-AC40-8D9213EC1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629900" y="24955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chemeClr val="accent3"/>
            </a:solidFill>
          </a:ln>
        </p:spPr>
      </p:sp>
      <p:sp>
        <p:nvSpPr>
          <p:cNvPr id="63" name="TextBox 63">
            <a:extLst xmlns:a="http://schemas.openxmlformats.org/drawingml/2006/main">
              <a:ext uri="{FF2B5EF4-FFF2-40B4-BE49-F238E27FC236}">
                <a16:creationId xmlns:a16="http://schemas.microsoft.com/office/drawing/2014/main" id="{2980DB91-BB58-43F4-AB02-389955757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818215" y="2673668"/>
            <a:ext cx="118669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 b="1">
                <a:solidFill>
                  <a:srgbClr val="4B45B7"/>
                </a:solidFill>
                <a:latin typeface="+mn-lt"/>
                <a:ea typeface="+mn-lt"/>
                <a:cs typeface="+mn-lt"/>
              </a:rPr>
              <a:t>2</a:t>
            </a:r>
          </a:p>
        </p:txBody>
      </p:sp>
      <p:sp>
        <p:nvSpPr>
          <p:cNvPr id="64" name="TextBox 64">
            <a:extLst xmlns:a="http://schemas.openxmlformats.org/drawingml/2006/main">
              <a:ext uri="{FF2B5EF4-FFF2-40B4-BE49-F238E27FC236}">
                <a16:creationId xmlns:a16="http://schemas.microsoft.com/office/drawing/2014/main" id="{C3287806-37C3-430C-ADB4-245847654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821418" y="3117532"/>
            <a:ext cx="694239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>
                <a:solidFill>
                  <a:schemeClr val="dk1"/>
                </a:solidFill>
                <a:latin typeface="+mn-lt"/>
                <a:ea typeface="+mn-lt"/>
                <a:cs typeface="+mn-lt"/>
              </a:rPr>
              <a:t>solver</a:t>
            </a:r>
          </a:p>
        </p:txBody>
      </p:sp>
      <p:sp>
        <p:nvSpPr>
          <p:cNvPr id="65" name="Ellipse 65">
            <a:extLst xmlns:a="http://schemas.openxmlformats.org/drawingml/2006/main">
              <a:ext uri="{FF2B5EF4-FFF2-40B4-BE49-F238E27FC236}">
                <a16:creationId xmlns:a16="http://schemas.microsoft.com/office/drawing/2014/main" id="{1F7F6DC2-A44C-4668-895E-73E1D05FE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629900" y="4267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6A085"/>
            </a:solidFill>
          </a:ln>
        </p:spPr>
      </p:sp>
      <p:sp>
        <p:nvSpPr>
          <p:cNvPr id="66" name="TextBox 66">
            <a:extLst xmlns:a="http://schemas.openxmlformats.org/drawingml/2006/main">
              <a:ext uri="{FF2B5EF4-FFF2-40B4-BE49-F238E27FC236}">
                <a16:creationId xmlns:a16="http://schemas.microsoft.com/office/drawing/2014/main" id="{3B34EA3D-74E7-4C4C-9C0C-AB88D99D3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818215" y="4445318"/>
            <a:ext cx="118669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 b="1">
                <a:solidFill>
                  <a:srgbClr val="116956"/>
                </a:solidFill>
                <a:latin typeface="+mn-lt"/>
                <a:ea typeface="+mn-lt"/>
                <a:cs typeface="+mn-lt"/>
              </a:rPr>
              <a:t>3</a:t>
            </a:r>
          </a:p>
        </p:txBody>
      </p:sp>
      <p:sp>
        <p:nvSpPr>
          <p:cNvPr id="67" name="TextBox 67">
            <a:extLst xmlns:a="http://schemas.openxmlformats.org/drawingml/2006/main">
              <a:ext uri="{FF2B5EF4-FFF2-40B4-BE49-F238E27FC236}">
                <a16:creationId xmlns:a16="http://schemas.microsoft.com/office/drawing/2014/main" id="{24BE60A0-0F8C-4748-8DC4-6DE338C3C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611868" y="3974782"/>
            <a:ext cx="883044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>
                <a:solidFill>
                  <a:schemeClr val="dk1"/>
                </a:solidFill>
                <a:latin typeface="+mn-lt"/>
                <a:ea typeface="+mn-lt"/>
                <a:cs typeface="+mn-lt"/>
              </a:rPr>
              <a:t>verifier</a:t>
            </a:r>
          </a:p>
        </p:txBody>
      </p:sp>
      <p:sp>
        <p:nvSpPr>
          <p:cNvPr id="68" name="Ellipse 68">
            <a:extLst xmlns:a="http://schemas.openxmlformats.org/drawingml/2006/main">
              <a:ext uri="{FF2B5EF4-FFF2-40B4-BE49-F238E27FC236}">
                <a16:creationId xmlns:a16="http://schemas.microsoft.com/office/drawing/2014/main" id="{E3671EDF-D391-4BB3-838F-F4FDA7E2E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820150" y="4267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</p:sp>
      <p:sp>
        <p:nvSpPr>
          <p:cNvPr id="69" name="TextBox 69">
            <a:extLst xmlns:a="http://schemas.openxmlformats.org/drawingml/2006/main">
              <a:ext uri="{FF2B5EF4-FFF2-40B4-BE49-F238E27FC236}">
                <a16:creationId xmlns:a16="http://schemas.microsoft.com/office/drawing/2014/main" id="{4602B472-EEDB-470B-B43D-24A39D5E0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008465" y="4445318"/>
            <a:ext cx="118669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 b="1">
                <a:solidFill>
                  <a:srgbClr val="FFFFFF"/>
                </a:solidFill>
                <a:latin typeface="+mn-lt"/>
                <a:ea typeface="+mn-lt"/>
                <a:cs typeface="+mn-lt"/>
              </a:rPr>
              <a:t>4</a:t>
            </a:r>
          </a:p>
        </p:txBody>
      </p:sp>
      <p:sp>
        <p:nvSpPr>
          <p:cNvPr id="70" name="TextBox 70">
            <a:extLst xmlns:a="http://schemas.openxmlformats.org/drawingml/2006/main">
              <a:ext uri="{FF2B5EF4-FFF2-40B4-BE49-F238E27FC236}">
                <a16:creationId xmlns:a16="http://schemas.microsoft.com/office/drawing/2014/main" id="{D47B7E59-B72A-4404-9BAB-0CA74A207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421368" y="4412932"/>
            <a:ext cx="461010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>
                <a:solidFill>
                  <a:schemeClr val="dk1"/>
                </a:solidFill>
                <a:latin typeface="+mn-lt"/>
                <a:ea typeface="+mn-lt"/>
                <a:cs typeface="+mn-lt"/>
              </a:rPr>
              <a:t>人审</a:t>
            </a:r>
          </a:p>
        </p:txBody>
      </p:sp>
      <p:sp>
        <p:nvSpPr>
          <p:cNvPr id="72" name="TextBox 72">
            <a:extLst xmlns:a="http://schemas.openxmlformats.org/drawingml/2006/main">
              <a:ext uri="{FF2B5EF4-FFF2-40B4-BE49-F238E27FC236}">
                <a16:creationId xmlns:a16="http://schemas.microsoft.com/office/drawing/2014/main" id="{C2CC705B-9B10-457A-B910-FD215B687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583168" y="5346382"/>
            <a:ext cx="2500654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1">
                <a:solidFill>
                  <a:schemeClr val="accent1"/>
                </a:solidFill>
                <a:latin typeface="+mn-lt"/>
                <a:ea typeface="+mn-lt"/>
                <a:cs typeface="+mn-lt"/>
              </a:rPr>
              <a:t>同 seed → 完全相同事件</a:t>
            </a:r>
          </a:p>
        </p:txBody>
      </p:sp>
      <p:sp>
        <p:nvSpPr>
          <p:cNvPr id="73" name="TextBox 73">
            <a:extLst xmlns:a="http://schemas.openxmlformats.org/drawingml/2006/main">
              <a:ext uri="{FF2B5EF4-FFF2-40B4-BE49-F238E27FC236}">
                <a16:creationId xmlns:a16="http://schemas.microsoft.com/office/drawing/2014/main" id="{DD4839E5-4246-45D0-9AE7-0613E5095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584692" y="5721668"/>
            <a:ext cx="1831086" cy="264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>
                <a:solidFill>
                  <a:srgbClr val="5B7388"/>
                </a:solidFill>
                <a:latin typeface="+mn-lt"/>
                <a:ea typeface="+mn-lt"/>
                <a:cs typeface="+mn-lt"/>
              </a:rPr>
              <a:t>只作用于隔离场景副本</a:t>
            </a:r>
          </a:p>
        </p:txBody>
      </p:sp>
      <p:sp>
        <p:nvSpPr>
          <p:cNvPr id="74" name="TextBox 74">
            <a:extLst xmlns:a="http://schemas.openxmlformats.org/drawingml/2006/main">
              <a:ext uri="{FF2B5EF4-FFF2-40B4-BE49-F238E27FC236}">
                <a16:creationId xmlns:a16="http://schemas.microsoft.com/office/drawing/2014/main" id="{945F65B2-E0AD-4D4A-B938-302A99B94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3504" y="6271260"/>
            <a:ext cx="4664964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>
                <a:solidFill>
                  <a:srgbClr val="5B7388"/>
                </a:solidFill>
                <a:latin typeface="+mn-lt"/>
                <a:ea typeface="+mn-lt"/>
                <a:cs typeface="+mn-lt"/>
              </a:rPr>
              <a:t>所有随机事故与 email / chat / MES 文案均为确定性模拟输入。</a:t>
            </a:r>
          </a:p>
        </p:txBody>
      </p:sp>
      <p:sp>
        <p:nvSpPr>
          <p:cNvPr id="75" name="TextBox 75">
            <a:extLst xmlns:a="http://schemas.openxmlformats.org/drawingml/2006/main">
              <a:ext uri="{FF2B5EF4-FFF2-40B4-BE49-F238E27FC236}">
                <a16:creationId xmlns:a16="http://schemas.microsoft.com/office/drawing/2014/main" id="{2049221F-CC5E-4412-8A0A-2C89FC8AC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398606" y="6271260"/>
            <a:ext cx="189890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200">
                <a:solidFill>
                  <a:srgbClr val="7E9AAA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73408864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2">
            <a:extLst xmlns:a="http://schemas.openxmlformats.org/drawingml/2006/main">
              <a:ext uri="{FF2B5EF4-FFF2-40B4-BE49-F238E27FC236}">
                <a16:creationId xmlns:a16="http://schemas.microsoft.com/office/drawing/2014/main" id="{96FB94A1-BA9B-45A7-94FC-1633A3215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91312" y="411480"/>
            <a:ext cx="6702689" cy="704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600" b="1">
                <a:solidFill>
                  <a:schemeClr val="accent1"/>
                </a:solidFill>
                <a:latin typeface="+mn-lt"/>
                <a:ea typeface="+mn-lt"/>
                <a:cs typeface="+mn-lt"/>
              </a:rPr>
              <a:t>我们验证的不只是“程序没崩”</a:t>
            </a:r>
          </a:p>
        </p:txBody>
      </p:sp>
      <p:sp>
        <p:nvSpPr>
          <p:cNvPr id="3" name="TextBox 3">
            <a:extLst xmlns:a="http://schemas.openxmlformats.org/drawingml/2006/main">
              <a:ext uri="{FF2B5EF4-FFF2-40B4-BE49-F238E27FC236}">
                <a16:creationId xmlns:a16="http://schemas.microsoft.com/office/drawing/2014/main" id="{F272DC16-C443-4B1D-829C-7C47FD9E7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1218" y="1022032"/>
            <a:ext cx="7046957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>
                <a:solidFill>
                  <a:srgbClr val="5B7388"/>
                </a:solidFill>
                <a:latin typeface="+mn-lt"/>
                <a:ea typeface="+mn-lt"/>
                <a:cs typeface="+mn-lt"/>
              </a:rPr>
              <a:t>测试覆盖数据 lineage、求解可行性、审批失效、计划篡改和提示注入。</a:t>
            </a:r>
          </a:p>
        </p:txBody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5359E73F-62DA-4EAE-9372-DC872B561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14400" y="2057400"/>
            <a:ext cx="2800350" cy="3048000"/>
          </a:xfrm>
          <a:custGeom xmlns:a="http://schemas.openxmlformats.org/drawingml/2006/main">
            <a:rect l="l" t="t" r="r" b="b"/>
            <a:pathLst>
              <a:path w="2800350" h="3048000">
                <a:moveTo>
                  <a:pt x="0" y="0"/>
                </a:moveTo>
                <a:lnTo>
                  <a:pt x="2800350" y="0"/>
                </a:lnTo>
                <a:lnTo>
                  <a:pt x="2800350" y="3048000"/>
                </a:lnTo>
                <a:lnTo>
                  <a:pt x="0" y="30480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chemeClr val="accent5"/>
            </a:solidFill>
          </a:ln>
        </p:spPr>
      </p:sp>
      <p:sp>
        <p:nvSpPr>
          <p:cNvPr id="5" name="Ellipse 5">
            <a:extLst xmlns:a="http://schemas.openxmlformats.org/drawingml/2006/main">
              <a:ext uri="{FF2B5EF4-FFF2-40B4-BE49-F238E27FC236}">
                <a16:creationId xmlns:a16="http://schemas.microsoft.com/office/drawing/2014/main" id="{37B8343C-5C61-4E32-9C2F-24C3C038A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333500" y="2381250"/>
            <a:ext cx="1981200" cy="1981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lt2"/>
          </a:solidFill>
          <a:ln xmlns:a="http://schemas.openxmlformats.org/drawingml/2006/main" w="57150">
            <a:solidFill>
              <a:schemeClr val="accent2"/>
            </a:solidFill>
          </a:ln>
        </p:spPr>
      </p:sp>
      <p:sp>
        <p:nvSpPr>
          <p:cNvPr id="6" name="TextBox 6">
            <a:extLst xmlns:a="http://schemas.openxmlformats.org/drawingml/2006/main">
              <a:ext uri="{FF2B5EF4-FFF2-40B4-BE49-F238E27FC236}">
                <a16:creationId xmlns:a16="http://schemas.microsoft.com/office/drawing/2014/main" id="{8D0E95C8-4BA3-4ECA-A329-84C7F1967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885238" y="2731770"/>
            <a:ext cx="8777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5400" b="1">
                <a:solidFill>
                  <a:schemeClr val="accent1"/>
                </a:solidFill>
                <a:latin typeface="Consolas"/>
                <a:ea typeface="Consolas"/>
                <a:cs typeface="Consolas"/>
              </a:rPr>
              <a:t>32</a:t>
            </a:r>
          </a:p>
        </p:txBody>
      </p:sp>
      <p:sp>
        <p:nvSpPr>
          <p:cNvPr id="7" name="TextBox 7">
            <a:extLst xmlns:a="http://schemas.openxmlformats.org/drawingml/2006/main">
              <a:ext uri="{FF2B5EF4-FFF2-40B4-BE49-F238E27FC236}">
                <a16:creationId xmlns:a16="http://schemas.microsoft.com/office/drawing/2014/main" id="{831B5529-C40C-4D76-BD28-E241D23DB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78876" y="3558540"/>
            <a:ext cx="1290447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800" b="1">
                <a:solidFill>
                  <a:schemeClr val="dk1"/>
                </a:solidFill>
                <a:latin typeface="+mn-lt"/>
                <a:ea typeface="+mn-lt"/>
                <a:cs typeface="+mn-lt"/>
              </a:rPr>
              <a:t>自动化测试</a:t>
            </a:r>
          </a:p>
        </p:txBody>
      </p:sp>
      <p:sp>
        <p:nvSpPr>
          <p:cNvPr id="8" name="TextBox 8">
            <a:extLst xmlns:a="http://schemas.openxmlformats.org/drawingml/2006/main">
              <a:ext uri="{FF2B5EF4-FFF2-40B4-BE49-F238E27FC236}">
                <a16:creationId xmlns:a16="http://schemas.microsoft.com/office/drawing/2014/main" id="{03279AA2-339B-4E46-8615-CB33CCB1E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33002" y="4470082"/>
            <a:ext cx="2782195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650">
                <a:solidFill>
                  <a:srgbClr val="5B7388"/>
                </a:solidFill>
                <a:latin typeface="+mn-lt"/>
                <a:ea typeface="+mn-lt"/>
                <a:cs typeface="+mn-lt"/>
              </a:rPr>
              <a:t>数据 · 图状态 · 求解 · 工单</a:t>
            </a:r>
          </a:p>
        </p:txBody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8D937B86-9491-48F4-8284-9894BC082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495800" y="2057400"/>
            <a:ext cx="2800350" cy="3048000"/>
          </a:xfrm>
          <a:custGeom xmlns:a="http://schemas.openxmlformats.org/drawingml/2006/main">
            <a:rect l="l" t="t" r="r" b="b"/>
            <a:pathLst>
              <a:path w="2800350" h="3048000">
                <a:moveTo>
                  <a:pt x="0" y="0"/>
                </a:moveTo>
                <a:lnTo>
                  <a:pt x="2800350" y="0"/>
                </a:lnTo>
                <a:lnTo>
                  <a:pt x="2800350" y="3048000"/>
                </a:lnTo>
                <a:lnTo>
                  <a:pt x="0" y="30480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chemeClr val="accent5"/>
            </a:solidFill>
          </a:ln>
        </p:spPr>
      </p:sp>
      <p:sp>
        <p:nvSpPr>
          <p:cNvPr id="10" name="Freeform 10">
            <a:extLst xmlns:a="http://schemas.openxmlformats.org/drawingml/2006/main">
              <a:ext uri="{FF2B5EF4-FFF2-40B4-BE49-F238E27FC236}">
                <a16:creationId xmlns:a16="http://schemas.microsoft.com/office/drawing/2014/main" id="{E3FE784B-AB2D-4047-B28A-03711F712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029200" y="2343150"/>
            <a:ext cx="1714500" cy="2571750"/>
          </a:xfrm>
          <a:custGeom xmlns:a="http://schemas.openxmlformats.org/drawingml/2006/main">
            <a:rect l="l" t="t" r="r" b="b"/>
            <a:pathLst>
              <a:path w="1714500" h="2571750">
                <a:moveTo>
                  <a:pt x="857250" y="0"/>
                </a:moveTo>
                <a:lnTo>
                  <a:pt x="1714500" y="438150"/>
                </a:lnTo>
                <a:lnTo>
                  <a:pt x="1714500" y="1409700"/>
                </a:lnTo>
                <a:cubicBezTo>
                  <a:pt x="1714500" y="1962150"/>
                  <a:pt x="1333500" y="2362200"/>
                  <a:pt x="857250" y="2571750"/>
                </a:cubicBezTo>
                <a:cubicBezTo>
                  <a:pt x="381000" y="2362200"/>
                  <a:pt x="0" y="1962150"/>
                  <a:pt x="0" y="1409700"/>
                </a:cubicBezTo>
                <a:lnTo>
                  <a:pt x="0" y="438150"/>
                </a:lnTo>
                <a:close/>
              </a:path>
            </a:pathLst>
          </a:custGeom>
          <a:solidFill xmlns:a="http://schemas.openxmlformats.org/drawingml/2006/main">
            <a:srgbClr val="F0EEFF"/>
          </a:solidFill>
          <a:ln xmlns:a="http://schemas.openxmlformats.org/drawingml/2006/main" w="38100">
            <a:solidFill>
              <a:schemeClr val="accent3"/>
            </a:solidFill>
          </a:ln>
        </p:spPr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1E63ACE8-9426-4030-8DE2-AC6F5A218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934483" y="2948940"/>
            <a:ext cx="1903933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4800" b="1">
                <a:solidFill>
                  <a:srgbClr val="4B45B7"/>
                </a:solidFill>
                <a:latin typeface="Consolas"/>
                <a:ea typeface="Consolas"/>
                <a:cs typeface="Consolas"/>
              </a:rPr>
              <a:t>15/15</a:t>
            </a:r>
          </a:p>
        </p:txBody>
      </p:sp>
      <p:sp>
        <p:nvSpPr>
          <p:cNvPr id="12" name="TextBox 12">
            <a:extLst xmlns:a="http://schemas.openxmlformats.org/drawingml/2006/main">
              <a:ext uri="{FF2B5EF4-FFF2-40B4-BE49-F238E27FC236}">
                <a16:creationId xmlns:a16="http://schemas.microsoft.com/office/drawing/2014/main" id="{F6FE1C62-035A-46A0-BF70-5AC8FC570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927659" y="3708082"/>
            <a:ext cx="1917582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650" b="1">
                <a:solidFill>
                  <a:schemeClr val="dk1"/>
                </a:solidFill>
                <a:latin typeface="+mn-lt"/>
                <a:ea typeface="+mn-lt"/>
                <a:cs typeface="+mn-lt"/>
              </a:rPr>
              <a:t>求解 + 状态机对抗</a:t>
            </a:r>
          </a:p>
        </p:txBody>
      </p:sp>
      <p:sp>
        <p:nvSpPr>
          <p:cNvPr id="13" name="TextBox 13">
            <a:extLst xmlns:a="http://schemas.openxmlformats.org/drawingml/2006/main">
              <a:ext uri="{FF2B5EF4-FFF2-40B4-BE49-F238E27FC236}">
                <a16:creationId xmlns:a16="http://schemas.microsoft.com/office/drawing/2014/main" id="{9FEE772C-B604-44FA-89D4-47A584046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84380" y="4470082"/>
            <a:ext cx="3404140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650">
                <a:solidFill>
                  <a:srgbClr val="5B7388"/>
                </a:solidFill>
                <a:latin typeface="+mn-lt"/>
                <a:ea typeface="+mn-lt"/>
                <a:cs typeface="+mn-lt"/>
              </a:rPr>
              <a:t>篡改 · stale approval · 违规工序</a:t>
            </a:r>
          </a:p>
        </p:txBody>
      </p:sp>
      <p:sp>
        <p:nvSpPr>
          <p:cNvPr id="14" name="Freeform 14">
            <a:extLst xmlns:a="http://schemas.openxmlformats.org/drawingml/2006/main">
              <a:ext uri="{FF2B5EF4-FFF2-40B4-BE49-F238E27FC236}">
                <a16:creationId xmlns:a16="http://schemas.microsoft.com/office/drawing/2014/main" id="{00A0E44C-89C0-4311-832A-A905D84CE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077200" y="2057400"/>
            <a:ext cx="2800350" cy="3048000"/>
          </a:xfrm>
          <a:custGeom xmlns:a="http://schemas.openxmlformats.org/drawingml/2006/main">
            <a:rect l="l" t="t" r="r" b="b"/>
            <a:pathLst>
              <a:path w="2800350" h="3048000">
                <a:moveTo>
                  <a:pt x="0" y="0"/>
                </a:moveTo>
                <a:lnTo>
                  <a:pt x="2800350" y="0"/>
                </a:lnTo>
                <a:lnTo>
                  <a:pt x="2800350" y="3048000"/>
                </a:lnTo>
                <a:lnTo>
                  <a:pt x="0" y="30480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chemeClr val="accent5"/>
            </a:solidFill>
          </a:ln>
        </p:spPr>
      </p:sp>
      <p:sp>
        <p:nvSpPr>
          <p:cNvPr id="15" name="Freeform 15">
            <a:extLst xmlns:a="http://schemas.openxmlformats.org/drawingml/2006/main">
              <a:ext uri="{FF2B5EF4-FFF2-40B4-BE49-F238E27FC236}">
                <a16:creationId xmlns:a16="http://schemas.microsoft.com/office/drawing/2014/main" id="{716E2FD9-E040-4896-AF61-04D19CF3C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743950" y="2724150"/>
            <a:ext cx="1466850" cy="1485900"/>
          </a:xfrm>
          <a:custGeom xmlns:a="http://schemas.openxmlformats.org/drawingml/2006/main">
            <a:rect l="l" t="t" r="r" b="b"/>
            <a:pathLst>
              <a:path w="1466850" h="1485900">
                <a:moveTo>
                  <a:pt x="0" y="0"/>
                </a:moveTo>
                <a:lnTo>
                  <a:pt x="1466850" y="0"/>
                </a:lnTo>
                <a:lnTo>
                  <a:pt x="1466850" y="1485900"/>
                </a:lnTo>
                <a:lnTo>
                  <a:pt x="0" y="1485900"/>
                </a:lnTo>
                <a:close/>
              </a:path>
            </a:pathLst>
          </a:custGeom>
          <a:solidFill xmlns:a="http://schemas.openxmlformats.org/drawingml/2006/main">
            <a:srgbClr val="E8F7F3"/>
          </a:solidFill>
          <a:ln xmlns:a="http://schemas.openxmlformats.org/drawingml/2006/main" w="38100">
            <a:solidFill>
              <a:srgbClr val="16A085"/>
            </a:solidFill>
          </a:ln>
        </p:spPr>
      </p:sp>
      <p:sp>
        <p:nvSpPr>
          <p:cNvPr id="16" name="Freeform 16">
            <a:extLst xmlns:a="http://schemas.openxmlformats.org/drawingml/2006/main">
              <a:ext uri="{FF2B5EF4-FFF2-40B4-BE49-F238E27FC236}">
                <a16:creationId xmlns:a16="http://schemas.microsoft.com/office/drawing/2014/main" id="{A029DB3F-FBFB-4683-A2FE-F5A7D2955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53500" y="2495550"/>
            <a:ext cx="1466850" cy="1485900"/>
          </a:xfrm>
          <a:custGeom xmlns:a="http://schemas.openxmlformats.org/drawingml/2006/main">
            <a:rect l="l" t="t" r="r" b="b"/>
            <a:pathLst>
              <a:path w="1466850" h="1485900">
                <a:moveTo>
                  <a:pt x="0" y="0"/>
                </a:moveTo>
                <a:lnTo>
                  <a:pt x="1466850" y="0"/>
                </a:lnTo>
                <a:lnTo>
                  <a:pt x="1466850" y="148590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6A085">
                <a:alpha val="50000"/>
              </a:srgbClr>
            </a:solidFill>
          </a:ln>
        </p:spPr>
      </p:sp>
      <p:sp>
        <p:nvSpPr>
          <p:cNvPr id="17" name="TextBox 17">
            <a:extLst xmlns:a="http://schemas.openxmlformats.org/drawingml/2006/main">
              <a:ext uri="{FF2B5EF4-FFF2-40B4-BE49-F238E27FC236}">
                <a16:creationId xmlns:a16="http://schemas.microsoft.com/office/drawing/2014/main" id="{EA5BF888-AB56-4ADF-839C-2A9883E9C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525408" y="2872740"/>
            <a:ext cx="1903933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4800" b="1">
                <a:solidFill>
                  <a:srgbClr val="116956"/>
                </a:solidFill>
                <a:latin typeface="Consolas"/>
                <a:ea typeface="Consolas"/>
                <a:cs typeface="Consolas"/>
              </a:rPr>
              <a:t>30/30</a:t>
            </a:r>
          </a:p>
        </p:txBody>
      </p:sp>
      <p:sp>
        <p:nvSpPr>
          <p:cNvPr id="18" name="TextBox 18">
            <a:extLst xmlns:a="http://schemas.openxmlformats.org/drawingml/2006/main">
              <a:ext uri="{FF2B5EF4-FFF2-40B4-BE49-F238E27FC236}">
                <a16:creationId xmlns:a16="http://schemas.microsoft.com/office/drawing/2014/main" id="{A5AFB951-DBDB-4B1F-BA5A-723214D5F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769306" y="3650932"/>
            <a:ext cx="1416139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650" b="1">
                <a:solidFill>
                  <a:schemeClr val="dk1"/>
                </a:solidFill>
                <a:latin typeface="+mn-lt"/>
                <a:ea typeface="+mn-lt"/>
                <a:cs typeface="+mn-lt"/>
              </a:rPr>
              <a:t>录制回放合同</a:t>
            </a:r>
          </a:p>
        </p:txBody>
      </p:sp>
      <p:sp>
        <p:nvSpPr>
          <p:cNvPr id="19" name="TextBox 19">
            <a:extLst xmlns:a="http://schemas.openxmlformats.org/drawingml/2006/main">
              <a:ext uri="{FF2B5EF4-FFF2-40B4-BE49-F238E27FC236}">
                <a16:creationId xmlns:a16="http://schemas.microsoft.com/office/drawing/2014/main" id="{86087B6E-3AD3-4837-904D-5983A3421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136255" y="4470082"/>
            <a:ext cx="2682240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650">
                <a:solidFill>
                  <a:srgbClr val="5B7388"/>
                </a:solidFill>
                <a:latin typeface="+mn-lt"/>
                <a:ea typeface="+mn-lt"/>
                <a:cs typeface="+mn-lt"/>
              </a:rPr>
              <a:t>两次一致 · 禁止工具调用 0</a:t>
            </a:r>
          </a:p>
        </p:txBody>
      </p:sp>
      <p:sp>
        <p:nvSpPr>
          <p:cNvPr id="21" name="Line 21">
            <a:extLst xmlns:a="http://schemas.openxmlformats.org/drawingml/2006/main">
              <a:ext uri="{FF2B5EF4-FFF2-40B4-BE49-F238E27FC236}">
                <a16:creationId xmlns:a16="http://schemas.microsoft.com/office/drawing/2014/main" id="{9FB94BEC-B23A-4785-96F4-E3C89A5E8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600" y="5562600"/>
            <a:ext cx="10972800" cy="9525"/>
          </a:xfrm>
          <a:custGeom xmlns:a="http://schemas.openxmlformats.org/drawingml/2006/main"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rgbClr val="E5484D"/>
            </a:solidFill>
          </a:ln>
        </p:spPr>
      </p:sp>
      <p:sp>
        <p:nvSpPr>
          <p:cNvPr id="22" name="Freeform 22">
            <a:extLst xmlns:a="http://schemas.openxmlformats.org/drawingml/2006/main">
              <a:ext uri="{FF2B5EF4-FFF2-40B4-BE49-F238E27FC236}">
                <a16:creationId xmlns:a16="http://schemas.microsoft.com/office/drawing/2014/main" id="{421EAD5F-A453-4CF3-8570-5C749C14F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66775" y="5850731"/>
            <a:ext cx="9525" cy="60325"/>
          </a:xfrm>
          <a:custGeom xmlns:a="http://schemas.openxmlformats.org/drawingml/2006/main">
            <a:rect l="l" t="t" r="r" b="b"/>
            <a:pathLst>
              <a:path w="9525" h="60325">
                <a:moveTo>
                  <a:pt x="0" y="0"/>
                </a:moveTo>
                <a:lnTo>
                  <a:pt x="0" y="60325"/>
                </a:lnTo>
              </a:path>
            </a:pathLst>
          </a:custGeom>
          <a:noFill xmlns:a="http://schemas.openxmlformats.org/drawingml/2006/main"/>
          <a:ln xmlns:a="http://schemas.openxmlformats.org/drawingml/2006/main" w="30162">
            <a:solidFill>
              <a:srgbClr val="E5484D"/>
            </a:solidFill>
          </a:ln>
        </p:spPr>
      </p:sp>
      <p:sp>
        <p:nvSpPr>
          <p:cNvPr id="23" name="Freeform 23">
            <a:extLst xmlns:a="http://schemas.openxmlformats.org/drawingml/2006/main">
              <a:ext uri="{FF2B5EF4-FFF2-40B4-BE49-F238E27FC236}">
                <a16:creationId xmlns:a16="http://schemas.microsoft.com/office/drawing/2014/main" id="{51A127CA-EE88-4638-A1E9-032FA930C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14679" y="5755233"/>
            <a:ext cx="304180" cy="261331"/>
          </a:xfrm>
          <a:custGeom xmlns:a="http://schemas.openxmlformats.org/drawingml/2006/main">
            <a:rect l="l" t="t" r="r" b="b"/>
            <a:pathLst>
              <a:path w="304180" h="261331">
                <a:moveTo>
                  <a:pt x="127408" y="13923"/>
                </a:moveTo>
                <a:lnTo>
                  <a:pt x="5160" y="218032"/>
                </a:lnTo>
                <a:cubicBezTo>
                  <a:pt x="31" y="226913"/>
                  <a:pt x="0" y="237848"/>
                  <a:pt x="5077" y="246758"/>
                </a:cubicBezTo>
                <a:cubicBezTo>
                  <a:pt x="10155" y="255668"/>
                  <a:pt x="19578" y="261215"/>
                  <a:pt x="29832" y="261331"/>
                </a:cubicBezTo>
                <a:lnTo>
                  <a:pt x="274359" y="261331"/>
                </a:lnTo>
                <a:cubicBezTo>
                  <a:pt x="284609" y="261212"/>
                  <a:pt x="294027" y="255667"/>
                  <a:pt x="299104" y="246762"/>
                </a:cubicBezTo>
                <a:cubicBezTo>
                  <a:pt x="304180" y="237857"/>
                  <a:pt x="304153" y="226927"/>
                  <a:pt x="299032" y="218048"/>
                </a:cubicBezTo>
                <a:lnTo>
                  <a:pt x="176784" y="13908"/>
                </a:lnTo>
                <a:cubicBezTo>
                  <a:pt x="171553" y="5274"/>
                  <a:pt x="162191" y="0"/>
                  <a:pt x="152096" y="0"/>
                </a:cubicBezTo>
                <a:cubicBezTo>
                  <a:pt x="142001" y="0"/>
                  <a:pt x="132639" y="5274"/>
                  <a:pt x="127408" y="13908"/>
                </a:cubicBezTo>
              </a:path>
            </a:pathLst>
          </a:custGeom>
          <a:noFill xmlns:a="http://schemas.openxmlformats.org/drawingml/2006/main"/>
          <a:ln xmlns:a="http://schemas.openxmlformats.org/drawingml/2006/main" w="30162">
            <a:solidFill>
              <a:srgbClr val="E5484D"/>
            </a:solidFill>
          </a:ln>
        </p:spPr>
      </p:sp>
      <p:sp>
        <p:nvSpPr>
          <p:cNvPr id="24" name="Freeform 24">
            <a:extLst xmlns:a="http://schemas.openxmlformats.org/drawingml/2006/main">
              <a:ext uri="{FF2B5EF4-FFF2-40B4-BE49-F238E27FC236}">
                <a16:creationId xmlns:a16="http://schemas.microsoft.com/office/drawing/2014/main" id="{A95F2326-3271-46D1-B7E4-84EAA258A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66775" y="5956299"/>
            <a:ext cx="9525" cy="9525"/>
          </a:xfrm>
          <a:custGeom xmlns:a="http://schemas.openxmlformats.org/drawingml/2006/main">
            <a:rect l="l" t="t" r="r" b="b"/>
            <a:pathLst>
              <a:path w="9525" h="9525">
                <a:moveTo>
                  <a:pt x="0" y="0"/>
                </a:moveTo>
                <a:lnTo>
                  <a:pt x="151" y="0"/>
                </a:lnTo>
              </a:path>
            </a:pathLst>
          </a:custGeom>
          <a:noFill xmlns:a="http://schemas.openxmlformats.org/drawingml/2006/main"/>
          <a:ln xmlns:a="http://schemas.openxmlformats.org/drawingml/2006/main" w="30162">
            <a:solidFill>
              <a:srgbClr val="E5484D"/>
            </a:solidFill>
          </a:ln>
        </p:spPr>
      </p:sp>
      <p:sp>
        <p:nvSpPr>
          <p:cNvPr id="26" name="TextBox 26">
            <a:extLst xmlns:a="http://schemas.openxmlformats.org/drawingml/2006/main">
              <a:ext uri="{FF2B5EF4-FFF2-40B4-BE49-F238E27FC236}">
                <a16:creationId xmlns:a16="http://schemas.microsoft.com/office/drawing/2014/main" id="{0390BC06-7671-4DF1-9B51-8F38AE137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207770" y="5738812"/>
            <a:ext cx="5381830" cy="4400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A82C34"/>
                </a:solidFill>
                <a:latin typeface="+mn-lt"/>
                <a:ea typeface="+mn-lt"/>
                <a:cs typeface="+mn-lt"/>
              </a:rPr>
              <a:t>30 / 30 replay ≠ 在线模型 100% 准确</a:t>
            </a:r>
          </a:p>
        </p:txBody>
      </p:sp>
      <p:sp>
        <p:nvSpPr>
          <p:cNvPr id="27" name="TextBox 27">
            <a:extLst xmlns:a="http://schemas.openxmlformats.org/drawingml/2006/main">
              <a:ext uri="{FF2B5EF4-FFF2-40B4-BE49-F238E27FC236}">
                <a16:creationId xmlns:a16="http://schemas.microsoft.com/office/drawing/2014/main" id="{B87FA4DA-EEAC-4D53-8443-19BC64D8F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945630" y="5800725"/>
            <a:ext cx="4457700" cy="2933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>
                <a:solidFill>
                  <a:srgbClr val="5B7388"/>
                </a:solidFill>
                <a:latin typeface="+mn-lt"/>
                <a:ea typeface="+mn-lt"/>
                <a:cs typeface="+mn-lt"/>
              </a:rPr>
              <a:t>它证明版本化回归与门禁稳定，不冒充泛化性能。</a:t>
            </a:r>
          </a:p>
        </p:txBody>
      </p:sp>
      <p:sp>
        <p:nvSpPr>
          <p:cNvPr id="29" name="TextBox 29">
            <a:extLst xmlns:a="http://schemas.openxmlformats.org/drawingml/2006/main">
              <a:ext uri="{FF2B5EF4-FFF2-40B4-BE49-F238E27FC236}">
                <a16:creationId xmlns:a16="http://schemas.microsoft.com/office/drawing/2014/main" id="{0D4E4C56-969B-42B8-A98F-428A37118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398606" y="6271260"/>
            <a:ext cx="189890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200">
                <a:solidFill>
                  <a:srgbClr val="7E9AAA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03910252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2">
            <a:extLst xmlns:a="http://schemas.openxmlformats.org/drawingml/2006/main">
              <a:ext uri="{FF2B5EF4-FFF2-40B4-BE49-F238E27FC236}">
                <a16:creationId xmlns:a16="http://schemas.microsoft.com/office/drawing/2014/main" id="{7E1AD788-3638-4F95-97FA-DC464EDE0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91312" y="411480"/>
            <a:ext cx="8965308" cy="704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600" b="1">
                <a:solidFill>
                  <a:schemeClr val="accent1"/>
                </a:solidFill>
                <a:latin typeface="+mn-lt"/>
                <a:ea typeface="+mn-lt"/>
                <a:cs typeface="+mn-lt"/>
              </a:rPr>
              <a:t>让 Agent 有边界，才能让方案走得更远</a:t>
            </a:r>
          </a:p>
        </p:txBody>
      </p:sp>
      <p:sp>
        <p:nvSpPr>
          <p:cNvPr id="3" name="TextBox 3">
            <a:extLst xmlns:a="http://schemas.openxmlformats.org/drawingml/2006/main">
              <a:ext uri="{FF2B5EF4-FFF2-40B4-BE49-F238E27FC236}">
                <a16:creationId xmlns:a16="http://schemas.microsoft.com/office/drawing/2014/main" id="{B1666FAB-70B9-49A0-B9CD-E9330CE6B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1218" y="1022032"/>
            <a:ext cx="7468362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>
                <a:solidFill>
                  <a:srgbClr val="5B7388"/>
                </a:solidFill>
                <a:latin typeface="+mn-lt"/>
                <a:ea typeface="+mn-lt"/>
                <a:cs typeface="+mn-lt"/>
              </a:rPr>
              <a:t>有界不替代成熟 ERP / APS，而是成为其上方可审计的异常处置决策层。</a:t>
            </a:r>
          </a:p>
        </p:txBody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74384D29-AA85-405D-A2C1-43500807A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81050" y="2038350"/>
            <a:ext cx="5162550" cy="3067050"/>
          </a:xfrm>
          <a:custGeom xmlns:a="http://schemas.openxmlformats.org/drawingml/2006/main">
            <a:rect l="l" t="t" r="r" b="b"/>
            <a:pathLst>
              <a:path w="5162550" h="3067050">
                <a:moveTo>
                  <a:pt x="0" y="0"/>
                </a:moveTo>
                <a:lnTo>
                  <a:pt x="5162550" y="0"/>
                </a:lnTo>
                <a:lnTo>
                  <a:pt x="5162550" y="3067050"/>
                </a:lnTo>
                <a:lnTo>
                  <a:pt x="0" y="30670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chemeClr val="accent5"/>
            </a:solidFill>
          </a:ln>
        </p:spPr>
      </p:sp>
      <p:sp>
        <p:nvSpPr>
          <p:cNvPr id="5" name="TextBox 5">
            <a:extLst xmlns:a="http://schemas.openxmlformats.org/drawingml/2006/main">
              <a:ext uri="{FF2B5EF4-FFF2-40B4-BE49-F238E27FC236}">
                <a16:creationId xmlns:a16="http://schemas.microsoft.com/office/drawing/2014/main" id="{347631C7-136A-4868-A248-4AD8DA787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6112" y="2221230"/>
            <a:ext cx="2072030" cy="704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600" b="1">
                <a:solidFill>
                  <a:schemeClr val="accent1"/>
                </a:solidFill>
                <a:latin typeface="+mn-lt"/>
                <a:ea typeface="+mn-lt"/>
                <a:cs typeface="+mn-lt"/>
              </a:rPr>
              <a:t>能力有界</a:t>
            </a:r>
          </a:p>
        </p:txBody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BBDE1487-5C3D-4517-B3D9-7F61B8CCB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14400" y="2857500"/>
            <a:ext cx="2876550" cy="9525"/>
          </a:xfrm>
          <a:custGeom xmlns:a="http://schemas.openxmlformats.org/drawingml/2006/main">
            <a:rect l="l" t="t" r="r" b="b"/>
            <a:pathLst>
              <a:path w="2876550" h="9525">
                <a:moveTo>
                  <a:pt x="0" y="0"/>
                </a:moveTo>
                <a:lnTo>
                  <a:pt x="28765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57150">
            <a:solidFill>
              <a:schemeClr val="accent2"/>
            </a:solidFill>
          </a:ln>
        </p:spPr>
      </p:sp>
      <p:sp>
        <p:nvSpPr>
          <p:cNvPr id="7" name="TextBox 7">
            <a:extLst xmlns:a="http://schemas.openxmlformats.org/drawingml/2006/main">
              <a:ext uri="{FF2B5EF4-FFF2-40B4-BE49-F238E27FC236}">
                <a16:creationId xmlns:a16="http://schemas.microsoft.com/office/drawing/2014/main" id="{2E7C4431-9A55-49D6-BA57-8CB2BA1F6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334262" y="3173730"/>
            <a:ext cx="2072030" cy="704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600" b="1">
                <a:solidFill>
                  <a:srgbClr val="00A2C0"/>
                </a:solidFill>
                <a:latin typeface="+mn-lt"/>
                <a:ea typeface="+mn-lt"/>
                <a:cs typeface="+mn-lt"/>
              </a:rPr>
              <a:t>方案可证</a:t>
            </a:r>
          </a:p>
        </p:txBody>
      </p:sp>
      <p:sp>
        <p:nvSpPr>
          <p:cNvPr id="8" name="Freeform 8">
            <a:extLst xmlns:a="http://schemas.openxmlformats.org/drawingml/2006/main">
              <a:ext uri="{FF2B5EF4-FFF2-40B4-BE49-F238E27FC236}">
                <a16:creationId xmlns:a16="http://schemas.microsoft.com/office/drawing/2014/main" id="{E031A9F3-94BB-46EE-B6D8-BBD613A50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352550" y="3810000"/>
            <a:ext cx="2876550" cy="9525"/>
          </a:xfrm>
          <a:custGeom xmlns:a="http://schemas.openxmlformats.org/drawingml/2006/main">
            <a:rect l="l" t="t" r="r" b="b"/>
            <a:pathLst>
              <a:path w="2876550" h="9525">
                <a:moveTo>
                  <a:pt x="0" y="0"/>
                </a:moveTo>
                <a:lnTo>
                  <a:pt x="28765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57150">
            <a:solidFill>
              <a:schemeClr val="accent3"/>
            </a:solidFill>
          </a:ln>
        </p:spPr>
      </p:sp>
      <p:sp>
        <p:nvSpPr>
          <p:cNvPr id="9" name="TextBox 9">
            <a:extLst xmlns:a="http://schemas.openxmlformats.org/drawingml/2006/main">
              <a:ext uri="{FF2B5EF4-FFF2-40B4-BE49-F238E27FC236}">
                <a16:creationId xmlns:a16="http://schemas.microsoft.com/office/drawing/2014/main" id="{6D4FD7D6-ED4C-4E5A-A910-20BEC1BC8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772412" y="4126230"/>
            <a:ext cx="2072030" cy="704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600" b="1">
                <a:solidFill>
                  <a:srgbClr val="4B45B7"/>
                </a:solidFill>
                <a:latin typeface="+mn-lt"/>
                <a:ea typeface="+mn-lt"/>
                <a:cs typeface="+mn-lt"/>
              </a:rPr>
              <a:t>决策在人</a:t>
            </a:r>
          </a:p>
        </p:txBody>
      </p:sp>
      <p:sp>
        <p:nvSpPr>
          <p:cNvPr id="10" name="Freeform 10">
            <a:extLst xmlns:a="http://schemas.openxmlformats.org/drawingml/2006/main">
              <a:ext uri="{FF2B5EF4-FFF2-40B4-BE49-F238E27FC236}">
                <a16:creationId xmlns:a16="http://schemas.microsoft.com/office/drawing/2014/main" id="{850B1FB3-9BAB-41D4-877D-56358F823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790700" y="4762500"/>
            <a:ext cx="2876550" cy="9525"/>
          </a:xfrm>
          <a:custGeom xmlns:a="http://schemas.openxmlformats.org/drawingml/2006/main">
            <a:rect l="l" t="t" r="r" b="b"/>
            <a:pathLst>
              <a:path w="2876550" h="9525">
                <a:moveTo>
                  <a:pt x="0" y="0"/>
                </a:moveTo>
                <a:lnTo>
                  <a:pt x="28765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57150">
            <a:solidFill>
              <a:srgbClr val="16A085"/>
            </a:solidFill>
          </a:ln>
        </p:spPr>
      </p:sp>
      <p:sp>
        <p:nvSpPr>
          <p:cNvPr id="12" name="Ellipse 12">
            <a:extLst xmlns:a="http://schemas.openxmlformats.org/drawingml/2006/main">
              <a:ext uri="{FF2B5EF4-FFF2-40B4-BE49-F238E27FC236}">
                <a16:creationId xmlns:a16="http://schemas.microsoft.com/office/drawing/2014/main" id="{9D3B3B6E-D1F1-442B-9EF7-BA46A86A5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686550" y="1543050"/>
            <a:ext cx="3390900" cy="3390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chemeClr val="accent2"/>
            </a:solidFill>
          </a:ln>
        </p:spPr>
      </p:sp>
      <p:sp>
        <p:nvSpPr>
          <p:cNvPr id="13" name="Ellipse 13">
            <a:extLst xmlns:a="http://schemas.openxmlformats.org/drawingml/2006/main">
              <a:ext uri="{FF2B5EF4-FFF2-40B4-BE49-F238E27FC236}">
                <a16:creationId xmlns:a16="http://schemas.microsoft.com/office/drawing/2014/main" id="{858C506C-4F2B-4559-B532-B75D175CF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029450" y="1885950"/>
            <a:ext cx="2705100" cy="27051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chemeClr val="accent5"/>
            </a:solidFill>
          </a:ln>
        </p:spPr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88BE6035-F5F6-42AD-8F37-2C23D63E5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736776" y="2453640"/>
            <a:ext cx="1290447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800" b="1">
                <a:solidFill>
                  <a:schemeClr val="accent1"/>
                </a:solidFill>
                <a:latin typeface="+mn-lt"/>
                <a:ea typeface="+mn-lt"/>
                <a:cs typeface="+mn-lt"/>
              </a:rPr>
              <a:t>请现场验证</a:t>
            </a:r>
          </a:p>
        </p:txBody>
      </p:sp>
      <p:sp>
        <p:nvSpPr>
          <p:cNvPr id="15" name="TextBox 15">
            <a:extLst xmlns:a="http://schemas.openxmlformats.org/drawingml/2006/main">
              <a:ext uri="{FF2B5EF4-FFF2-40B4-BE49-F238E27FC236}">
                <a16:creationId xmlns:a16="http://schemas.microsoft.com/office/drawing/2014/main" id="{82F9FA97-517F-4189-9964-8CFBDACE6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318753" y="2908935"/>
            <a:ext cx="2126494" cy="52806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700" b="1">
                <a:solidFill>
                  <a:schemeClr val="dk1"/>
                </a:solidFill>
                <a:latin typeface="+mn-lt"/>
                <a:ea typeface="+mn-lt"/>
                <a:cs typeface="+mn-lt"/>
              </a:rPr>
              <a:t>换一个 seed</a:t>
            </a:r>
          </a:p>
        </p:txBody>
      </p:sp>
      <p:sp>
        <p:nvSpPr>
          <p:cNvPr id="16" name="TextBox 16">
            <a:extLst xmlns:a="http://schemas.openxmlformats.org/drawingml/2006/main">
              <a:ext uri="{FF2B5EF4-FFF2-40B4-BE49-F238E27FC236}">
                <a16:creationId xmlns:a16="http://schemas.microsoft.com/office/drawing/2014/main" id="{B31614B3-8A40-4C9C-8134-476D59178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613332" y="3395662"/>
            <a:ext cx="1537335" cy="4400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250">
                <a:solidFill>
                  <a:schemeClr val="dk1"/>
                </a:solidFill>
                <a:latin typeface="+mn-lt"/>
                <a:ea typeface="+mn-lt"/>
                <a:cs typeface="+mn-lt"/>
              </a:rPr>
              <a:t>比较三方案</a:t>
            </a:r>
          </a:p>
        </p:txBody>
      </p:sp>
      <p:sp>
        <p:nvSpPr>
          <p:cNvPr id="17" name="TextBox 17">
            <a:extLst xmlns:a="http://schemas.openxmlformats.org/drawingml/2006/main">
              <a:ext uri="{FF2B5EF4-FFF2-40B4-BE49-F238E27FC236}">
                <a16:creationId xmlns:a16="http://schemas.microsoft.com/office/drawing/2014/main" id="{D9E39330-3B12-42C5-A37F-F21D0EAB2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461885" y="3814762"/>
            <a:ext cx="1840230" cy="4400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250">
                <a:solidFill>
                  <a:srgbClr val="E5484D"/>
                </a:solidFill>
                <a:latin typeface="+mn-lt"/>
                <a:ea typeface="+mn-lt"/>
                <a:cs typeface="+mn-lt"/>
              </a:rPr>
              <a:t>再试一次驳回</a:t>
            </a:r>
          </a:p>
        </p:txBody>
      </p:sp>
      <p:sp>
        <p:nvSpPr>
          <p:cNvPr id="18" name="Freeform 18">
            <a:extLst xmlns:a="http://schemas.openxmlformats.org/drawingml/2006/main">
              <a:ext uri="{FF2B5EF4-FFF2-40B4-BE49-F238E27FC236}">
                <a16:creationId xmlns:a16="http://schemas.microsoft.com/office/drawing/2014/main" id="{E7EEBAF3-65A1-4410-BF72-9EF4F6C49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82000" y="1143000"/>
            <a:ext cx="2266950" cy="400050"/>
          </a:xfrm>
          <a:custGeom xmlns:a="http://schemas.openxmlformats.org/drawingml/2006/main">
            <a:rect l="l" t="t" r="r" b="b"/>
            <a:pathLst>
              <a:path w="2266950" h="400050">
                <a:moveTo>
                  <a:pt x="0" y="400050"/>
                </a:moveTo>
                <a:lnTo>
                  <a:pt x="0" y="0"/>
                </a:lnTo>
                <a:lnTo>
                  <a:pt x="22669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chemeClr val="accent2"/>
            </a:solidFill>
          </a:ln>
        </p:spPr>
      </p:sp>
      <p:sp>
        <p:nvSpPr>
          <p:cNvPr id="19" name="Freeform 19">
            <a:extLst xmlns:a="http://schemas.openxmlformats.org/drawingml/2006/main">
              <a:ext uri="{FF2B5EF4-FFF2-40B4-BE49-F238E27FC236}">
                <a16:creationId xmlns:a16="http://schemas.microsoft.com/office/drawing/2014/main" id="{CAD5090F-4C97-4D03-95CC-DE4F578B8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001250" y="4933950"/>
            <a:ext cx="1295400" cy="495300"/>
          </a:xfrm>
          <a:custGeom xmlns:a="http://schemas.openxmlformats.org/drawingml/2006/main">
            <a:rect l="l" t="t" r="r" b="b"/>
            <a:pathLst>
              <a:path w="1295400" h="495300">
                <a:moveTo>
                  <a:pt x="0" y="0"/>
                </a:moveTo>
                <a:lnTo>
                  <a:pt x="0" y="495300"/>
                </a:lnTo>
                <a:lnTo>
                  <a:pt x="1295400" y="49530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chemeClr val="accent3"/>
            </a:solidFill>
          </a:ln>
        </p:spPr>
      </p:sp>
      <p:sp>
        <p:nvSpPr>
          <p:cNvPr id="21" name="Freeform 21">
            <a:extLst xmlns:a="http://schemas.openxmlformats.org/drawingml/2006/main">
              <a:ext uri="{FF2B5EF4-FFF2-40B4-BE49-F238E27FC236}">
                <a16:creationId xmlns:a16="http://schemas.microsoft.com/office/drawing/2014/main" id="{187E0C10-C286-4C94-BA25-34C9781DE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538912" y="5276850"/>
            <a:ext cx="185738" cy="228600"/>
          </a:xfrm>
          <a:custGeom xmlns:a="http://schemas.openxmlformats.org/drawingml/2006/main">
            <a:rect l="l" t="t" r="r" b="b"/>
            <a:pathLst>
              <a:path w="185738" h="228600">
                <a:moveTo>
                  <a:pt x="0" y="0"/>
                </a:moveTo>
                <a:lnTo>
                  <a:pt x="0" y="228600"/>
                </a:lnTo>
                <a:lnTo>
                  <a:pt x="185738" y="11430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chemeClr val="accent2"/>
            </a:solidFill>
          </a:ln>
        </p:spPr>
      </p:sp>
      <p:sp>
        <p:nvSpPr>
          <p:cNvPr id="22" name="TextBox 22">
            <a:extLst xmlns:a="http://schemas.openxmlformats.org/drawingml/2006/main">
              <a:ext uri="{FF2B5EF4-FFF2-40B4-BE49-F238E27FC236}">
                <a16:creationId xmlns:a16="http://schemas.microsoft.com/office/drawing/2014/main" id="{934F93C1-AE0A-4D23-B5CD-99ED356E8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906768" y="5289232"/>
            <a:ext cx="1128453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1">
                <a:solidFill>
                  <a:schemeClr val="accent1"/>
                </a:solidFill>
                <a:latin typeface="+mn-lt"/>
                <a:ea typeface="+mn-lt"/>
                <a:cs typeface="+mn-lt"/>
              </a:rPr>
              <a:t>在线 Demo</a:t>
            </a:r>
          </a:p>
        </p:txBody>
      </p:sp>
      <p:sp>
        <p:nvSpPr>
          <p:cNvPr id="23" name="TextBox 23">
            <a:extLst xmlns:a="http://schemas.openxmlformats.org/drawingml/2006/main">
              <a:ext uri="{FF2B5EF4-FFF2-40B4-BE49-F238E27FC236}">
                <a16:creationId xmlns:a16="http://schemas.microsoft.com/office/drawing/2014/main" id="{08F5EE5B-FDC7-4349-A406-808B07678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243316" y="5354002"/>
            <a:ext cx="2194541" cy="2053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50">
                <a:solidFill>
                  <a:srgbClr val="5B7388"/>
                </a:solidFill>
                <a:latin typeface="+mn-lt"/>
                <a:ea typeface="+mn-lt"/>
                <a:cs typeface="+mn-lt"/>
              </a:rPr>
              <a:t>youjie-goai-2026.streamlit.app</a:t>
            </a:r>
          </a:p>
        </p:txBody>
      </p:sp>
      <p:sp>
        <p:nvSpPr>
          <p:cNvPr id="24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74C6D5B8-E6A0-4B15-A1EA-467F611C0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382250" y="5048250"/>
            <a:ext cx="1066800" cy="1066800"/>
          </a:xfrm>
          <a:prstGeom xmlns:a="http://schemas.openxmlformats.org/drawingml/2006/main" prst="roundRect">
            <a:avLst>
              <a:gd name="adj" fmla="val 89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chemeClr val="accent5"/>
            </a:solidFill>
          </a:ln>
        </p:spPr>
      </p:sp>
      <p:pic>
        <p:nvPicPr>
          <p:cNvPr id="58" name="Image 2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12f5ab99bf48e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10458450" y="5124450"/>
            <a:ext cx="914400" cy="914400"/>
          </a:xfrm>
          <a:prstGeom xmlns:a="http://schemas.openxmlformats.org/drawingml/2006/main" prst="rect">
            <a:avLst/>
          </a:prstGeom>
        </p:spPr>
      </p:pic>
      <p:sp>
        <p:nvSpPr>
          <p:cNvPr id="26" name="Freeform 26">
            <a:extLst xmlns:a="http://schemas.openxmlformats.org/drawingml/2006/main">
              <a:ext uri="{FF2B5EF4-FFF2-40B4-BE49-F238E27FC236}">
                <a16:creationId xmlns:a16="http://schemas.microsoft.com/office/drawing/2014/main" id="{7B28CF2F-6B2D-4047-9789-C52EBE6FE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638925" y="5757862"/>
            <a:ext cx="71438" cy="71438"/>
          </a:xfrm>
          <a:custGeom xmlns:a="http://schemas.openxmlformats.org/drawingml/2006/main">
            <a:rect l="l" t="t" r="r" b="b"/>
            <a:pathLst>
              <a:path w="71438" h="71438">
                <a:moveTo>
                  <a:pt x="0" y="0"/>
                </a:moveTo>
                <a:lnTo>
                  <a:pt x="0" y="57150"/>
                </a:lnTo>
                <a:cubicBezTo>
                  <a:pt x="0" y="65041"/>
                  <a:pt x="6397" y="71438"/>
                  <a:pt x="14288" y="71438"/>
                </a:cubicBezTo>
                <a:lnTo>
                  <a:pt x="71438" y="71438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chemeClr val="accent3"/>
            </a:solidFill>
          </a:ln>
        </p:spPr>
      </p:sp>
      <p:sp>
        <p:nvSpPr>
          <p:cNvPr id="27" name="Freeform 27">
            <a:extLst xmlns:a="http://schemas.openxmlformats.org/drawingml/2006/main">
              <a:ext uri="{FF2B5EF4-FFF2-40B4-BE49-F238E27FC236}">
                <a16:creationId xmlns:a16="http://schemas.microsoft.com/office/drawing/2014/main" id="{F5741550-7A37-43CC-B2F5-559276A4F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510338" y="5757862"/>
            <a:ext cx="200025" cy="257175"/>
          </a:xfrm>
          <a:custGeom xmlns:a="http://schemas.openxmlformats.org/drawingml/2006/main">
            <a:rect l="l" t="t" r="r" b="b"/>
            <a:pathLst>
              <a:path w="200025" h="257175">
                <a:moveTo>
                  <a:pt x="171450" y="257175"/>
                </a:moveTo>
                <a:lnTo>
                  <a:pt x="28575" y="257175"/>
                </a:lnTo>
                <a:cubicBezTo>
                  <a:pt x="12793" y="257175"/>
                  <a:pt x="0" y="244382"/>
                  <a:pt x="0" y="228600"/>
                </a:cubicBezTo>
                <a:lnTo>
                  <a:pt x="0" y="28575"/>
                </a:lnTo>
                <a:cubicBezTo>
                  <a:pt x="0" y="12793"/>
                  <a:pt x="12793" y="0"/>
                  <a:pt x="28575" y="0"/>
                </a:cubicBezTo>
                <a:lnTo>
                  <a:pt x="128588" y="0"/>
                </a:lnTo>
                <a:lnTo>
                  <a:pt x="200025" y="71438"/>
                </a:lnTo>
                <a:lnTo>
                  <a:pt x="200025" y="228600"/>
                </a:lnTo>
                <a:cubicBezTo>
                  <a:pt x="200025" y="244382"/>
                  <a:pt x="187232" y="257175"/>
                  <a:pt x="171450" y="257175"/>
                </a:cubicBez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chemeClr val="accent3"/>
            </a:solidFill>
          </a:ln>
        </p:spPr>
      </p:sp>
      <p:sp>
        <p:nvSpPr>
          <p:cNvPr id="28" name="Freeform 28">
            <a:extLst xmlns:a="http://schemas.openxmlformats.org/drawingml/2006/main">
              <a:ext uri="{FF2B5EF4-FFF2-40B4-BE49-F238E27FC236}">
                <a16:creationId xmlns:a16="http://schemas.microsoft.com/office/drawing/2014/main" id="{9C6BD03F-B86D-471C-9A28-A1211E04C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567488" y="5900738"/>
            <a:ext cx="85725" cy="57150"/>
          </a:xfrm>
          <a:custGeom xmlns:a="http://schemas.openxmlformats.org/drawingml/2006/main">
            <a:rect l="l" t="t" r="r" b="b"/>
            <a:pathLst>
              <a:path w="85725" h="57150">
                <a:moveTo>
                  <a:pt x="0" y="28575"/>
                </a:moveTo>
                <a:lnTo>
                  <a:pt x="28575" y="57150"/>
                </a:lnTo>
                <a:lnTo>
                  <a:pt x="857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chemeClr val="accent3"/>
            </a:solidFill>
          </a:ln>
        </p:spPr>
      </p:sp>
      <p:sp>
        <p:nvSpPr>
          <p:cNvPr id="30" name="TextBox 30">
            <a:extLst xmlns:a="http://schemas.openxmlformats.org/drawingml/2006/main">
              <a:ext uri="{FF2B5EF4-FFF2-40B4-BE49-F238E27FC236}">
                <a16:creationId xmlns:a16="http://schemas.microsoft.com/office/drawing/2014/main" id="{BAAF9B87-CEC9-4DF4-B838-28DC2870F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906768" y="5784532"/>
            <a:ext cx="1182910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1">
                <a:solidFill>
                  <a:srgbClr val="4B45B7"/>
                </a:solidFill>
                <a:latin typeface="+mn-lt"/>
                <a:ea typeface="+mn-lt"/>
                <a:cs typeface="+mn-lt"/>
              </a:rPr>
              <a:t>源码与视频</a:t>
            </a:r>
          </a:p>
        </p:txBody>
      </p:sp>
      <p:sp>
        <p:nvSpPr>
          <p:cNvPr id="31" name="TextBox 31">
            <a:extLst xmlns:a="http://schemas.openxmlformats.org/drawingml/2006/main">
              <a:ext uri="{FF2B5EF4-FFF2-40B4-BE49-F238E27FC236}">
                <a16:creationId xmlns:a16="http://schemas.microsoft.com/office/drawing/2014/main" id="{319692E6-EA24-4352-9549-DBB71A947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243316" y="5849302"/>
            <a:ext cx="2395322" cy="2053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50">
                <a:solidFill>
                  <a:srgbClr val="5B7388"/>
                </a:solidFill>
                <a:latin typeface="+mn-lt"/>
                <a:ea typeface="+mn-lt"/>
                <a:cs typeface="+mn-lt"/>
              </a:rPr>
              <a:t>github.com/RexKing6/youjie-agent</a:t>
            </a:r>
          </a:p>
        </p:txBody>
      </p:sp>
      <p:sp>
        <p:nvSpPr>
          <p:cNvPr id="33" name="TextBox 33">
            <a:extLst xmlns:a="http://schemas.openxmlformats.org/drawingml/2006/main">
              <a:ext uri="{FF2B5EF4-FFF2-40B4-BE49-F238E27FC236}">
                <a16:creationId xmlns:a16="http://schemas.microsoft.com/office/drawing/2014/main" id="{69060870-A483-4FAC-82FD-C2EA05C54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1218" y="5441632"/>
            <a:ext cx="7568946" cy="322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>
                <a:solidFill>
                  <a:schemeClr val="dk1"/>
                </a:solidFill>
                <a:latin typeface="+mn-lt"/>
                <a:ea typeface="+mn-lt"/>
                <a:cs typeface="+mn-lt"/>
              </a:rPr>
              <a:t>输入可以不确定，方案必须可复算；建议可以自动生成，决定必须由人承担。</a:t>
            </a:r>
          </a:p>
        </p:txBody>
      </p:sp>
      <p:sp>
        <p:nvSpPr>
          <p:cNvPr id="34" name="TextBox 34">
            <a:extLst xmlns:a="http://schemas.openxmlformats.org/drawingml/2006/main">
              <a:ext uri="{FF2B5EF4-FFF2-40B4-BE49-F238E27FC236}">
                <a16:creationId xmlns:a16="http://schemas.microsoft.com/office/drawing/2014/main" id="{9CFC3CBB-85F4-4E8E-BB86-4FFC3B06C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3504" y="6118860"/>
            <a:ext cx="4508449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>
                <a:solidFill>
                  <a:srgbClr val="5B7388"/>
                </a:solidFill>
                <a:latin typeface="+mn-lt"/>
                <a:ea typeface="+mn-lt"/>
                <a:cs typeface="+mn-lt"/>
              </a:rPr>
              <a:t>PoC 仅生成 draft_only · 不连接真实 ERP/MES · 不控制设备</a:t>
            </a:r>
          </a:p>
        </p:txBody>
      </p:sp>
      <p:sp>
        <p:nvSpPr>
          <p:cNvPr id="35" name="TextBox 35">
            <a:extLst xmlns:a="http://schemas.openxmlformats.org/drawingml/2006/main">
              <a:ext uri="{FF2B5EF4-FFF2-40B4-BE49-F238E27FC236}">
                <a16:creationId xmlns:a16="http://schemas.microsoft.com/office/drawing/2014/main" id="{E91AEE94-A973-41FF-80F4-E5D4A07F8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398606" y="6271260"/>
            <a:ext cx="189890" cy="234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200">
                <a:solidFill>
                  <a:srgbClr val="7E9AAA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121568192"/>
      </p:ext>
    </p:extLst>
  </p:cSld>
</p:sld>
</file>

<file path=ppt/theme/theme1.xml><?xml version="1.0" encoding="utf-8"?>
<a:theme xmlns:a="http://schemas.openxmlformats.org/drawingml/2006/main" name="youjie_goai_pitch">
  <a:themeElements>
    <a:clrScheme name="youjie_goai_pitch">
      <a:dk1>
        <a:srgbClr val="17324D"/>
      </a:dk1>
      <a:lt1>
        <a:srgbClr val="F7FBFF"/>
      </a:lt1>
      <a:dk2>
        <a:srgbClr val="1F497D"/>
      </a:dk2>
      <a:lt2>
        <a:srgbClr val="EAF7FC"/>
      </a:lt2>
      <a:accent1>
        <a:srgbClr val="0B4F6C"/>
      </a:accent1>
      <a:accent2>
        <a:srgbClr val="00B8D9"/>
      </a:accent2>
      <a:accent3>
        <a:srgbClr val="6C63FF"/>
      </a:accent3>
      <a:accent4>
        <a:srgbClr val="0B4F6C"/>
      </a:accent4>
      <a:accent5>
        <a:srgbClr val="B7E5EF"/>
      </a:accent5>
      <a:accent6>
        <a:srgbClr val="FF9D2E"/>
      </a:accent6>
      <a:hlink>
        <a:srgbClr val="00B8D9"/>
      </a:hlink>
      <a:folHlink>
        <a:srgbClr val="6C63FF"/>
      </a:folHlink>
    </a:clrScheme>
    <a:fontScheme name="youjie_goai_pitch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youjie_goai_pitch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2026-08-09T07:33:07.1930000Z</dcterms:created>
  <dcterms:modified xsi:type="dcterms:W3CDTF">2026-08-09T07:33:07.1930000Z</dcterms:modified>
</coreProperties>
</file>