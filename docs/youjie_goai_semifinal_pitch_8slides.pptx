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9073353ae945ed" /><Relationship Type="http://schemas.openxmlformats.org/officeDocument/2006/relationships/extended-properties" Target="/docProps/app.xml" Id="Redc5b3934935417c" /><Relationship Type="http://schemas.openxmlformats.org/officeDocument/2006/relationships/officeDocument" Target="/ppt/presentation.xml" Id="Rf64bda21b157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24ec5e0744af3"/>
  </p:sldMasterIdLst>
  <p:notesMasterIdLst>
    <p:notesMasterId xmlns:r="http://schemas.openxmlformats.org/officeDocument/2006/relationships" r:id="R5ceae4fdc7404d62"/>
  </p:notesMasterIdLst>
  <p:sldIdLst>
    <p:sldId xmlns:r="http://schemas.openxmlformats.org/officeDocument/2006/relationships" id="256" r:id="R84143d3841ef4e2c"/>
    <p:sldId xmlns:r="http://schemas.openxmlformats.org/officeDocument/2006/relationships" id="257" r:id="R0fd6f2a9b4d44076"/>
    <p:sldId xmlns:r="http://schemas.openxmlformats.org/officeDocument/2006/relationships" id="258" r:id="R37e71303bed540ee"/>
    <p:sldId xmlns:r="http://schemas.openxmlformats.org/officeDocument/2006/relationships" id="259" r:id="Reec1a30713444827"/>
    <p:sldId xmlns:r="http://schemas.openxmlformats.org/officeDocument/2006/relationships" id="260" r:id="Rdb4f8c5aa475421c"/>
    <p:sldId xmlns:r="http://schemas.openxmlformats.org/officeDocument/2006/relationships" id="261" r:id="R31ca1a3a372a4821"/>
    <p:sldId xmlns:r="http://schemas.openxmlformats.org/officeDocument/2006/relationships" id="262" r:id="Rbe79ca690297484c"/>
    <p:sldId xmlns:r="http://schemas.openxmlformats.org/officeDocument/2006/relationships" id="263" r:id="Ra6ec480487ec49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c61c55fe244ec0" /><Relationship Type="http://schemas.openxmlformats.org/officeDocument/2006/relationships/slideMaster" Target="/ppt/slideMasters/slideMaster1.xml" Id="R0e624ec5e0744af3" /><Relationship Type="http://schemas.openxmlformats.org/officeDocument/2006/relationships/notesMaster" Target="/ppt/notesMasters/notesMaster1.xml" Id="R5ceae4fdc7404d62" /><Relationship Type="http://schemas.openxmlformats.org/officeDocument/2006/relationships/presProps" Target="/ppt/presProps.xml" Id="Rd1561ba501c7450f" /><Relationship Type="http://schemas.openxmlformats.org/officeDocument/2006/relationships/viewProps" Target="/ppt/viewProps.xml" Id="Rf48ad03b2b33416b" /><Relationship Type="http://schemas.openxmlformats.org/officeDocument/2006/relationships/tableStyles" Target="/ppt/tableStyles.xml" Id="R6f74699cdf614ab4" /><Relationship Type="http://schemas.openxmlformats.org/officeDocument/2006/relationships/slide" Target="/ppt/slides/slide1.xml" Id="R84143d3841ef4e2c" /><Relationship Type="http://schemas.openxmlformats.org/officeDocument/2006/relationships/slide" Target="/ppt/slides/slide2.xml" Id="R0fd6f2a9b4d44076" /><Relationship Type="http://schemas.openxmlformats.org/officeDocument/2006/relationships/slide" Target="/ppt/slides/slide3.xml" Id="R37e71303bed540ee" /><Relationship Type="http://schemas.openxmlformats.org/officeDocument/2006/relationships/slide" Target="/ppt/slides/slide4.xml" Id="Reec1a30713444827" /><Relationship Type="http://schemas.openxmlformats.org/officeDocument/2006/relationships/slide" Target="/ppt/slides/slide5.xml" Id="Rdb4f8c5aa475421c" /><Relationship Type="http://schemas.openxmlformats.org/officeDocument/2006/relationships/slide" Target="/ppt/slides/slide6.xml" Id="R31ca1a3a372a4821" /><Relationship Type="http://schemas.openxmlformats.org/officeDocument/2006/relationships/slide" Target="/ppt/slides/slide7.xml" Id="Rbe79ca690297484c" /><Relationship Type="http://schemas.openxmlformats.org/officeDocument/2006/relationships/slide" Target="/ppt/slides/slide8.xml" Id="Ra6ec480487ec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652f39857648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youjie_goai_pitch">
  <a:themeElements>
    <a:clrScheme name="youjie_goai_pitch">
      <a:dk1>
        <a:srgbClr val="17324D"/>
      </a:dk1>
      <a:lt1>
        <a:srgbClr val="F7FBFF"/>
      </a:lt1>
      <a:dk2>
        <a:srgbClr val="1F497D"/>
      </a:dk2>
      <a:lt2>
        <a:srgbClr val="EAF7FC"/>
      </a:lt2>
      <a:accent1>
        <a:srgbClr val="0B4F6C"/>
      </a:accent1>
      <a:accent2>
        <a:srgbClr val="00B8D9"/>
      </a:accent2>
      <a:accent3>
        <a:srgbClr val="6C63FF"/>
      </a:accent3>
      <a:accent4>
        <a:srgbClr val="0B4F6C"/>
      </a:accent4>
      <a:accent5>
        <a:srgbClr val="B7E5EF"/>
      </a:accent5>
      <a:accent6>
        <a:srgbClr val="FF9D2E"/>
      </a:accent6>
      <a:hlink>
        <a:srgbClr val="00B8D9"/>
      </a:hlink>
      <a:folHlink>
        <a:srgbClr val="6C63FF"/>
      </a:folHlink>
    </a:clrScheme>
    <a:fontScheme name="youjie_goai_pit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ujie_goai_pit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25517ca014fb7" /><Relationship Type="http://schemas.openxmlformats.org/officeDocument/2006/relationships/notesMaster" Target="/ppt/notesMasters/notesMaster1.xml" Id="R3eb6c43e69b2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b73cb7c30a487e" /><Relationship Type="http://schemas.openxmlformats.org/officeDocument/2006/relationships/notesMaster" Target="/ppt/notesMasters/notesMaster1.xml" Id="R12808d14ba5d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e113b60fff4fbb" /><Relationship Type="http://schemas.openxmlformats.org/officeDocument/2006/relationships/notesMaster" Target="/ppt/notesMasters/notesMaster1.xml" Id="R1c3472d6c81545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94c4f6a7314f13" /><Relationship Type="http://schemas.openxmlformats.org/officeDocument/2006/relationships/notesMaster" Target="/ppt/notesMasters/notesMaster1.xml" Id="R8ecb8c78670d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4cdb56e8f43bf" /><Relationship Type="http://schemas.openxmlformats.org/officeDocument/2006/relationships/notesMaster" Target="/ppt/notesMasters/notesMaster1.xml" Id="R9c4a87ce8b364b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59a8068b64d95" /><Relationship Type="http://schemas.openxmlformats.org/officeDocument/2006/relationships/notesMaster" Target="/ppt/notesMasters/notesMaster1.xml" Id="R0c96f7b6722e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ff56559dbb4db5" /><Relationship Type="http://schemas.openxmlformats.org/officeDocument/2006/relationships/notesMaster" Target="/ppt/notesMasters/notesMaster1.xml" Id="R6a3b8e968c2747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28f0928ec4402f" /><Relationship Type="http://schemas.openxmlformats.org/officeDocument/2006/relationships/notesMaster" Target="/ppt/notesMasters/notesMaster1.xml" Id="Re19f12c6393743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这个作品叫有界，是一个面向制造计划员的供应链异常研判与恢复计划智能体。它的核心不是让大模型替人做决定，而是让不确定的输入进入一条可复算、可验证、可追责的流程：能力有界，方案可证，决策在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先看最具体的场景。一个模拟座椅供应商发来邮件，说 Q2J 未来四十八小时无法正常发运；这一个异常同时影响三个 BOM 配置，对应九十一、八十一和四十五台车，总计二百一十七台。邮件和事故是模拟的，但这二百一十七条需求来自公开汽车供应链工作簿的原始行，所以我们既保留工业对象关系，也把模拟边界说清楚。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src/delivery_guard/graph.py</a:t>
            </a:r>
          </a:p>
          <a:p xmlns:a="http://schemas.openxmlformats.org/drawingml/2006/main">
            <a:pPr>
              <a:buNone/>
            </a:pPr>
            <a:r>
              <a:t>- tests/test_graph.py</a:t>
            </a:r>
          </a:p>
          <a:p xmlns:a="http://schemas.openxmlformats.org/drawingml/2006/main">
            <a:pPr>
              <a:buNone/>
            </a:pPr>
            <a:r>
              <a:t>[/Sources]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plan_investigation 生成的是同一任务内的受控工具清单，不是四选一分支。当前供应延期案例调用四类工具：工厂快照一次、规则检索两次、BOM/订单影响一次、CP-SAT 求解一次，共五次动作。LangGraph 负责顺序、状态、暂停与恢复；确定性工具负责计算。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主演示实际使用 Mendeley Data 的汽车供应链工作簿，而不只是参考它的字段。原数据包含二万八千零四十九个产品、八万七千零五十九条 BOM 和二万八千条需求；程序先校验完整文件的 SHA-256，再从第六十一期抽取二百一十七条逐车需求，并在 lineage 文件中保留需求、BOM、库存和容量的工作表行号。聚合成三张比赛订单后，数量仍然是二百一十七，差为零。客户名、事故邮件、应急报价、预算和审批属于明确标注的模拟层；公开数据是行业背景随机化数据，不冒充企业原始流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在相同硬约束下，三套方案产生了真实差异。保交付方案让九十一台按首个交期完成，使用九十一件应急供应，恢复成本七百二十八元；平衡方案是四十五台、四十五件和三百六十元；少变更方案不使用应急供应，因此首个交期按时数量为零。三套方案都是求解器最优状态，并由独立 verifier 重放通过。这里的应急上限、单价和预算是模拟参数；系统遵守整批交付，不会为了漂亮数字偷偷拆单。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outputs/goai_judge_walkthrough/site</a:t>
            </a:r>
          </a:p>
          <a:p xmlns:a="http://schemas.openxmlformats.org/drawingml/2006/main">
            <a:pPr>
              <a:buNone/>
            </a:pPr>
            <a:r>
              <a:t>- artifacts/live_agent_eval_report.json</a:t>
            </a:r>
          </a:p>
          <a:p xmlns:a="http://schemas.openxmlformats.org/drawingml/2006/main">
            <a:pPr>
              <a:buNone/>
            </a:pPr>
            <a:r>
              <a:t>[/Sources]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工作台接收自然语言事故，调用真实模型抽取带来源的事实。LangGraph 继续调用确定性影响分析、CP-SAT 和独立 verifier，并在人工审批处暂停。界面明确区分 Live 模型、确定性求解、真实开源测试实例与合同沙箱。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artifacts/erpnext_real_validation.json</a:t>
            </a:r>
          </a:p>
          <a:p xmlns:a="http://schemas.openxmlformats.org/drawingml/2006/main">
            <a:pPr>
              <a:buNone/>
            </a:pPr>
            <a:r>
              <a:t>- artifacts/openmes_real_validation.json</a:t>
            </a:r>
          </a:p>
          <a:p xmlns:a="http://schemas.openxmlformats.org/drawingml/2006/main">
            <a:pPr>
              <a:buNone/>
            </a:pPr>
            <a:r>
              <a:t>- src/delivery_guard/graph.py</a:t>
            </a:r>
          </a:p>
          <a:p xmlns:a="http://schemas.openxmlformats.org/drawingml/2006/main">
            <a:pPr>
              <a:buNone/>
            </a:pPr>
            <a:r>
              <a:t>- src/delivery_guard/integration/orchestrator.py</a:t>
            </a:r>
          </a:p>
          <a:p xmlns:a="http://schemas.openxmlformats.org/drawingml/2006/main">
            <a:pPr>
              <a:buNone/>
            </a:pPr>
            <a:r>
              <a:t>- tests/test_graph.py</a:t>
            </a:r>
          </a:p>
          <a:p xmlns:a="http://schemas.openxmlformats.org/drawingml/2006/main">
            <a:pPr>
              <a:buNone/>
            </a:pPr>
            <a:r>
              <a:t>[/Sources]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本机测试链路将 ERPNext 草稿同步到 OpenMES。确认的 MES capacity revision 变化不再由外层手工拼接 graph_trace，而是通过 start_feedback 进入同一个 LangGraph：receive_execution_feedback、invalidate_stale_approval、plan_investigation、execute_investigation、analyze_and_solve、human_approval。旧审批失效且新工单保持为零，直到新的人工批准。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README.md</a:t>
            </a:r>
          </a:p>
          <a:p xmlns:a="http://schemas.openxmlformats.org/drawingml/2006/main">
            <a:pPr>
              <a:buNone/>
            </a:pPr>
            <a:r>
              <a:t>- docs/demo_script.md</a:t>
            </a:r>
          </a:p>
          <a:p xmlns:a="http://schemas.openxmlformats.org/drawingml/2006/main">
            <a:pPr>
              <a:buNone/>
            </a:pPr>
            <a:r>
              <a:t>- artifacts/erpnext_real_validation.json</a:t>
            </a:r>
          </a:p>
          <a:p xmlns:a="http://schemas.openxmlformats.org/drawingml/2006/main">
            <a:pPr>
              <a:buNone/>
            </a:pPr>
            <a:r>
              <a:t>- artifacts/openmes_real_validation.json</a:t>
            </a:r>
          </a:p>
          <a:p xmlns:a="http://schemas.openxmlformats.org/drawingml/2006/main">
            <a:pPr>
              <a:buNone/>
            </a:pPr>
            <a:r>
              <a:t>- artifacts/integration_validation_report.json</a:t>
            </a:r>
          </a:p>
          <a:p xmlns:a="http://schemas.openxmlformats.org/drawingml/2006/main">
            <a:pPr>
              <a:buNone/>
            </a:pPr>
            <a:r>
              <a:t>[/Sources]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现场先展示 ERPNext 与 OpenMES 的同号工单，再在 OpenMES 人工接单并回到有界验证旧审批失效。两套开源系统均为本机测试实例；SAP、金蝶、黑湖仍是 non-certified contract sandbox，不宣称生产写回或设备控制。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d843f4dd14f02" /></Relationships>
</file>

<file path=ppt/slideLayouts/slideLayout1.xml><?xml version="1.0" encoding="utf-8"?>
<p:sldLayout xmlns:p="http://schemas.openxmlformats.org/presentationml/2006/main" type="blank" preserve="1">
  <p:cSld name="youjie_goai_pitch — 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13CFF8-A59D-4C9B-8935-828220566C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90B41D1-F88E-4D2A-96CA-356F2AE0A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E1206E2-D665-4AD6-ACF7-A9D4C32367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262a5f813403e" /><Relationship Type="http://schemas.openxmlformats.org/officeDocument/2006/relationships/slideLayout" Target="/ppt/slideLayouts/slideLayout1.xml" Id="R5f04bd3730104b5d" /></Relationships>
</file>

<file path=ppt/slideMasters/slideMaster1.xml><?xml version="1.0" encoding="utf-8"?>
<p:sldMaster xmlns:p="http://schemas.openxmlformats.org/presentationml/2006/main">
  <p:cSld name="youjie_goai_pitch —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C5183-7EC0-439B-9DF8-229D05DB56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60DD84-1FE8-4125-9838-D76830AAF9F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235AEB-9829-44AF-88AF-B9CB55840D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4bd3730104b5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22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9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7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5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2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1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youjie_goai_pitch">
  <a:themeElements>
    <a:clrScheme name="youjie_goai_pitch">
      <a:dk1>
        <a:srgbClr val="17324D"/>
      </a:dk1>
      <a:lt1>
        <a:srgbClr val="F7FBFF"/>
      </a:lt1>
      <a:dk2>
        <a:srgbClr val="1F497D"/>
      </a:dk2>
      <a:lt2>
        <a:srgbClr val="EAF7FC"/>
      </a:lt2>
      <a:accent1>
        <a:srgbClr val="0B4F6C"/>
      </a:accent1>
      <a:accent2>
        <a:srgbClr val="00B8D9"/>
      </a:accent2>
      <a:accent3>
        <a:srgbClr val="6C63FF"/>
      </a:accent3>
      <a:accent4>
        <a:srgbClr val="0B4F6C"/>
      </a:accent4>
      <a:accent5>
        <a:srgbClr val="B7E5EF"/>
      </a:accent5>
      <a:accent6>
        <a:srgbClr val="FF9D2E"/>
      </a:accent6>
      <a:hlink>
        <a:srgbClr val="00B8D9"/>
      </a:hlink>
      <a:folHlink>
        <a:srgbClr val="6C63FF"/>
      </a:folHlink>
    </a:clrScheme>
    <a:fontScheme name="youjie_goai_pit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ujie_goai_pit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fc2a4f13b445d" /><Relationship Type="http://schemas.openxmlformats.org/officeDocument/2006/relationships/notesSlide" Target="/ppt/notesSlides/notesSlide1.xml" Id="R588d814f436248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7a24dbb044987" /><Relationship Type="http://schemas.openxmlformats.org/officeDocument/2006/relationships/notesSlide" Target="/ppt/notesSlides/notesSlide2.xml" Id="R7dfe2da3e0414d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d1c5d9f164fd3" /><Relationship Type="http://schemas.openxmlformats.org/officeDocument/2006/relationships/notesSlide" Target="/ppt/notesSlides/notesSlide3.xml" Id="Rc5ce6f91bd6740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ebb67e09f437f" /><Relationship Type="http://schemas.openxmlformats.org/officeDocument/2006/relationships/notesSlide" Target="/ppt/notesSlides/notesSlide4.xml" Id="Rd1a6e054909a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edcd19c9541e1" /><Relationship Type="http://schemas.openxmlformats.org/officeDocument/2006/relationships/notesSlide" Target="/ppt/notesSlides/notesSlide5.xml" Id="Rde9649e21ab44d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6a1f0bcf24e65" /><Relationship Type="http://schemas.openxmlformats.org/officeDocument/2006/relationships/image" Target="/ppt/media/image.png" Id="R77f4cf881c8e4ba7" /><Relationship Type="http://schemas.openxmlformats.org/officeDocument/2006/relationships/image" Target="/ppt/media/image2.png" Id="R54fbead230cd45a9" /><Relationship Type="http://schemas.openxmlformats.org/officeDocument/2006/relationships/notesSlide" Target="/ppt/notesSlides/notesSlide6.xml" Id="R6beebabf8361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95d7dbe2947f2" /><Relationship Type="http://schemas.openxmlformats.org/officeDocument/2006/relationships/notesSlide" Target="/ppt/notesSlides/notesSlide7.xml" Id="Ra76f1230b7b049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06a44524a45c7" /><Relationship Type="http://schemas.openxmlformats.org/officeDocument/2006/relationships/notesSlide" Target="/ppt/notesSlides/notesSlide8.xml" Id="R76ee17db713c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28F6B00-F4AB-4774-83DA-02F73927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76300"/>
            <a:ext cx="4743450" cy="247650"/>
          </a:xfrm>
          <a:custGeom xmlns:a="http://schemas.openxmlformats.org/drawingml/2006/main">
            <a:rect l="l" t="t" r="r" b="b"/>
            <a:pathLst>
              <a:path w="4743450" h="247650">
                <a:moveTo>
                  <a:pt x="0" y="247650"/>
                </a:moveTo>
                <a:lnTo>
                  <a:pt x="2724150" y="247650"/>
                </a:lnTo>
                <a:cubicBezTo>
                  <a:pt x="3162300" y="247650"/>
                  <a:pt x="3333750" y="0"/>
                  <a:pt x="3771900" y="0"/>
                </a:cubicBezTo>
                <a:lnTo>
                  <a:pt x="474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2592819-E464-434F-A129-6F099D8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0" y="0"/>
            <a:ext cx="3524250" cy="1257300"/>
          </a:xfrm>
          <a:custGeom xmlns:a="http://schemas.openxmlformats.org/drawingml/2006/main">
            <a:rect l="l" t="t" r="r" b="b"/>
            <a:pathLst>
              <a:path w="3524250" h="1257300">
                <a:moveTo>
                  <a:pt x="0" y="0"/>
                </a:moveTo>
                <a:lnTo>
                  <a:pt x="0" y="838200"/>
                </a:lnTo>
                <a:cubicBezTo>
                  <a:pt x="0" y="1123950"/>
                  <a:pt x="247650" y="1257300"/>
                  <a:pt x="533400" y="1257300"/>
                </a:cubicBezTo>
                <a:lnTo>
                  <a:pt x="352425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BD92784-8E31-4185-871F-6D806C3E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100" y="5924550"/>
            <a:ext cx="4533900" cy="266700"/>
          </a:xfrm>
          <a:custGeom xmlns:a="http://schemas.openxmlformats.org/drawingml/2006/main">
            <a:rect l="l" t="t" r="r" b="b"/>
            <a:pathLst>
              <a:path w="4533900" h="266700">
                <a:moveTo>
                  <a:pt x="0" y="266700"/>
                </a:moveTo>
                <a:lnTo>
                  <a:pt x="1809750" y="266700"/>
                </a:lnTo>
                <a:cubicBezTo>
                  <a:pt x="2190750" y="266700"/>
                  <a:pt x="2324100" y="0"/>
                  <a:pt x="2705100" y="0"/>
                </a:cubicBezTo>
                <a:lnTo>
                  <a:pt x="453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2">
                <a:alpha val="50000"/>
              </a:schemeClr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2B8B2-5DE3-496C-8FD7-707DC824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1089660"/>
            <a:ext cx="272613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GOAI 无界应用 · AI+工业制造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80AC355-4BA2-4644-BD50-7D0548E4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2004060"/>
            <a:ext cx="2134133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有界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213445D-FB66-4144-9507-505D4A5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1051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BCE214B-1E56-4E2F-9067-211B70F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646" y="3458528"/>
            <a:ext cx="3086291" cy="9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5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制造供应链异常研判</a:t>
            </a:r>
            <a:br/>
            <a:r>
              <a:rPr sz="25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与恢复计划智能体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FA8DC7-074E-40A3-A81B-9393749C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" y="4443412"/>
            <a:ext cx="456628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能力有界，方案可证，决策在人。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EA9DCBF-B7AC-437A-8475-1F6518B4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1543050"/>
            <a:ext cx="3371850" cy="2933700"/>
          </a:xfrm>
          <a:custGeom xmlns:a="http://schemas.openxmlformats.org/drawingml/2006/main">
            <a:rect l="l" t="t" r="r" b="b"/>
            <a:pathLst>
              <a:path w="3371850" h="2933700">
                <a:moveTo>
                  <a:pt x="0" y="838200"/>
                </a:moveTo>
                <a:lnTo>
                  <a:pt x="990600" y="838200"/>
                </a:lnTo>
                <a:lnTo>
                  <a:pt x="990600" y="0"/>
                </a:lnTo>
                <a:lnTo>
                  <a:pt x="2266950" y="0"/>
                </a:lnTo>
                <a:lnTo>
                  <a:pt x="2266950" y="838200"/>
                </a:lnTo>
                <a:lnTo>
                  <a:pt x="3371850" y="838200"/>
                </a:lnTo>
                <a:lnTo>
                  <a:pt x="3371850" y="1809750"/>
                </a:lnTo>
                <a:lnTo>
                  <a:pt x="2171700" y="1809750"/>
                </a:lnTo>
                <a:lnTo>
                  <a:pt x="2171700" y="2933700"/>
                </a:lnTo>
                <a:lnTo>
                  <a:pt x="857250" y="2933700"/>
                </a:lnTo>
                <a:lnTo>
                  <a:pt x="857250" y="2133600"/>
                </a:lnTo>
                <a:lnTo>
                  <a:pt x="0" y="2133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6F7D831-D671-4D51-A687-FB9F508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2381250"/>
            <a:ext cx="990600" cy="9525"/>
          </a:xfrm>
          <a:custGeom xmlns:a="http://schemas.openxmlformats.org/drawingml/2006/main">
            <a:rect l="l" t="t" r="r" b="b"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chemeClr val="accent3">
                <a:alpha val="22000"/>
              </a:schemeClr>
            </a:solidFill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3B299936-6F77-4549-A6FF-DB339786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9875" y="2047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09BBE61-8248-4862-8C2E-59C8AAEC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7519" y="2275681"/>
            <a:ext cx="271462" cy="211137"/>
          </a:xfrm>
          <a:custGeom xmlns:a="http://schemas.openxmlformats.org/drawingml/2006/main">
            <a:rect l="l" t="t" r="r" b="b"/>
            <a:pathLst>
              <a:path w="271462" h="211137">
                <a:moveTo>
                  <a:pt x="0" y="30162"/>
                </a:moveTo>
                <a:cubicBezTo>
                  <a:pt x="0" y="13504"/>
                  <a:pt x="13504" y="0"/>
                  <a:pt x="30162" y="0"/>
                </a:cubicBezTo>
                <a:lnTo>
                  <a:pt x="241299" y="0"/>
                </a:lnTo>
                <a:cubicBezTo>
                  <a:pt x="257958" y="0"/>
                  <a:pt x="271462" y="13504"/>
                  <a:pt x="271462" y="30162"/>
                </a:cubicBezTo>
                <a:lnTo>
                  <a:pt x="271462" y="180975"/>
                </a:lnTo>
                <a:cubicBezTo>
                  <a:pt x="271462" y="197633"/>
                  <a:pt x="257958" y="211137"/>
                  <a:pt x="241299" y="211137"/>
                </a:cubicBezTo>
                <a:lnTo>
                  <a:pt x="30162" y="211137"/>
                </a:lnTo>
                <a:cubicBezTo>
                  <a:pt x="13504" y="211137"/>
                  <a:pt x="0" y="197633"/>
                  <a:pt x="0" y="180975"/>
                </a:cubicBezTo>
                <a:lnTo>
                  <a:pt x="0" y="30162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1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2F4595D-6733-46D9-BD7D-EDC8BA07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7519" y="2305844"/>
            <a:ext cx="271462" cy="90487"/>
          </a:xfrm>
          <a:custGeom xmlns:a="http://schemas.openxmlformats.org/drawingml/2006/main">
            <a:rect l="l" t="t" r="r" b="b"/>
            <a:pathLst>
              <a:path w="271462" h="90487">
                <a:moveTo>
                  <a:pt x="0" y="0"/>
                </a:moveTo>
                <a:lnTo>
                  <a:pt x="135731" y="90487"/>
                </a:lnTo>
                <a:lnTo>
                  <a:pt x="2714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1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936ECEB-D173-4EBD-8397-3BDB5826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0622" y="2774632"/>
            <a:ext cx="90525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异常输入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437A4974-D230-4B98-B5B5-9C1E3F9E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6825" y="12096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ABE9591-AD93-4F67-93CC-0460C9F9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4469" y="1618456"/>
            <a:ext cx="60325" cy="60325"/>
          </a:xfrm>
          <a:custGeom xmlns:a="http://schemas.openxmlformats.org/drawingml/2006/main">
            <a:rect l="l" t="t" r="r" b="b"/>
            <a:pathLst>
              <a:path w="60325" h="60325">
                <a:moveTo>
                  <a:pt x="0" y="30162"/>
                </a:moveTo>
                <a:cubicBezTo>
                  <a:pt x="0" y="46821"/>
                  <a:pt x="13504" y="60325"/>
                  <a:pt x="30162" y="60325"/>
                </a:cubicBezTo>
                <a:cubicBezTo>
                  <a:pt x="46821" y="60325"/>
                  <a:pt x="60325" y="46821"/>
                  <a:pt x="60325" y="30162"/>
                </a:cubicBezTo>
                <a:cubicBezTo>
                  <a:pt x="60325" y="13504"/>
                  <a:pt x="46821" y="0"/>
                  <a:pt x="30162" y="0"/>
                </a:cubicBezTo>
                <a:cubicBezTo>
                  <a:pt x="13504" y="0"/>
                  <a:pt x="0" y="13504"/>
                  <a:pt x="0" y="301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3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660BE36-D91F-4303-BDA0-BAEDCF1D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5606" y="1407319"/>
            <a:ext cx="60325" cy="60325"/>
          </a:xfrm>
          <a:custGeom xmlns:a="http://schemas.openxmlformats.org/drawingml/2006/main">
            <a:rect l="l" t="t" r="r" b="b"/>
            <a:pathLst>
              <a:path w="60325" h="60325">
                <a:moveTo>
                  <a:pt x="30162" y="60325"/>
                </a:moveTo>
                <a:cubicBezTo>
                  <a:pt x="46821" y="60325"/>
                  <a:pt x="60325" y="46821"/>
                  <a:pt x="60325" y="30162"/>
                </a:cubicBezTo>
                <a:cubicBezTo>
                  <a:pt x="60325" y="13504"/>
                  <a:pt x="46821" y="0"/>
                  <a:pt x="30162" y="0"/>
                </a:cubicBezTo>
                <a:cubicBezTo>
                  <a:pt x="13504" y="0"/>
                  <a:pt x="0" y="13504"/>
                  <a:pt x="0" y="30162"/>
                </a:cubicBezTo>
                <a:cubicBezTo>
                  <a:pt x="0" y="46821"/>
                  <a:pt x="13504" y="60325"/>
                  <a:pt x="30162" y="603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3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143780F-411A-4132-B858-2F843D3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4631" y="1437481"/>
            <a:ext cx="226218" cy="211137"/>
          </a:xfrm>
          <a:custGeom xmlns:a="http://schemas.openxmlformats.org/drawingml/2006/main">
            <a:rect l="l" t="t" r="r" b="b"/>
            <a:pathLst>
              <a:path w="226218" h="211137">
                <a:moveTo>
                  <a:pt x="90487" y="211137"/>
                </a:moveTo>
                <a:lnTo>
                  <a:pt x="173434" y="211137"/>
                </a:lnTo>
                <a:cubicBezTo>
                  <a:pt x="202586" y="211137"/>
                  <a:pt x="226218" y="187505"/>
                  <a:pt x="226218" y="158353"/>
                </a:cubicBezTo>
                <a:cubicBezTo>
                  <a:pt x="226218" y="129201"/>
                  <a:pt x="202586" y="105569"/>
                  <a:pt x="173434" y="105569"/>
                </a:cubicBezTo>
                <a:lnTo>
                  <a:pt x="52784" y="105569"/>
                </a:lnTo>
                <a:cubicBezTo>
                  <a:pt x="23632" y="105569"/>
                  <a:pt x="0" y="81936"/>
                  <a:pt x="0" y="52784"/>
                </a:cubicBezTo>
                <a:cubicBezTo>
                  <a:pt x="0" y="23632"/>
                  <a:pt x="23632" y="0"/>
                  <a:pt x="52784" y="0"/>
                </a:cubicBezTo>
                <a:lnTo>
                  <a:pt x="120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3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69F7F69-4D26-4D17-87C0-12DC8841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4608" y="907732"/>
            <a:ext cx="115118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Agent 规划</a:t>
            </a:r>
          </a:p>
        </p:txBody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9A1A97A8-0DF6-46A3-988D-5F1DF36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1725" y="3019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529B7C0-6F77-4056-8880-6A67FAAA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9016" y="3217069"/>
            <a:ext cx="294509" cy="269139"/>
          </a:xfrm>
          <a:custGeom xmlns:a="http://schemas.openxmlformats.org/drawingml/2006/main">
            <a:rect l="l" t="t" r="r" b="b"/>
            <a:pathLst>
              <a:path w="294509" h="269139">
                <a:moveTo>
                  <a:pt x="147940" y="269139"/>
                </a:moveTo>
                <a:cubicBezTo>
                  <a:pt x="53463" y="239854"/>
                  <a:pt x="0" y="140141"/>
                  <a:pt x="27893" y="45244"/>
                </a:cubicBezTo>
                <a:cubicBezTo>
                  <a:pt x="74879" y="47394"/>
                  <a:pt x="120857" y="31166"/>
                  <a:pt x="156084" y="0"/>
                </a:cubicBezTo>
                <a:cubicBezTo>
                  <a:pt x="191311" y="31166"/>
                  <a:pt x="237288" y="47394"/>
                  <a:pt x="284274" y="45244"/>
                </a:cubicBezTo>
                <a:cubicBezTo>
                  <a:pt x="294509" y="80068"/>
                  <a:pt x="294037" y="117165"/>
                  <a:pt x="282917" y="1517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6A085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6586235-1C8E-4463-A375-5023544C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0343" y="3428206"/>
            <a:ext cx="90487" cy="60325"/>
          </a:xfrm>
          <a:custGeom xmlns:a="http://schemas.openxmlformats.org/drawingml/2006/main">
            <a:rect l="l" t="t" r="r" b="b"/>
            <a:pathLst>
              <a:path w="90487" h="60325">
                <a:moveTo>
                  <a:pt x="0" y="30162"/>
                </a:moveTo>
                <a:lnTo>
                  <a:pt x="30162" y="60325"/>
                </a:lnTo>
                <a:lnTo>
                  <a:pt x="904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6A085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F5C676-596B-496A-BEF2-674BABF2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4418" y="3250882"/>
            <a:ext cx="90525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方案可证</a:t>
            </a:r>
          </a:p>
        </p:txBody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762D9335-C721-4031-AD10-CF9B186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4076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8575">
            <a:solidFill>
              <a:schemeClr val="accent1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9B536D6-0968-4E13-959C-C70461F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475" y="4312444"/>
            <a:ext cx="146050" cy="146050"/>
          </a:xfrm>
          <a:custGeom xmlns:a="http://schemas.openxmlformats.org/drawingml/2006/main">
            <a:rect l="l" t="t" r="r" b="b"/>
            <a:pathLst>
              <a:path w="146050" h="146050">
                <a:moveTo>
                  <a:pt x="0" y="73025"/>
                </a:moveTo>
                <a:cubicBezTo>
                  <a:pt x="0" y="113356"/>
                  <a:pt x="32694" y="146050"/>
                  <a:pt x="73025" y="146050"/>
                </a:cubicBezTo>
                <a:cubicBezTo>
                  <a:pt x="113356" y="146050"/>
                  <a:pt x="146050" y="113356"/>
                  <a:pt x="146050" y="73025"/>
                </a:cubicBezTo>
                <a:cubicBezTo>
                  <a:pt x="146050" y="32694"/>
                  <a:pt x="113356" y="0"/>
                  <a:pt x="73025" y="0"/>
                </a:cubicBezTo>
                <a:cubicBezTo>
                  <a:pt x="32694" y="0"/>
                  <a:pt x="0" y="32694"/>
                  <a:pt x="0" y="730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6513">
            <a:solidFill>
              <a:srgbClr val="FFFFFF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1A023D5-AAE6-4127-88B7-9BC2D6A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0963" y="4531519"/>
            <a:ext cx="146050" cy="109538"/>
          </a:xfrm>
          <a:custGeom xmlns:a="http://schemas.openxmlformats.org/drawingml/2006/main">
            <a:rect l="l" t="t" r="r" b="b"/>
            <a:pathLst>
              <a:path w="146050" h="109538">
                <a:moveTo>
                  <a:pt x="0" y="109538"/>
                </a:moveTo>
                <a:lnTo>
                  <a:pt x="0" y="73025"/>
                </a:lnTo>
                <a:cubicBezTo>
                  <a:pt x="0" y="32694"/>
                  <a:pt x="32694" y="0"/>
                  <a:pt x="73025" y="0"/>
                </a:cubicBezTo>
                <a:lnTo>
                  <a:pt x="146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13">
            <a:solidFill>
              <a:srgbClr val="FFFFFF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BB2C926-26ED-474C-AB95-C8DCD77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5269" y="4568032"/>
            <a:ext cx="109538" cy="73025"/>
          </a:xfrm>
          <a:custGeom xmlns:a="http://schemas.openxmlformats.org/drawingml/2006/main">
            <a:rect l="l" t="t" r="r" b="b"/>
            <a:pathLst>
              <a:path w="109538" h="73025">
                <a:moveTo>
                  <a:pt x="0" y="36513"/>
                </a:moveTo>
                <a:lnTo>
                  <a:pt x="36513" y="73025"/>
                </a:lnTo>
                <a:lnTo>
                  <a:pt x="1095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13">
            <a:solidFill>
              <a:srgbClr val="FFFFFF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D01BD93-7BC0-4BCB-BBAB-08D78AD6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2431" y="4984432"/>
            <a:ext cx="14161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人工决策边界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3DA4009-B04F-4E32-A811-EDC87B6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0350" y="5162550"/>
            <a:ext cx="2400300" cy="9525"/>
          </a:xfrm>
          <a:custGeom xmlns:a="http://schemas.openxmlformats.org/drawingml/2006/main">
            <a:rect l="l" t="t" r="r" b="b"/>
            <a:pathLst>
              <a:path w="2400300" h="9525">
                <a:moveTo>
                  <a:pt x="0" y="0"/>
                </a:moveTo>
                <a:lnTo>
                  <a:pt x="2400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6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B86FADC-56EE-42B9-9ADC-5F135527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2252" y="5375910"/>
            <a:ext cx="213649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E5484D"/>
                </a:solidFill>
                <a:latin typeface="+mn-lt"/>
                <a:ea typeface="+mn-lt"/>
                <a:cs typeface="+mn-lt"/>
              </a:rPr>
              <a:t>不控制设备 · 不替代现场人员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F0EE97E-9C34-4E77-AAB5-E88E9FDA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309360"/>
            <a:ext cx="374705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GOAI 2026 · 可运行 PoC · 公开数据 · 可复现证据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4609F553-E718-41B2-B478-2AD33588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3093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6916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DD50550-9E95-4872-B74E-A8B4F40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10112075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一封“晚 48 小时”的邮件，三张订单同时失约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F39ADEB-C2D8-4593-B4C2-E26BD558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02982"/>
            <a:ext cx="667039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异常不会停在收件箱里，它会沿着 BOM、供应和排产关系扩散。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747A59-320A-4E3E-8EDE-D95A5784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619250"/>
            <a:ext cx="40957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93D39A0-B995-4EAF-A5A1-6AAB594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619250"/>
            <a:ext cx="40957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18DD43F-8285-41AA-88FD-A8E6858E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038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77BA5DC-6F83-41F5-963E-D39F088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681" y="1820069"/>
            <a:ext cx="242888" cy="188913"/>
          </a:xfrm>
          <a:custGeom xmlns:a="http://schemas.openxmlformats.org/drawingml/2006/main">
            <a:rect l="l" t="t" r="r" b="b"/>
            <a:pathLst>
              <a:path w="242888" h="188913">
                <a:moveTo>
                  <a:pt x="0" y="26988"/>
                </a:moveTo>
                <a:cubicBezTo>
                  <a:pt x="0" y="12083"/>
                  <a:pt x="12083" y="0"/>
                  <a:pt x="26988" y="0"/>
                </a:cubicBezTo>
                <a:lnTo>
                  <a:pt x="215901" y="0"/>
                </a:lnTo>
                <a:cubicBezTo>
                  <a:pt x="230805" y="0"/>
                  <a:pt x="242888" y="12083"/>
                  <a:pt x="242888" y="26988"/>
                </a:cubicBezTo>
                <a:lnTo>
                  <a:pt x="242888" y="161925"/>
                </a:lnTo>
                <a:cubicBezTo>
                  <a:pt x="242888" y="176830"/>
                  <a:pt x="230805" y="188913"/>
                  <a:pt x="215901" y="188913"/>
                </a:cubicBezTo>
                <a:lnTo>
                  <a:pt x="26988" y="188913"/>
                </a:lnTo>
                <a:cubicBezTo>
                  <a:pt x="12083" y="188913"/>
                  <a:pt x="0" y="176830"/>
                  <a:pt x="0" y="161925"/>
                </a:cubicBezTo>
                <a:lnTo>
                  <a:pt x="0" y="26988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chemeClr val="accent1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64C115B-F6DC-4B8D-9A4F-1AC97F4B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681" y="1847056"/>
            <a:ext cx="242888" cy="80963"/>
          </a:xfrm>
          <a:custGeom xmlns:a="http://schemas.openxmlformats.org/drawingml/2006/main">
            <a:rect l="l" t="t" r="r" b="b"/>
            <a:pathLst>
              <a:path w="242888" h="80963">
                <a:moveTo>
                  <a:pt x="0" y="0"/>
                </a:moveTo>
                <a:lnTo>
                  <a:pt x="121444" y="80963"/>
                </a:ln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chemeClr val="accent1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23702C-2038-4923-ABEB-D3EB4AFF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6068" y="1822132"/>
            <a:ext cx="188259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供应异常演练邮件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F567EC-7E75-49DA-BEF4-2334419B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18" y="2441258"/>
            <a:ext cx="82287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Subject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8CF215-C473-4125-B37D-43E3274A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2738438"/>
            <a:ext cx="2761602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Q2J 座椅供应中断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934C1022-44F8-498A-A34F-F2CF408F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3219450"/>
            <a:ext cx="3562350" cy="9525"/>
          </a:xfrm>
          <a:custGeom xmlns:a="http://schemas.openxmlformats.org/drawingml/2006/main">
            <a:rect l="l" t="t" r="r" b="b"/>
            <a:pathLst>
              <a:path w="3562350" h="9525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chemeClr val="accent5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84E0DD-0695-4017-8C15-F1CAA3BB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3395662"/>
            <a:ext cx="65894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未来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DA551C5-5602-4017-AA1D-5921CF96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6400" y="3274695"/>
            <a:ext cx="1297537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48h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082EACE-726B-4279-A044-199D240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4119562"/>
            <a:ext cx="1931098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无法正常发运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CF588F3-A429-4F71-A029-73CA958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476250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A5E90E6-2963-4986-85C2-1477A2BA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0318" y="4898708"/>
            <a:ext cx="2937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9B5B00"/>
                </a:solidFill>
                <a:latin typeface="+mn-lt"/>
                <a:ea typeface="+mn-lt"/>
                <a:cs typeface="+mn-lt"/>
              </a:rPr>
              <a:t>模拟演练 · 不代表真实供应商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AB7D8D24-E0D0-4D6A-8CB5-F41F1B25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29146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992F320-F75A-4712-8413-27B15C2C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3362325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chemeClr val="accent6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6638EAF-4037-4106-977C-F5A1DAE1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608" y="3221591"/>
            <a:ext cx="448265" cy="385119"/>
          </a:xfrm>
          <a:custGeom xmlns:a="http://schemas.openxmlformats.org/drawingml/2006/main">
            <a:rect l="l" t="t" r="r" b="b"/>
            <a:pathLst>
              <a:path w="448265" h="385119">
                <a:moveTo>
                  <a:pt x="187759" y="20519"/>
                </a:moveTo>
                <a:lnTo>
                  <a:pt x="7603" y="321311"/>
                </a:lnTo>
                <a:cubicBezTo>
                  <a:pt x="46" y="334399"/>
                  <a:pt x="0" y="350513"/>
                  <a:pt x="7482" y="363644"/>
                </a:cubicBezTo>
                <a:cubicBezTo>
                  <a:pt x="14965" y="376774"/>
                  <a:pt x="28852" y="384949"/>
                  <a:pt x="43964" y="385119"/>
                </a:cubicBezTo>
                <a:lnTo>
                  <a:pt x="404319" y="385119"/>
                </a:lnTo>
                <a:cubicBezTo>
                  <a:pt x="419424" y="384945"/>
                  <a:pt x="433304" y="376773"/>
                  <a:pt x="440785" y="363650"/>
                </a:cubicBezTo>
                <a:cubicBezTo>
                  <a:pt x="448265" y="350526"/>
                  <a:pt x="448225" y="334420"/>
                  <a:pt x="440679" y="321333"/>
                </a:cubicBezTo>
                <a:lnTo>
                  <a:pt x="260524" y="20496"/>
                </a:lnTo>
                <a:cubicBezTo>
                  <a:pt x="252815" y="7772"/>
                  <a:pt x="239019" y="0"/>
                  <a:pt x="224141" y="0"/>
                </a:cubicBezTo>
                <a:cubicBezTo>
                  <a:pt x="209264" y="0"/>
                  <a:pt x="195468" y="7772"/>
                  <a:pt x="187759" y="204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chemeClr val="accent6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115D04D-1C7E-40AB-9167-3AFB3FD0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3517899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chemeClr val="accent6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F58FC14-39B8-4185-8EE8-924AB872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3935" y="3806190"/>
            <a:ext cx="51563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Q2J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747EA40-8F8B-4C9E-AEBC-16C595B1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2333625"/>
            <a:ext cx="1143000" cy="1228725"/>
          </a:xfrm>
          <a:custGeom xmlns:a="http://schemas.openxmlformats.org/drawingml/2006/main">
            <a:rect l="l" t="t" r="r" b="b"/>
            <a:pathLst>
              <a:path w="1143000" h="1228725">
                <a:moveTo>
                  <a:pt x="0" y="1228725"/>
                </a:moveTo>
                <a:lnTo>
                  <a:pt x="495300" y="1228725"/>
                </a:lnTo>
                <a:lnTo>
                  <a:pt x="495300" y="0"/>
                </a:ln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5ECAF60-7C6A-4307-9F4A-3DE4343D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3562350"/>
            <a:ext cx="1143000" cy="9525"/>
          </a:xfrm>
          <a:custGeom xmlns:a="http://schemas.openxmlformats.org/drawingml/2006/main"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B00C3E71-0B24-41C0-813B-82056433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3562350"/>
            <a:ext cx="1143000" cy="1228725"/>
          </a:xfrm>
          <a:custGeom xmlns:a="http://schemas.openxmlformats.org/drawingml/2006/main">
            <a:rect l="l" t="t" r="r" b="b"/>
            <a:pathLst>
              <a:path w="1143000" h="1228725">
                <a:moveTo>
                  <a:pt x="0" y="0"/>
                </a:moveTo>
                <a:lnTo>
                  <a:pt x="495300" y="0"/>
                </a:lnTo>
                <a:lnTo>
                  <a:pt x="495300" y="1228725"/>
                </a:lnTo>
                <a:lnTo>
                  <a:pt x="1143000" y="1228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3881F6-CBFE-49F2-975B-E83460F5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1885950"/>
            <a:ext cx="27241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17DE1AF-395A-40FE-A531-9B27893B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1718" y="2041208"/>
            <a:ext cx="121622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订单配置 01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6F92759-2ECD-4B8B-AF77-545EFA14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384" y="2318385"/>
            <a:ext cx="943386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91 台</a:t>
            </a:r>
          </a:p>
        </p:txBody>
      </p:sp>
      <p:sp>
        <p:nvSpPr>
          <p:cNvPr id="33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4345540-2FD8-4840-9DBF-F6EFB16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3105150"/>
            <a:ext cx="27241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8CCEAA4A-CDC1-4BC5-B400-17011E4E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1718" y="3260408"/>
            <a:ext cx="121622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订单配置 02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4D54151-B191-4C63-B6F2-845E6CC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384" y="3537585"/>
            <a:ext cx="943386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81 台</a:t>
            </a:r>
          </a:p>
        </p:txBody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3E4E35D-CDBF-49CD-9CCE-626BCB2D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4324350"/>
            <a:ext cx="27241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C2A548F-E09F-4F8E-B891-D32729A3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1718" y="4479608"/>
            <a:ext cx="121622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订单配置 03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2F9594F-7069-4311-A0E9-4DF0FB1B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384" y="4756785"/>
            <a:ext cx="943386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45 台</a:t>
            </a:r>
          </a:p>
        </p:txBody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2AAC7FE6-25A3-4A4E-BAE7-79841541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6600" y="5524500"/>
            <a:ext cx="38100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744009C-AD59-4B8C-BC25-BD1F3B0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7276" y="5681662"/>
            <a:ext cx="2328648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合计影响 217 台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C05D2D47-EFB0-4B41-A9A4-EC69087B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653857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数据类别：91 / 81 / 45 / 217 来自公开数据派生案例；邮件和 48 小时事故为确定性模拟。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E749B5F-EF9D-46D0-B316-2C7328E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4577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9027135-3FA6-402D-B58A-FD3177C1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10722712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一张 LangGraph 图同时管理主链和 MES 回流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1B1A76A-CA7B-4A04-877C-FB7E44D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541929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主任务与执行反馈共用同一套工具链、求解器和人工审批门。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03FBC2D-95BB-4AF9-8872-A26E5F6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3086100"/>
            <a:ext cx="9782175" cy="9525"/>
          </a:xfrm>
          <a:custGeom xmlns:a="http://schemas.openxmlformats.org/drawingml/2006/main">
            <a:rect l="l" t="t" r="r" b="b"/>
            <a:pathLst>
              <a:path w="9782175" h="9525">
                <a:moveTo>
                  <a:pt x="0" y="0"/>
                </a:moveTo>
                <a:lnTo>
                  <a:pt x="9782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chemeClr val="accent5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6318875-BC2D-4360-AC4A-75B70F38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3086100"/>
            <a:ext cx="8458200" cy="9525"/>
          </a:xfrm>
          <a:custGeom xmlns:a="http://schemas.openxmlformats.org/drawingml/2006/main">
            <a:rect l="l" t="t" r="r" b="b"/>
            <a:pathLst>
              <a:path w="8458200" h="9525">
                <a:moveTo>
                  <a:pt x="0" y="0"/>
                </a:moveTo>
                <a:lnTo>
                  <a:pt x="845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719339D-4C07-4EDA-9BA2-0F8B5706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2150" y="3086100"/>
            <a:ext cx="1323975" cy="9525"/>
          </a:xfrm>
          <a:custGeom xmlns:a="http://schemas.openxmlformats.org/drawingml/2006/main">
            <a:rect l="l" t="t" r="r" b="b"/>
            <a:pathLst>
              <a:path w="1323975" h="9525">
                <a:moveTo>
                  <a:pt x="0" y="0"/>
                </a:move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4CE77698-DF96-48E9-A2D5-2CCD356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F401F75-7F34-4DF6-8553-4336F116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" y="2952750"/>
            <a:ext cx="342900" cy="266700"/>
          </a:xfrm>
          <a:custGeom xmlns:a="http://schemas.openxmlformats.org/drawingml/2006/main">
            <a:rect l="l" t="t" r="r" b="b"/>
            <a:pathLst>
              <a:path w="342900" h="266700">
                <a:moveTo>
                  <a:pt x="0" y="38100"/>
                </a:moveTo>
                <a:cubicBezTo>
                  <a:pt x="0" y="17058"/>
                  <a:pt x="17058" y="0"/>
                  <a:pt x="38100" y="0"/>
                </a:cubicBezTo>
                <a:lnTo>
                  <a:pt x="304800" y="0"/>
                </a:lnTo>
                <a:cubicBezTo>
                  <a:pt x="325842" y="0"/>
                  <a:pt x="342900" y="17058"/>
                  <a:pt x="342900" y="38100"/>
                </a:cubicBezTo>
                <a:lnTo>
                  <a:pt x="342900" y="228600"/>
                </a:lnTo>
                <a:cubicBezTo>
                  <a:pt x="342900" y="249642"/>
                  <a:pt x="325842" y="266700"/>
                  <a:pt x="3048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7EE27F2-AA6B-4BF4-A935-2C7E4D30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" y="2990850"/>
            <a:ext cx="342900" cy="114300"/>
          </a:xfrm>
          <a:custGeom xmlns:a="http://schemas.openxmlformats.org/drawingml/2006/main">
            <a:rect l="l" t="t" r="r" b="b"/>
            <a:pathLst>
              <a:path w="342900" h="114300">
                <a:moveTo>
                  <a:pt x="0" y="0"/>
                </a:moveTo>
                <a:lnTo>
                  <a:pt x="171450" y="114300"/>
                </a:ln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ECDE936-4ED9-4A25-B663-CD89C9C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1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理解事故</a:t>
            </a:r>
          </a:p>
        </p:txBody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06782436-2D63-42AF-B856-AD6CEAC1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2D8EA4B-F12E-4D20-ADF5-509D29E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2700" y="2933700"/>
            <a:ext cx="228600" cy="304800"/>
          </a:xfrm>
          <a:custGeom xmlns:a="http://schemas.openxmlformats.org/drawingml/2006/main">
            <a:rect l="l" t="t" r="r" b="b"/>
            <a:pathLst>
              <a:path w="228600" h="304800">
                <a:moveTo>
                  <a:pt x="87916" y="304800"/>
                </a:move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lnTo>
                  <a:pt x="190500" y="0"/>
                </a:lnTo>
                <a:cubicBezTo>
                  <a:pt x="211542" y="0"/>
                  <a:pt x="228600" y="17058"/>
                  <a:pt x="228600" y="38100"/>
                </a:cubicBezTo>
                <a:lnTo>
                  <a:pt x="2286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A44FCC7-CD29-4B76-80C5-80D73FE6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24150" y="31813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3A0D5EE-C3A5-4F8D-A4DF-39D8BADF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3009900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D152941-500F-4B55-A650-6024277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3086100"/>
            <a:ext cx="38100" cy="9525"/>
          </a:xfrm>
          <a:custGeom xmlns:a="http://schemas.openxmlformats.org/drawingml/2006/main">
            <a:rect l="l" t="t" r="r" b="b"/>
            <a:pathLst>
              <a:path w="38100" h="952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5F8BAFC-88F5-4E4E-B7EB-A7C736BA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12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校验实体</a:t>
            </a:r>
          </a:p>
        </p:txBody>
      </p:sp>
      <p:sp>
        <p:nvSpPr>
          <p:cNvPr id="21" name="Ellipse 21">
            <a:extLst xmlns:a="http://schemas.openxmlformats.org/drawingml/2006/main">
              <a:ext uri="{FF2B5EF4-FFF2-40B4-BE49-F238E27FC236}">
                <a16:creationId xmlns:a16="http://schemas.microsoft.com/office/drawing/2014/main" id="{7A156911-3BB7-4ECD-A4AC-C8F5C62F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90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0076B29-7195-4B75-BEAB-A496035B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6700" y="3181350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38100"/>
                </a:moveTo>
                <a:cubicBezTo>
                  <a:pt x="0" y="59142"/>
                  <a:pt x="17058" y="76200"/>
                  <a:pt x="38100" y="76200"/>
                </a:cubicBezTo>
                <a:cubicBezTo>
                  <a:pt x="59142" y="76200"/>
                  <a:pt x="76200" y="59142"/>
                  <a:pt x="76200" y="38100"/>
                </a:cubicBezTo>
                <a:cubicBezTo>
                  <a:pt x="76200" y="17058"/>
                  <a:pt x="59142" y="0"/>
                  <a:pt x="38100" y="0"/>
                </a:cubicBezTo>
                <a:cubicBezTo>
                  <a:pt x="17058" y="0"/>
                  <a:pt x="0" y="17058"/>
                  <a:pt x="0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90495B3-DC22-4737-9920-5EC09D7C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2914650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38100" y="76200"/>
                </a:moveTo>
                <a:cubicBezTo>
                  <a:pt x="59142" y="76200"/>
                  <a:pt x="76200" y="59142"/>
                  <a:pt x="76200" y="38100"/>
                </a:cubicBezTo>
                <a:cubicBezTo>
                  <a:pt x="76200" y="17058"/>
                  <a:pt x="59142" y="0"/>
                  <a:pt x="38100" y="0"/>
                </a:cubicBezTo>
                <a:cubicBezTo>
                  <a:pt x="17058" y="0"/>
                  <a:pt x="0" y="17058"/>
                  <a:pt x="0" y="38100"/>
                </a:cubicBezTo>
                <a:cubicBezTo>
                  <a:pt x="0" y="59142"/>
                  <a:pt x="17058" y="76200"/>
                  <a:pt x="38100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01BE5C6-862C-4364-ADC4-2BDE03EF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4800" y="2952750"/>
            <a:ext cx="285750" cy="266700"/>
          </a:xfrm>
          <a:custGeom xmlns:a="http://schemas.openxmlformats.org/drawingml/2006/main">
            <a:rect l="l" t="t" r="r" b="b"/>
            <a:pathLst>
              <a:path w="285750" h="266700">
                <a:moveTo>
                  <a:pt x="114300" y="266700"/>
                </a:moveTo>
                <a:lnTo>
                  <a:pt x="219075" y="266700"/>
                </a:lnTo>
                <a:cubicBezTo>
                  <a:pt x="255899" y="266700"/>
                  <a:pt x="285750" y="236849"/>
                  <a:pt x="285750" y="200025"/>
                </a:cubicBezTo>
                <a:cubicBezTo>
                  <a:pt x="285750" y="163201"/>
                  <a:pt x="255899" y="133350"/>
                  <a:pt x="219075" y="133350"/>
                </a:cubicBezTo>
                <a:lnTo>
                  <a:pt x="66675" y="133350"/>
                </a:ln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037EE68-D1B8-450B-9990-CD1FAE85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33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规划工具链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7374762B-4458-483C-9230-75CD9D87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11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FE17E82-540B-48BF-9E2A-8E724AD9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7850" y="2914650"/>
            <a:ext cx="304800" cy="114300"/>
          </a:xfrm>
          <a:custGeom xmlns:a="http://schemas.openxmlformats.org/drawingml/2006/main">
            <a:rect l="l" t="t" r="r" b="b"/>
            <a:pathLst>
              <a:path w="304800" h="114300">
                <a:moveTo>
                  <a:pt x="0" y="57150"/>
                </a:moveTo>
                <a:cubicBezTo>
                  <a:pt x="0" y="88713"/>
                  <a:pt x="68232" y="114300"/>
                  <a:pt x="152400" y="114300"/>
                </a:cubicBezTo>
                <a:cubicBezTo>
                  <a:pt x="236568" y="114300"/>
                  <a:pt x="304800" y="88713"/>
                  <a:pt x="304800" y="57150"/>
                </a:cubicBezTo>
                <a:cubicBezTo>
                  <a:pt x="304800" y="25587"/>
                  <a:pt x="236568" y="0"/>
                  <a:pt x="152400" y="0"/>
                </a:cubicBezTo>
                <a:cubicBezTo>
                  <a:pt x="68232" y="0"/>
                  <a:pt x="0" y="25587"/>
                  <a:pt x="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20BB2A4-6F45-48DD-A84A-9DEBD75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7850" y="2971800"/>
            <a:ext cx="304800" cy="171450"/>
          </a:xfrm>
          <a:custGeom xmlns:a="http://schemas.openxmlformats.org/drawingml/2006/main">
            <a:rect l="l" t="t" r="r" b="b"/>
            <a:pathLst>
              <a:path w="304800" h="171450">
                <a:moveTo>
                  <a:pt x="0" y="0"/>
                </a:moveTo>
                <a:lnTo>
                  <a:pt x="0" y="114300"/>
                </a:lnTo>
                <a:cubicBezTo>
                  <a:pt x="0" y="145863"/>
                  <a:pt x="68232" y="171450"/>
                  <a:pt x="152400" y="171450"/>
                </a:cubicBezTo>
                <a:cubicBezTo>
                  <a:pt x="236568" y="171450"/>
                  <a:pt x="304800" y="145863"/>
                  <a:pt x="304800" y="114300"/>
                </a:cubicBez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12C054C-3790-41BD-B67A-DFCB4CF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7850" y="3086100"/>
            <a:ext cx="304800" cy="171450"/>
          </a:xfrm>
          <a:custGeom xmlns:a="http://schemas.openxmlformats.org/drawingml/2006/main">
            <a:rect l="l" t="t" r="r" b="b"/>
            <a:pathLst>
              <a:path w="304800" h="171450">
                <a:moveTo>
                  <a:pt x="0" y="0"/>
                </a:moveTo>
                <a:lnTo>
                  <a:pt x="0" y="114300"/>
                </a:lnTo>
                <a:cubicBezTo>
                  <a:pt x="0" y="145863"/>
                  <a:pt x="68232" y="171450"/>
                  <a:pt x="152400" y="171450"/>
                </a:cubicBezTo>
                <a:cubicBezTo>
                  <a:pt x="236568" y="171450"/>
                  <a:pt x="304800" y="145863"/>
                  <a:pt x="304800" y="114300"/>
                </a:cubicBez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C52C03A-B6F9-45ED-AD35-03CA3385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4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执行工具链</a:t>
            </a:r>
          </a:p>
        </p:txBody>
      </p:sp>
      <p:sp>
        <p:nvSpPr>
          <p:cNvPr id="35" name="Ellipse 35">
            <a:extLst xmlns:a="http://schemas.openxmlformats.org/drawingml/2006/main">
              <a:ext uri="{FF2B5EF4-FFF2-40B4-BE49-F238E27FC236}">
                <a16:creationId xmlns:a16="http://schemas.microsoft.com/office/drawing/2014/main" id="{AE34C933-07AF-4712-BAD2-2570E40D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AE1460C-B955-4A7F-AF21-F8AF991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0900" y="3086100"/>
            <a:ext cx="114300" cy="152400"/>
          </a:xfrm>
          <a:custGeom xmlns:a="http://schemas.openxmlformats.org/drawingml/2006/main"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133350"/>
                </a:lnTo>
                <a:cubicBezTo>
                  <a:pt x="114300" y="143871"/>
                  <a:pt x="105771" y="152400"/>
                  <a:pt x="95250" y="152400"/>
                </a:cubicBezTo>
                <a:lnTo>
                  <a:pt x="19050" y="152400"/>
                </a:lnTo>
                <a:cubicBezTo>
                  <a:pt x="8529" y="152400"/>
                  <a:pt x="0" y="143871"/>
                  <a:pt x="0" y="13335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77D403A7-33C1-4390-9823-44FB4FD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0" y="3009900"/>
            <a:ext cx="114300" cy="228600"/>
          </a:xfrm>
          <a:custGeom xmlns:a="http://schemas.openxmlformats.org/drawingml/2006/main">
            <a:rect l="l" t="t" r="r" b="b"/>
            <a:pathLst>
              <a:path w="114300" h="22860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209550"/>
                </a:lnTo>
                <a:cubicBezTo>
                  <a:pt x="114300" y="220071"/>
                  <a:pt x="105771" y="228600"/>
                  <a:pt x="952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BD1EEBF-125B-464C-BB72-15B051EC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2933700"/>
            <a:ext cx="114300" cy="304800"/>
          </a:xfrm>
          <a:custGeom xmlns:a="http://schemas.openxmlformats.org/drawingml/2006/main">
            <a:rect l="l" t="t" r="r" b="b"/>
            <a:pathLst>
              <a:path w="114300" h="30480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285750"/>
                </a:lnTo>
                <a:cubicBezTo>
                  <a:pt x="114300" y="296271"/>
                  <a:pt x="105771" y="304800"/>
                  <a:pt x="95250" y="304800"/>
                </a:cubicBezTo>
                <a:lnTo>
                  <a:pt x="19050" y="304800"/>
                </a:lnTo>
                <a:cubicBezTo>
                  <a:pt x="8529" y="304800"/>
                  <a:pt x="0" y="296271"/>
                  <a:pt x="0" y="28575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3368A81-C556-411F-B278-5C2DDCCE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9950" y="3238500"/>
            <a:ext cx="266700" cy="9525"/>
          </a:xfrm>
          <a:custGeom xmlns:a="http://schemas.openxmlformats.org/drawingml/2006/main"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3DDF0B4-88BB-415B-9FC3-F2849FE6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75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CP-SAT 三案</a:t>
            </a:r>
          </a:p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F2B4F1D4-7ABA-491B-85C8-6FC87C33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53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085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3EA7512-0D92-409E-A9C8-50097F9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37291" y="291465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4BD25F2-7D1F-4C6E-8668-7BBB011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1600" y="31813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013C7EE5-FF33-424E-B3D9-0E0A99B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596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独立验证</a:t>
            </a:r>
          </a:p>
        </p:txBody>
      </p:sp>
      <p:sp>
        <p:nvSpPr>
          <p:cNvPr id="49" name="Ellipse 49">
            <a:extLst xmlns:a="http://schemas.openxmlformats.org/drawingml/2006/main">
              <a:ext uri="{FF2B5EF4-FFF2-40B4-BE49-F238E27FC236}">
                <a16:creationId xmlns:a16="http://schemas.microsoft.com/office/drawing/2014/main" id="{802B200B-9492-4481-B9C2-FAAE5432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25908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8575">
            <a:solidFill>
              <a:schemeClr val="accent1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77B43BF-F3BC-4C4F-AB5C-818D81A8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7650" y="2886075"/>
            <a:ext cx="177800" cy="177800"/>
          </a:xfrm>
          <a:custGeom xmlns:a="http://schemas.openxmlformats.org/drawingml/2006/main">
            <a:rect l="l" t="t" r="r" b="b"/>
            <a:pathLst>
              <a:path w="177800" h="177800">
                <a:moveTo>
                  <a:pt x="0" y="88900"/>
                </a:move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rgbClr val="FFFFFF"/>
            </a:solidFill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E42F4A2-ABCD-4B31-BDA3-AA5E1F70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3200" y="3152775"/>
            <a:ext cx="177800" cy="133350"/>
          </a:xfrm>
          <a:custGeom xmlns:a="http://schemas.openxmlformats.org/drawingml/2006/main">
            <a:rect l="l" t="t" r="r" b="b"/>
            <a:pathLst>
              <a:path w="177800" h="133350">
                <a:moveTo>
                  <a:pt x="0" y="133350"/>
                </a:moveTo>
                <a:lnTo>
                  <a:pt x="0" y="88900"/>
                </a:lnTo>
                <a:cubicBezTo>
                  <a:pt x="0" y="39802"/>
                  <a:pt x="39802" y="0"/>
                  <a:pt x="88900" y="0"/>
                </a:cubicBezTo>
                <a:lnTo>
                  <a:pt x="17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rgbClr val="FFFFFF"/>
            </a:solidFill>
          </a:ln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10D6A2E-0795-4BDF-BD8E-B578E2E9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3225" y="3197224"/>
            <a:ext cx="133350" cy="88900"/>
          </a:xfrm>
          <a:custGeom xmlns:a="http://schemas.openxmlformats.org/drawingml/2006/main">
            <a:rect l="l" t="t" r="r" b="b"/>
            <a:pathLst>
              <a:path w="133350" h="88900">
                <a:moveTo>
                  <a:pt x="0" y="44450"/>
                </a:moveTo>
                <a:lnTo>
                  <a:pt x="44450" y="88900"/>
                </a:ln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rgbClr val="FFFFFF"/>
            </a:solidFill>
          </a:ln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DBE5215F-E901-4BEB-8542-90CED5B8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21710" y="376523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人工审批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E51A3881-EDE8-4B45-BB4A-02EBF3C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7850" y="3581400"/>
            <a:ext cx="1028700" cy="990600"/>
          </a:xfrm>
          <a:custGeom xmlns:a="http://schemas.openxmlformats.org/drawingml/2006/main">
            <a:rect l="l" t="t" r="r" b="b"/>
            <a:pathLst>
              <a:path w="1028700" h="990600">
                <a:moveTo>
                  <a:pt x="1028700" y="0"/>
                </a:moveTo>
                <a:lnTo>
                  <a:pt x="1028700" y="990600"/>
                </a:ln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A085"/>
            </a:solidFill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45305E5-4685-45E1-92CC-D2C90F02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7850" y="3581400"/>
            <a:ext cx="1028700" cy="1638300"/>
          </a:xfrm>
          <a:custGeom xmlns:a="http://schemas.openxmlformats.org/drawingml/2006/main">
            <a:rect l="l" t="t" r="r" b="b"/>
            <a:pathLst>
              <a:path w="1028700" h="1638300">
                <a:moveTo>
                  <a:pt x="1028700" y="0"/>
                </a:moveTo>
                <a:lnTo>
                  <a:pt x="1028700" y="1638300"/>
                </a:ln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5484D"/>
            </a:solidFill>
          </a:ln>
        </p:spPr>
      </p:sp>
      <p:sp>
        <p:nvSpPr>
          <p:cNvPr id="59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E64BAD7A-30A3-415D-BA18-B79634D3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0350" y="430530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>
            <a:noFill/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745DD5DD-5CA6-48C0-B158-7BE4E1D9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8856" y="4463415"/>
            <a:ext cx="41400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16956"/>
                </a:solidFill>
                <a:latin typeface="+mn-lt"/>
                <a:ea typeface="+mn-lt"/>
                <a:cs typeface="+mn-lt"/>
              </a:rPr>
              <a:t>批准 → 双 hash → draft_only</a:t>
            </a:r>
          </a:p>
        </p:txBody>
      </p:sp>
      <p:sp>
        <p:nvSpPr>
          <p:cNvPr id="61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2AB94B85-B7D4-4528-8753-05C62870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2850" y="4953000"/>
            <a:ext cx="1905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>
            <a:noFill/>
          </a:ln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0DE7BAF5-49A6-4E25-986C-6C28DFA8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356" y="5111115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A82C34"/>
                </a:solidFill>
                <a:latin typeface="+mn-lt"/>
                <a:ea typeface="+mn-lt"/>
                <a:cs typeface="+mn-lt"/>
              </a:rPr>
              <a:t>驳回 / 回流变更 → 0 工单</a:t>
            </a:r>
          </a:p>
        </p:txBody>
      </p:sp>
      <p:sp>
        <p:nvSpPr>
          <p:cNvPr id="64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AD250157-9495-4CB3-B5D7-615203B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257800"/>
            <a:ext cx="50673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3BC12D7B-AD4C-48E9-AE1E-6039220D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18" y="5403532"/>
            <a:ext cx="112737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4 类工具 · 5 次调用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8B46BCF2-C600-4A3A-92CB-B6C6DA77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5624512"/>
            <a:ext cx="493657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快照 1 → 规则 2 → 影响 1 → 求解 1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9E4A47D9-82B1-43C1-AAE3-D659A529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437388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不是四个分支：按依赖顺序组合执行；MES 变更后回到规划工具链。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217DCE45-EDA7-41D2-A160-BEBA741A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3721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D91D043-A9EB-4455-95FF-08A6042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76695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公开工作簿原始行进入了运行链路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FA326A6-7871-4E70-842A-1BD6200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70266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不只说“参考了公开数据”，而是校验、抽取、溯源并验证数量守恒。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EC11FCB-F49D-4627-BEF8-61CAB9E5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1917382"/>
            <a:ext cx="4610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产品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41E4649-5384-4FCD-BA6E-28640094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462" y="2259330"/>
            <a:ext cx="171582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28,049</a:t>
            </a:r>
          </a:p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4AC28EEF-EBC9-431E-96EF-4172F8B7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2857500"/>
            <a:ext cx="2476500" cy="9525"/>
          </a:xfrm>
          <a:custGeom xmlns:a="http://schemas.openxmlformats.org/drawingml/2006/main"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9882240-3185-49D6-BA4C-1AC8092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3174682"/>
            <a:ext cx="80299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BOM 行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AB451B1-C794-467C-B5F2-E847AA2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462" y="3516630"/>
            <a:ext cx="171582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87,059</a:t>
            </a:r>
          </a:p>
        </p:txBody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0D060DA4-DBE3-461A-8A12-738CFFF3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4114800"/>
            <a:ext cx="2476500" cy="9525"/>
          </a:xfrm>
          <a:custGeom xmlns:a="http://schemas.openxmlformats.org/drawingml/2006/main"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D14137-6EA9-479C-B1BA-82C1B26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4431982"/>
            <a:ext cx="68313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需求行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8C07120-A978-4E9B-B99D-EFA59CCC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462" y="4773930"/>
            <a:ext cx="171582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28,000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BBC5FDD-0D99-4B9A-96A1-3C66194E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5384482"/>
            <a:ext cx="222688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12 节点 · 11 条供应弧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EF06F08-753C-405F-85EA-6E3B8A27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2343150"/>
            <a:ext cx="9525" cy="2876550"/>
          </a:xfrm>
          <a:custGeom xmlns:a="http://schemas.openxmlformats.org/drawingml/2006/main"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5"/>
            </a:solidFill>
          </a:ln>
        </p:spPr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0840BA54-3798-49A7-BA3E-3C27056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1432E0A-31DC-4A56-9F5C-9E5AB4E4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2214562"/>
            <a:ext cx="228600" cy="85725"/>
          </a:xfrm>
          <a:custGeom xmlns:a="http://schemas.openxmlformats.org/drawingml/2006/main">
            <a:rect l="l" t="t" r="r" b="b"/>
            <a:pathLst>
              <a:path w="228600" h="85725">
                <a:moveTo>
                  <a:pt x="0" y="42862"/>
                </a:moveTo>
                <a:cubicBezTo>
                  <a:pt x="0" y="66535"/>
                  <a:pt x="51174" y="85725"/>
                  <a:pt x="114300" y="85725"/>
                </a:cubicBezTo>
                <a:cubicBezTo>
                  <a:pt x="177426" y="85725"/>
                  <a:pt x="228600" y="66535"/>
                  <a:pt x="228600" y="42862"/>
                </a:cubicBezTo>
                <a:cubicBezTo>
                  <a:pt x="228600" y="19190"/>
                  <a:pt x="177426" y="0"/>
                  <a:pt x="114300" y="0"/>
                </a:cubicBezTo>
                <a:cubicBezTo>
                  <a:pt x="51174" y="0"/>
                  <a:pt x="0" y="19190"/>
                  <a:pt x="0" y="428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BABFF0F-2AC4-4A54-8AE0-05816AFE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2257425"/>
            <a:ext cx="228600" cy="128588"/>
          </a:xfrm>
          <a:custGeom xmlns:a="http://schemas.openxmlformats.org/drawingml/2006/main">
            <a:rect l="l" t="t" r="r" b="b"/>
            <a:pathLst>
              <a:path w="228600" h="128588">
                <a:moveTo>
                  <a:pt x="0" y="0"/>
                </a:moveTo>
                <a:lnTo>
                  <a:pt x="0" y="85725"/>
                </a:lnTo>
                <a:cubicBezTo>
                  <a:pt x="0" y="109397"/>
                  <a:pt x="51174" y="128588"/>
                  <a:pt x="114300" y="128588"/>
                </a:cubicBezTo>
                <a:cubicBezTo>
                  <a:pt x="177426" y="128588"/>
                  <a:pt x="228600" y="109397"/>
                  <a:pt x="228600" y="85725"/>
                </a:cubicBez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5ABFFFA-8A14-4688-A500-6422472C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2343150"/>
            <a:ext cx="228600" cy="128588"/>
          </a:xfrm>
          <a:custGeom xmlns:a="http://schemas.openxmlformats.org/drawingml/2006/main">
            <a:rect l="l" t="t" r="r" b="b"/>
            <a:pathLst>
              <a:path w="228600" h="128588">
                <a:moveTo>
                  <a:pt x="0" y="0"/>
                </a:moveTo>
                <a:lnTo>
                  <a:pt x="0" y="85725"/>
                </a:lnTo>
                <a:cubicBezTo>
                  <a:pt x="0" y="109397"/>
                  <a:pt x="51174" y="128588"/>
                  <a:pt x="114300" y="128588"/>
                </a:cubicBezTo>
                <a:cubicBezTo>
                  <a:pt x="177426" y="128588"/>
                  <a:pt x="228600" y="109397"/>
                  <a:pt x="228600" y="85725"/>
                </a:cubicBez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ADA2373-465F-4F3E-8F78-A8254AB9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2072640"/>
            <a:ext cx="123956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原始 .xlsb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F997830-F685-49C8-B341-C48D003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2412682"/>
            <a:ext cx="270403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完整文件 SHA-256 先校验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D791290A-C6DA-41CD-B12D-D75EE3D9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29908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0E04F87-A2A4-4CC6-AE99-470A8E4C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5669" y="3177540"/>
            <a:ext cx="29816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61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E8F099B-5430-4249-B192-4C564EB6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3025140"/>
            <a:ext cx="172298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第 61 期原始行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D766EC6-BD05-4A14-99EB-596C804E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3365182"/>
            <a:ext cx="391271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3 个重复 BOM 配置 · 217 条逐车需求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10DEACB1-B512-462E-9BC1-709E7D70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3943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3610098-B086-444F-B2B5-F9F508F1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875" y="43338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406E71D-3325-41FF-81F4-8139207D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1052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00C40DC-22A2-49E1-A0BB-7DF7018C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3338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82CDE54-A39C-46C8-871F-C671F148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3312" y="42195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26BF19C-96E7-4F65-B722-AF934FF2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6188" y="42195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A50800A-27A3-42CF-A9B5-2C6898B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5566" y="4272439"/>
            <a:ext cx="41148" cy="65808"/>
          </a:xfrm>
          <a:custGeom xmlns:a="http://schemas.openxmlformats.org/drawingml/2006/main">
            <a:rect l="l" t="t" r="r" b="b"/>
            <a:pathLst>
              <a:path w="41148" h="65808">
                <a:moveTo>
                  <a:pt x="0" y="65808"/>
                </a:moveTo>
                <a:lnTo>
                  <a:pt x="411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18A5BA53-F8B6-4315-84BA-46126065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7047" y="4158124"/>
            <a:ext cx="41105" cy="65780"/>
          </a:xfrm>
          <a:custGeom xmlns:a="http://schemas.openxmlformats.org/drawingml/2006/main">
            <a:rect l="l" t="t" r="r" b="b"/>
            <a:pathLst>
              <a:path w="41105" h="65780">
                <a:moveTo>
                  <a:pt x="0" y="65780"/>
                </a:moveTo>
                <a:lnTo>
                  <a:pt x="41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1DCD124-3D2D-472F-923B-6BCEA63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7104" y="4272510"/>
            <a:ext cx="41091" cy="65722"/>
          </a:xfrm>
          <a:custGeom xmlns:a="http://schemas.openxmlformats.org/drawingml/2006/main">
            <a:rect l="l" t="t" r="r" b="b"/>
            <a:pathLst>
              <a:path w="41091" h="65722">
                <a:moveTo>
                  <a:pt x="0" y="0"/>
                </a:moveTo>
                <a:lnTo>
                  <a:pt x="41091" y="657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CE1DD797-FDB0-4B3F-A82B-05D2B714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8513" y="4158139"/>
            <a:ext cx="41162" cy="65865"/>
          </a:xfrm>
          <a:custGeom xmlns:a="http://schemas.openxmlformats.org/drawingml/2006/main">
            <a:rect l="l" t="t" r="r" b="b"/>
            <a:pathLst>
              <a:path w="41162" h="65865">
                <a:moveTo>
                  <a:pt x="0" y="0"/>
                </a:moveTo>
                <a:lnTo>
                  <a:pt x="41162" y="6586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FE9E410-1071-4AEC-B451-89DB17C4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3977640"/>
            <a:ext cx="150671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lineage.json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AD7C2A0-8BD2-42AF-A7B7-0DDE9AD8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4317682"/>
            <a:ext cx="425302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需求、BOM、库存、容量保留工作表行号</a:t>
            </a:r>
          </a:p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846C95E2-5C27-4255-ADB2-ACFB9B7F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48958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B782B64-E27C-489D-9484-BA8DBDAF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6881" y="5072062"/>
            <a:ext cx="279010" cy="254975"/>
          </a:xfrm>
          <a:custGeom xmlns:a="http://schemas.openxmlformats.org/drawingml/2006/main">
            <a:rect l="l" t="t" r="r" b="b"/>
            <a:pathLst>
              <a:path w="279010" h="254975">
                <a:moveTo>
                  <a:pt x="140154" y="254975"/>
                </a:moveTo>
                <a:cubicBezTo>
                  <a:pt x="50649" y="227230"/>
                  <a:pt x="0" y="132765"/>
                  <a:pt x="26425" y="42862"/>
                </a:cubicBezTo>
                <a:cubicBezTo>
                  <a:pt x="70939" y="44899"/>
                  <a:pt x="114496" y="29526"/>
                  <a:pt x="147869" y="0"/>
                </a:cubicBezTo>
                <a:cubicBezTo>
                  <a:pt x="181242" y="29526"/>
                  <a:pt x="224800" y="44899"/>
                  <a:pt x="269313" y="42862"/>
                </a:cubicBezTo>
                <a:cubicBezTo>
                  <a:pt x="279010" y="75854"/>
                  <a:pt x="278561" y="110999"/>
                  <a:pt x="268027" y="14373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FCE4279-9F7B-4E2B-B63B-9D2644E4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7612" y="5272088"/>
            <a:ext cx="85725" cy="57150"/>
          </a:xfrm>
          <a:custGeom xmlns:a="http://schemas.openxmlformats.org/drawingml/2006/main">
            <a:rect l="l" t="t" r="r" b="b"/>
            <a:pathLst>
              <a:path w="85725" h="57150">
                <a:moveTo>
                  <a:pt x="0" y="28575"/>
                </a:moveTo>
                <a:lnTo>
                  <a:pt x="28575" y="5715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0D2A9C0-F8C2-4235-B093-3842A8F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4930140"/>
            <a:ext cx="115051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217 → 217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6DF731E-7978-4E08-83F9-EF6639FD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5270182"/>
            <a:ext cx="198255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聚合前后数量差为 0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A3BAC180-A287-4795-A9EB-E4A5AA44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250" y="179070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0019150D-FEF4-42DC-9580-5CF37D66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756" y="1977390"/>
            <a:ext cx="23302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公开层 · CC BY 4.0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0CF0896A-878B-4870-9B3F-AA8CFDF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2393632"/>
            <a:ext cx="197647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BOM · 需求 · 库存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EACE1B5E-2E1A-4712-AC69-10188BA7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2736532"/>
            <a:ext cx="23046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提前期 · 容量 · 供应弧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4139590A-0CDA-4B6C-AA6C-240D6A0B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042" y="3092768"/>
            <a:ext cx="328498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行业背景随机化数据，不是企业原始流水</a:t>
            </a:r>
          </a:p>
        </p:txBody>
      </p:sp>
      <p:sp>
        <p:nvSpPr>
          <p:cNvPr id="55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209EC218-C6CE-4D59-B901-BDF1285B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250" y="369570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FFCF8C"/>
            </a:solidFill>
          </a:ln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F7A34EA0-782F-4582-807D-689AD51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756" y="3882390"/>
            <a:ext cx="282975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9B5B00"/>
                </a:solidFill>
                <a:latin typeface="+mn-lt"/>
                <a:ea typeface="+mn-lt"/>
                <a:cs typeface="+mn-lt"/>
              </a:rPr>
              <a:t>模拟层 · seed 20260809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A508E734-4799-4908-8E75-B7D21D7D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4298632"/>
            <a:ext cx="23046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客户 · 邮件 · 应急报价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446BB82A-8600-4FD9-8163-D8154483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4641532"/>
            <a:ext cx="23046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预算 · 审批 · 随机事故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411E3F35-A9EA-465B-BE26-F2053B7F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042" y="4997768"/>
            <a:ext cx="273977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不能归因于数据集作者或真实企业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AE61458C-40AA-4843-A66F-99242C3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85510"/>
            <a:ext cx="678247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Moetz, Quetschlich &amp; Otto · DOI 10.17632/pr3sdy5vp3.1 · Mendeley Data · CC BY 4.0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9164D69E-826C-487E-AAB6-D0EAC52F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4087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99D62-EBCC-4EB4-A6F2-558D174B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9196121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同一组硬约束，给出三种真正不同的取舍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714349F-6611-4962-BDE7-06630ECA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01408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不是改标题：服务、应急量和成本随策略偏好发生真实变化。</a:t>
            </a:r>
          </a:p>
        </p:txBody>
      </p:sp>
      <p:sp>
        <p:nvSpPr>
          <p:cNvPr id="4" name="Line 4">
            <a:extLst xmlns:a="http://schemas.openxmlformats.org/drawingml/2006/main">
              <a:ext uri="{FF2B5EF4-FFF2-40B4-BE49-F238E27FC236}">
                <a16:creationId xmlns:a16="http://schemas.microsoft.com/office/drawing/2014/main" id="{CEC77C7E-17F0-41FE-8878-C3984883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1866900"/>
            <a:ext cx="6286500" cy="9525"/>
          </a:xfrm>
          <a:custGeom xmlns:a="http://schemas.openxmlformats.org/drawingml/2006/main"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1E56A1CB-42D3-499C-990E-6958D668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1790700"/>
            <a:ext cx="9525" cy="152400"/>
          </a:xfrm>
          <a:custGeom xmlns:a="http://schemas.openxmlformats.org/drawingml/2006/main"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70458061-B7E9-4BFB-BD48-3967D1F0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1790700"/>
            <a:ext cx="9525" cy="152400"/>
          </a:xfrm>
          <a:custGeom xmlns:a="http://schemas.openxmlformats.org/drawingml/2006/main"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0F1B2B78-D6CF-4112-B446-6786DF1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1790700"/>
            <a:ext cx="9525" cy="152400"/>
          </a:xfrm>
          <a:custGeom xmlns:a="http://schemas.openxmlformats.org/drawingml/2006/main"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34DE397-C2C3-4DD3-9C28-4707AE46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229" y="1546860"/>
            <a:ext cx="10104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0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B5076A5-394D-4AF7-9176-56963B21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3627" y="1546860"/>
            <a:ext cx="488747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约 109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718B3D-B98B-4E3D-9BC7-5164E7D0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6877" y="1546860"/>
            <a:ext cx="488747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217 台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DD35FDA-0662-4435-BB29-EAB81E7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2343150"/>
            <a:ext cx="6286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CEBF0"/>
          </a:solidFill>
          <a:ln xmlns:a="http://schemas.openxmlformats.org/drawingml/2006/main">
            <a:noFill/>
          </a:ln>
        </p:spPr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7E0C3BB-397B-4E4F-A34E-43C798F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2343150"/>
            <a:ext cx="26384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C719B8-70B2-4B85-8707-2337A25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2848" y="2462212"/>
            <a:ext cx="37270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91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55D2E92-3B3D-4D52-B224-BDFCD284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5375" y="2526982"/>
            <a:ext cx="89415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126 延迟</a:t>
            </a:r>
          </a:p>
        </p:txBody>
      </p:sp>
      <p:sp>
        <p:nvSpPr>
          <p:cNvPr id="1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7F9DE91-FA47-4E9E-A315-3AC417FC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3467100"/>
            <a:ext cx="6286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CEBF0"/>
          </a:solidFill>
          <a:ln xmlns:a="http://schemas.openxmlformats.org/drawingml/2006/main">
            <a:noFill/>
          </a:ln>
        </p:spPr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85E7D1-D62C-4544-B178-94F2CA5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3467100"/>
            <a:ext cx="13049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D9281203-873D-4376-8098-86B9CBEF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6098" y="3586162"/>
            <a:ext cx="37270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8257D25-C64E-4132-8EE0-01BD611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7675" y="3650932"/>
            <a:ext cx="89415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172 延迟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6E3E4E8-8C12-4AE4-A14F-32DB13D9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591050"/>
            <a:ext cx="6286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CEBF0"/>
          </a:solidFill>
          <a:ln xmlns:a="http://schemas.openxmlformats.org/drawingml/2006/main">
            <a:noFill/>
          </a:ln>
        </p:spPr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86574D7C-7301-41F6-B16D-4E6D42CD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591050"/>
            <a:ext cx="9525" cy="552450"/>
          </a:xfrm>
          <a:custGeom xmlns:a="http://schemas.openxmlformats.org/drawingml/2006/main">
            <a:rect l="l" t="t" r="r" b="b"/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6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887B550-D122-42F0-83B9-06C5280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0925" y="4774882"/>
            <a:ext cx="89415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217 延迟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788A0498-642F-4120-801F-D7D1A37F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846" y="2296478"/>
            <a:ext cx="1107243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保交付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90A979-A1A7-42FC-A14D-ADBFA9C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418" y="2717482"/>
            <a:ext cx="151609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应急 91 · ¥728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2CB3B08-4409-4071-B4C4-A26F3223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846" y="3420428"/>
            <a:ext cx="746798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平衡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8B2A577-D2B7-4829-80A9-03E4320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418" y="3841432"/>
            <a:ext cx="151609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应急 45 · ¥360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28C240E-A8DF-4272-9A85-5010C065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846" y="4544378"/>
            <a:ext cx="1107243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9B5B00"/>
                </a:solidFill>
                <a:latin typeface="+mn-lt"/>
                <a:ea typeface="+mn-lt"/>
                <a:cs typeface="+mn-lt"/>
              </a:rPr>
              <a:t>少变更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1426998B-85DB-4749-81CF-D3BE15F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418" y="4965382"/>
            <a:ext cx="114959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应急 0 · ¥0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5485137-B305-476E-BF21-C9C10CB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6154" y="2013585"/>
            <a:ext cx="72908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6A085"/>
                </a:solidFill>
                <a:latin typeface="+mn-lt"/>
                <a:ea typeface="+mn-lt"/>
                <a:cs typeface="+mn-lt"/>
              </a:rPr>
              <a:t>OPTIMAL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C5C34A6-5222-4E6F-A358-70ADBBD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7041" y="241935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3398A09-0E0D-460D-9005-678E4071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01350" y="26860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072303FE-A845-4620-9F44-AD7E118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3093" y="2918460"/>
            <a:ext cx="64221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16956"/>
                </a:solidFill>
                <a:latin typeface="+mn-lt"/>
                <a:ea typeface="+mn-lt"/>
                <a:cs typeface="+mn-lt"/>
              </a:rPr>
              <a:t>verified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F9A608B5-4755-4526-95AE-B04D4244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7041" y="354330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796B9CAA-C6FC-414E-8F09-E929402C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01350" y="381000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FCEA631-E679-43F5-8835-E6783233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3093" y="4042410"/>
            <a:ext cx="64221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16956"/>
                </a:solidFill>
                <a:latin typeface="+mn-lt"/>
                <a:ea typeface="+mn-lt"/>
                <a:cs typeface="+mn-lt"/>
              </a:rPr>
              <a:t>verified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25AD661-F828-4FF2-803A-DE554EBB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7041" y="466725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0A7B4F8-E7BD-41CF-A2B5-77B8DE8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01350" y="49339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DE3EF82B-6F38-4168-BE5A-552C569D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3093" y="5166360"/>
            <a:ext cx="64221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16956"/>
                </a:solidFill>
                <a:latin typeface="+mn-lt"/>
                <a:ea typeface="+mn-lt"/>
                <a:cs typeface="+mn-lt"/>
              </a:rPr>
              <a:t>verified</a:t>
            </a:r>
          </a:p>
        </p:txBody>
      </p:sp>
      <p:sp>
        <p:nvSpPr>
          <p:cNvPr id="47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59BD803C-ECF4-4AFF-B05F-B3F35B05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619750"/>
            <a:ext cx="102870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>
            <a:noFill/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9130022-6EB4-484A-8E94-0C189C6D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818" y="5746432"/>
            <a:ext cx="71802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9B5B00"/>
                </a:solidFill>
                <a:latin typeface="+mn-lt"/>
                <a:ea typeface="+mn-lt"/>
                <a:cs typeface="+mn-lt"/>
              </a:rPr>
              <a:t>应急来源最多 100 件，订单必须整批交付；系统不会拆单制造漂亮数字。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67E09BC5-589C-4B36-8F0F-64242919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525429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模拟项：应急上限、单价、预算；91 / 45 / 0 为 solver artifact 结果。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EBAD9EC1-4AEF-425D-A587-BCC4AA8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600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392557FE-A8A4-4FEC-8CDB-592BE8F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10722712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真实工作台把输入、求解、人审和回流放在一条链路上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D8C382D-8607-438B-A46F-480CD94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98723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自然语言输入触发真实模型、LangGraph、CP-SAT、审批门和业务系统工具。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D3D955-68BC-4E19-8237-2466A37A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133600"/>
            <a:ext cx="5619750" cy="339090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5"/>
            </a:solidFill>
          </a:ln>
        </p:spPr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35BEB7-FD0F-469E-9B95-FF5BC777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133600"/>
            <a:ext cx="561975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6" name="Ellipse 6">
            <a:extLst xmlns:a="http://schemas.openxmlformats.org/drawingml/2006/main">
              <a:ext uri="{FF2B5EF4-FFF2-40B4-BE49-F238E27FC236}">
                <a16:creationId xmlns:a16="http://schemas.microsoft.com/office/drawing/2014/main" id="{C7689B68-86C9-4981-AA70-1149F0E2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7725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>
            <a:noFill/>
          </a:ln>
        </p:spPr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3F8E3768-857A-484D-9552-9A25339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8" name="Ellipse 8">
            <a:extLst xmlns:a="http://schemas.openxmlformats.org/drawingml/2006/main">
              <a:ext uri="{FF2B5EF4-FFF2-40B4-BE49-F238E27FC236}">
                <a16:creationId xmlns:a16="http://schemas.microsoft.com/office/drawing/2014/main" id="{854AABA4-F559-46B5-9D35-4993AA9F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0625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pic>
        <p:nvPicPr>
          <p:cNvPr id="41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4cf881c8e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21808" y="2533650"/>
            <a:ext cx="5147733" cy="28956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43F03B8-FB2F-4017-AEEF-D4FA2379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9650" y="1638300"/>
            <a:ext cx="6572250" cy="3962400"/>
          </a:xfrm>
          <a:prstGeom xmlns:a="http://schemas.openxmlformats.org/drawingml/2006/main" prst="roundRect">
            <a:avLst>
              <a:gd name="adj" fmla="val 3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F5AAF7A-744B-4840-A606-74B0612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9650" y="1638300"/>
            <a:ext cx="65722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0C19F8F6-E030-41D3-B4E3-428D379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5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>
            <a:noFill/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14DB6198-F801-428C-8CDC-2A4E254A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075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4AB5173B-4258-4F31-8B52-DF90CA24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3525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pic>
        <p:nvPicPr>
          <p:cNvPr id="47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bead230cd45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91642" y="2076450"/>
            <a:ext cx="6028267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7C6C0F92-3222-4677-B121-7F430EE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1543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F39ED1-5336-47CB-8FEB-54939A32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887" y="1701165"/>
            <a:ext cx="1582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E2476B9-0F4E-4D36-81AA-3EDCB951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5618" y="1707832"/>
            <a:ext cx="11829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输入可追溯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DFD2841-6313-4A9A-A3AA-836DC281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9850" y="1828800"/>
            <a:ext cx="609600" cy="361950"/>
          </a:xfrm>
          <a:custGeom xmlns:a="http://schemas.openxmlformats.org/drawingml/2006/main">
            <a:rect l="l" t="t" r="r" b="b"/>
            <a:pathLst>
              <a:path w="609600" h="361950">
                <a:moveTo>
                  <a:pt x="0" y="0"/>
                </a:moveTo>
                <a:lnTo>
                  <a:pt x="609600" y="0"/>
                </a:lnTo>
                <a:lnTo>
                  <a:pt x="6096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3"/>
            </a:solidFill>
          </a:ln>
        </p:spPr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73B9399B-1911-41BD-BEE3-0C3175E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6300" y="1162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3A695A-6DFC-4B32-B7BA-D3FB04C8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887" y="1320165"/>
            <a:ext cx="1582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2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278901A-5539-4D8B-8BDB-28C88419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618" y="1326832"/>
            <a:ext cx="14161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三方案可验证</a:t>
            </a:r>
          </a:p>
        </p:txBody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DD55EFC5-0D9C-4816-A4BA-3CCA8825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2600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D61E0DD-3CA0-4C8F-AD5E-D970E89B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0187" y="5682615"/>
            <a:ext cx="1582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B366CD8-934E-4058-B689-9302333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1918" y="5689282"/>
            <a:ext cx="168435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16956"/>
                </a:solidFill>
                <a:latin typeface="+mn-lt"/>
                <a:ea typeface="+mn-lt"/>
                <a:cs typeface="+mn-lt"/>
              </a:rPr>
              <a:t>人工批准 / 驳回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AC9AF55-BEB9-4650-970B-23B775D6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905500"/>
            <a:ext cx="7200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0C4557E-AF1C-4EE2-820F-8870F5FB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242" y="6007418"/>
            <a:ext cx="470165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Live 模型负责抽取事实；无密钥时可用 Replay 复现完整任务链。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39C9595-4236-4045-8DD4-7330CA3A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296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6FB94A1-BA9B-45A7-94FC-1633A321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6702689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MES 回流真正进入 LangGraph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272DC16-C443-4B1D-829C-7C47FD9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704695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作废旧审批 → 重跑工具链 → 新人工审批；不是页面拼接轨迹。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359E73F-62DA-4EAE-9372-DC872B56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057400"/>
            <a:ext cx="2800350" cy="3048000"/>
          </a:xfrm>
          <a:custGeom xmlns:a="http://schemas.openxmlformats.org/drawingml/2006/main">
            <a:rect l="l" t="t" r="r" b="b"/>
            <a:pathLst>
              <a:path w="2800350" h="3048000">
                <a:moveTo>
                  <a:pt x="0" y="0"/>
                </a:moveTo>
                <a:lnTo>
                  <a:pt x="2800350" y="0"/>
                </a:lnTo>
                <a:lnTo>
                  <a:pt x="2800350" y="3048000"/>
                </a:ln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Ellipse 5">
            <a:extLst xmlns:a="http://schemas.openxmlformats.org/drawingml/2006/main">
              <a:ext uri="{FF2B5EF4-FFF2-40B4-BE49-F238E27FC236}">
                <a16:creationId xmlns:a16="http://schemas.microsoft.com/office/drawing/2014/main" id="{37B8343C-5C61-4E32-9C2F-24C3C03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3500" y="2381250"/>
            <a:ext cx="1981200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57150">
            <a:solidFill>
              <a:schemeClr val="accent2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D0E95C8-4BA3-4ECA-A329-84C7F19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5238" y="2731770"/>
            <a:ext cx="8777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31B5529-C40C-4D76-BD28-E241D23D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876" y="355854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真实 ERPNext 草稿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3279AA2-339B-4E46-8615-CB33CCB1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002" y="4470082"/>
            <a:ext cx="278219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1 张 MR + 3 张 WO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D937B86-9491-48F4-8284-9894BC08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2057400"/>
            <a:ext cx="2800350" cy="3048000"/>
          </a:xfrm>
          <a:custGeom xmlns:a="http://schemas.openxmlformats.org/drawingml/2006/main">
            <a:rect l="l" t="t" r="r" b="b"/>
            <a:pathLst>
              <a:path w="2800350" h="3048000">
                <a:moveTo>
                  <a:pt x="0" y="0"/>
                </a:moveTo>
                <a:lnTo>
                  <a:pt x="2800350" y="0"/>
                </a:lnTo>
                <a:lnTo>
                  <a:pt x="2800350" y="3048000"/>
                </a:ln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FE784B-AB2D-4047-B28A-03711F7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0" y="2343150"/>
            <a:ext cx="1714500" cy="2571750"/>
          </a:xfrm>
          <a:custGeom xmlns:a="http://schemas.openxmlformats.org/drawingml/2006/main">
            <a:rect l="l" t="t" r="r" b="b"/>
            <a:pathLst>
              <a:path w="1714500" h="2571750">
                <a:moveTo>
                  <a:pt x="857250" y="0"/>
                </a:moveTo>
                <a:lnTo>
                  <a:pt x="1714500" y="438150"/>
                </a:lnTo>
                <a:lnTo>
                  <a:pt x="1714500" y="1409700"/>
                </a:lnTo>
                <a:cubicBezTo>
                  <a:pt x="1714500" y="1962150"/>
                  <a:pt x="1333500" y="2362200"/>
                  <a:pt x="857250" y="2571750"/>
                </a:cubicBezTo>
                <a:cubicBezTo>
                  <a:pt x="381000" y="2362200"/>
                  <a:pt x="0" y="1962150"/>
                  <a:pt x="0" y="1409700"/>
                </a:cubicBez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F0EEFF"/>
          </a:solidFill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63ACE8-9426-4030-8DE2-AC6F5A2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4483" y="2948940"/>
            <a:ext cx="190393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4B45B7"/>
                </a:solidFill>
                <a:latin typeface="Consolas"/>
                <a:ea typeface="Consolas"/>
                <a:cs typeface="Consolas"/>
              </a:rPr>
              <a:t>3 → 3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6FE1C62-035A-46A0-BF70-5AC8FC57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7659" y="3708082"/>
            <a:ext cx="191758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跨系统同号工单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EE772C-B604-44FA-89D4-47A58404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380" y="4470082"/>
            <a:ext cx="340414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ERPNext → OpenMES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0A0E44C-89C0-4311-832A-A905D84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2057400"/>
            <a:ext cx="2800350" cy="3048000"/>
          </a:xfrm>
          <a:custGeom xmlns:a="http://schemas.openxmlformats.org/drawingml/2006/main">
            <a:rect l="l" t="t" r="r" b="b"/>
            <a:pathLst>
              <a:path w="2800350" h="3048000">
                <a:moveTo>
                  <a:pt x="0" y="0"/>
                </a:moveTo>
                <a:lnTo>
                  <a:pt x="2800350" y="0"/>
                </a:lnTo>
                <a:lnTo>
                  <a:pt x="2800350" y="3048000"/>
                </a:ln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16E2FD9-E040-4896-AF61-04D19CF3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3950" y="2724150"/>
            <a:ext cx="1466850" cy="1485900"/>
          </a:xfrm>
          <a:custGeom xmlns:a="http://schemas.openxmlformats.org/drawingml/2006/main">
            <a:rect l="l" t="t" r="r" b="b"/>
            <a:pathLst>
              <a:path w="1466850" h="1485900">
                <a:moveTo>
                  <a:pt x="0" y="0"/>
                </a:moveTo>
                <a:lnTo>
                  <a:pt x="1466850" y="0"/>
                </a:lnTo>
                <a:lnTo>
                  <a:pt x="1466850" y="1485900"/>
                </a:lnTo>
                <a:lnTo>
                  <a:pt x="0" y="1485900"/>
                </a:lnTo>
                <a:close/>
              </a:path>
            </a:pathLst>
          </a:custGeom>
          <a:solidFill xmlns:a="http://schemas.openxmlformats.org/drawingml/2006/main">
            <a:srgbClr val="E8F7F3"/>
          </a:solidFill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029DB3F-FBFB-4683-A2FE-F5A7D295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2495550"/>
            <a:ext cx="1466850" cy="1485900"/>
          </a:xfrm>
          <a:custGeom xmlns:a="http://schemas.openxmlformats.org/drawingml/2006/main">
            <a:rect l="l" t="t" r="r" b="b"/>
            <a:pathLst>
              <a:path w="1466850" h="1485900">
                <a:moveTo>
                  <a:pt x="0" y="0"/>
                </a:moveTo>
                <a:lnTo>
                  <a:pt x="1466850" y="0"/>
                </a:lnTo>
                <a:lnTo>
                  <a:pt x="1466850" y="14859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A085">
                <a:alpha val="50000"/>
              </a:srgbClr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5BF888-AB56-4ADF-839C-2A9883E9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408" y="2872740"/>
            <a:ext cx="190393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116956"/>
                </a:solidFill>
                <a:latin typeface="Consolas"/>
                <a:ea typeface="Consolas"/>
                <a:cs typeface="Consolas"/>
              </a:rPr>
              <a:t>67+72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5AFB951-DBDB-4B1F-BA5A-723214D5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9306" y="3650932"/>
            <a:ext cx="14161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双层自动验证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6087B6E-3AD3-4837-904D-5983A34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6255" y="4470082"/>
            <a:ext cx="268224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pytest + 集成对抗</a:t>
            </a:r>
          </a:p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9FB94BEC-B23A-4785-96F4-E3C89A5E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5626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E5484D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21EAD5F-A453-4CF3-8570-5C749C14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5850731"/>
            <a:ext cx="9525" cy="60325"/>
          </a:xfrm>
          <a:custGeom xmlns:a="http://schemas.openxmlformats.org/drawingml/2006/main">
            <a:rect l="l" t="t" r="r" b="b"/>
            <a:pathLst>
              <a:path w="9525" h="60325">
                <a:moveTo>
                  <a:pt x="0" y="0"/>
                </a:moveTo>
                <a:lnTo>
                  <a:pt x="0" y="60325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E5484D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1A127CA-EE88-4638-A1E9-032FA930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679" y="5755233"/>
            <a:ext cx="304180" cy="261331"/>
          </a:xfrm>
          <a:custGeom xmlns:a="http://schemas.openxmlformats.org/drawingml/2006/main">
            <a:rect l="l" t="t" r="r" b="b"/>
            <a:pathLst>
              <a:path w="304180" h="261331">
                <a:moveTo>
                  <a:pt x="127408" y="13923"/>
                </a:moveTo>
                <a:lnTo>
                  <a:pt x="5160" y="218032"/>
                </a:lnTo>
                <a:cubicBezTo>
                  <a:pt x="31" y="226913"/>
                  <a:pt x="0" y="237848"/>
                  <a:pt x="5077" y="246758"/>
                </a:cubicBezTo>
                <a:cubicBezTo>
                  <a:pt x="10155" y="255668"/>
                  <a:pt x="19578" y="261215"/>
                  <a:pt x="29832" y="261331"/>
                </a:cubicBezTo>
                <a:lnTo>
                  <a:pt x="274359" y="261331"/>
                </a:lnTo>
                <a:cubicBezTo>
                  <a:pt x="284609" y="261212"/>
                  <a:pt x="294027" y="255667"/>
                  <a:pt x="299104" y="246762"/>
                </a:cubicBezTo>
                <a:cubicBezTo>
                  <a:pt x="304180" y="237857"/>
                  <a:pt x="304153" y="226927"/>
                  <a:pt x="299032" y="218048"/>
                </a:cubicBezTo>
                <a:lnTo>
                  <a:pt x="176784" y="13908"/>
                </a:lnTo>
                <a:cubicBezTo>
                  <a:pt x="171553" y="5274"/>
                  <a:pt x="162191" y="0"/>
                  <a:pt x="152096" y="0"/>
                </a:cubicBezTo>
                <a:cubicBezTo>
                  <a:pt x="142001" y="0"/>
                  <a:pt x="132639" y="5274"/>
                  <a:pt x="127408" y="139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E5484D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95F2326-3271-46D1-B7E4-84EAA258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5956299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E5484D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390BC06-7671-4DF1-9B51-8F38AE13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770" y="5738812"/>
            <a:ext cx="538183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A82C34"/>
                </a:solidFill>
                <a:latin typeface="+mn-lt"/>
                <a:ea typeface="+mn-lt"/>
                <a:cs typeface="+mn-lt"/>
              </a:rPr>
              <a:t>revision 变化 → 图内失效 → 重算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87FA4DA-EEAC-4D53-8443-19BC64D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5630" y="5800725"/>
            <a:ext cx="44577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密钥仅后端 · 本机测试实例 · 不控制设备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0D4E4C56-969B-42B8-A98F-428A3711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9102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E1AD788-3638-4F95-97FA-DC464EDE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8965308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让 Agent 有边界，才能让方案走得更远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1666FAB-70B9-49A0-B9CD-E9330CE6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746836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提交包只保留一条主线：可运行 Demo、8 页 PPT/PDF、带字幕视频与复算证据。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4384D29-AA85-405D-A2C1-43500807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2038350"/>
            <a:ext cx="5162550" cy="3067050"/>
          </a:xfrm>
          <a:custGeom xmlns:a="http://schemas.openxmlformats.org/drawingml/2006/main">
            <a:rect l="l" t="t" r="r" b="b"/>
            <a:pathLst>
              <a:path w="5162550" h="3067050">
                <a:moveTo>
                  <a:pt x="0" y="0"/>
                </a:moveTo>
                <a:lnTo>
                  <a:pt x="5162550" y="0"/>
                </a:lnTo>
                <a:lnTo>
                  <a:pt x="5162550" y="3067050"/>
                </a:lnTo>
                <a:lnTo>
                  <a:pt x="0" y="3067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47631C7-136A-4868-A248-4AD8DA78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112" y="2221230"/>
            <a:ext cx="20720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能力有界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BDE1487-5C3D-4517-B3D9-7F61B8CC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857500"/>
            <a:ext cx="2876550" cy="9525"/>
          </a:xfrm>
          <a:custGeom xmlns:a="http://schemas.openxmlformats.org/drawingml/2006/main">
            <a:rect l="l" t="t" r="r" b="b"/>
            <a:pathLst>
              <a:path w="2876550" h="9525">
                <a:moveTo>
                  <a:pt x="0" y="0"/>
                </a:moveTo>
                <a:lnTo>
                  <a:pt x="2876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2"/>
            </a:solidFill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E7C4431-9A55-49D6-BA57-8CB2BA1F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4262" y="3173730"/>
            <a:ext cx="20720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00A2C0"/>
                </a:solidFill>
                <a:latin typeface="+mn-lt"/>
                <a:ea typeface="+mn-lt"/>
                <a:cs typeface="+mn-lt"/>
              </a:rPr>
              <a:t>方案可证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031A9F3-94BB-46EE-B6D8-BBD613A5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2550" y="3810000"/>
            <a:ext cx="2876550" cy="9525"/>
          </a:xfrm>
          <a:custGeom xmlns:a="http://schemas.openxmlformats.org/drawingml/2006/main">
            <a:rect l="l" t="t" r="r" b="b"/>
            <a:pathLst>
              <a:path w="2876550" h="9525">
                <a:moveTo>
                  <a:pt x="0" y="0"/>
                </a:moveTo>
                <a:lnTo>
                  <a:pt x="2876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3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D4FD7D6-ED4C-4E5A-A910-20BEC1B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2412" y="4126230"/>
            <a:ext cx="20720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决策在人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50B1FB3-9BAB-41D4-877D-56358F82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0700" y="4762500"/>
            <a:ext cx="2876550" cy="9525"/>
          </a:xfrm>
          <a:custGeom xmlns:a="http://schemas.openxmlformats.org/drawingml/2006/main">
            <a:rect l="l" t="t" r="r" b="b"/>
            <a:pathLst>
              <a:path w="2876550" h="9525">
                <a:moveTo>
                  <a:pt x="0" y="0"/>
                </a:moveTo>
                <a:lnTo>
                  <a:pt x="2876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6A085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9D3B3B6E-D1F1-442B-9EF7-BA46A86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6550" y="15430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858C506C-4F2B-4559-B532-B75D175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1885950"/>
            <a:ext cx="2705100" cy="2705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8BE6035-F5F6-42AD-8F37-2C23D63E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6776" y="245364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一条任务链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F9FA97-517F-4189-9964-8CFBDACE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8753" y="2908935"/>
            <a:ext cx="2126494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输入 48 小时事故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31614B3-8A40-4C9C-8134-476D5917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3332" y="3395662"/>
            <a:ext cx="153733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选择平衡方案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9E39330-3B12-42C5-A37F-F21D0EA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1885" y="3814762"/>
            <a:ext cx="184023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>
                <a:solidFill>
                  <a:srgbClr val="E5484D"/>
                </a:solidFill>
                <a:latin typeface="+mn-lt"/>
                <a:ea typeface="+mn-lt"/>
                <a:cs typeface="+mn-lt"/>
              </a:rPr>
              <a:t>检查 MES 回流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7EEBAF3-65A1-4410-BF72-9EF4F6C4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1143000"/>
            <a:ext cx="2266950" cy="400050"/>
          </a:xfrm>
          <a:custGeom xmlns:a="http://schemas.openxmlformats.org/drawingml/2006/main">
            <a:rect l="l" t="t" r="r" b="b"/>
            <a:pathLst>
              <a:path w="2266950" h="400050">
                <a:moveTo>
                  <a:pt x="0" y="400050"/>
                </a:moveTo>
                <a:lnTo>
                  <a:pt x="0" y="0"/>
                </a:lnTo>
                <a:lnTo>
                  <a:pt x="2266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D5090F-4C97-4D03-95CC-DE4F578B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4933950"/>
            <a:ext cx="1295400" cy="495300"/>
          </a:xfrm>
          <a:custGeom xmlns:a="http://schemas.openxmlformats.org/drawingml/2006/main">
            <a:rect l="l" t="t" r="r" b="b"/>
            <a:pathLst>
              <a:path w="1295400" h="495300">
                <a:moveTo>
                  <a:pt x="0" y="0"/>
                </a:moveTo>
                <a:lnTo>
                  <a:pt x="0" y="495300"/>
                </a:lnTo>
                <a:lnTo>
                  <a:pt x="129540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87E0C10-C286-4C94-BA25-34C9781D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8912" y="5276850"/>
            <a:ext cx="185738" cy="228600"/>
          </a:xfrm>
          <a:custGeom xmlns:a="http://schemas.openxmlformats.org/drawingml/2006/main">
            <a:rect l="l" t="t" r="r" b="b"/>
            <a:pathLst>
              <a:path w="185738" h="228600">
                <a:moveTo>
                  <a:pt x="0" y="0"/>
                </a:moveTo>
                <a:lnTo>
                  <a:pt x="0" y="228600"/>
                </a:lnTo>
                <a:lnTo>
                  <a:pt x="185738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4F93C1-AE0A-4D23-B5CD-99ED356E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6768" y="5289232"/>
            <a:ext cx="112845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演示入口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8F5EE5B-FDC7-4349-A406-808B0767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3316" y="5354002"/>
            <a:ext cx="219454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本机网页 · 自然语言输入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6D5B8-E6A0-4B15-A1EA-467F611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2250" y="5048250"/>
            <a:ext cx="10668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5672"/>
                </a:solidFill>
              </a:defRPr>
            </a:pPr>
            <a:r>
              <a:rPr sz="1350" b="1">
                <a:solidFill>
                  <a:srgbClr val="0B5672"/>
                </a:solidFill>
              </a:rPr>
              <a:t>附件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5672"/>
                </a:solidFill>
              </a:defRPr>
            </a:pPr>
            <a:r>
              <a:rPr sz="1350" b="1">
                <a:solidFill>
                  <a:srgbClr val="0B5672"/>
                </a:solidFill>
              </a:rPr>
              <a:t>已封包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B28CF2F-6B2D-4047-9789-C52EBE6F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8925" y="5757862"/>
            <a:ext cx="71438" cy="71438"/>
          </a:xfrm>
          <a:custGeom xmlns:a="http://schemas.openxmlformats.org/drawingml/2006/main">
            <a:rect l="l" t="t" r="r" b="b"/>
            <a:pathLst>
              <a:path w="71438" h="71438">
                <a:moveTo>
                  <a:pt x="0" y="0"/>
                </a:moveTo>
                <a:lnTo>
                  <a:pt x="0" y="57150"/>
                </a:lnTo>
                <a:cubicBezTo>
                  <a:pt x="0" y="65041"/>
                  <a:pt x="6397" y="71438"/>
                  <a:pt x="14288" y="71438"/>
                </a:cubicBezTo>
                <a:lnTo>
                  <a:pt x="71438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5741550-7A37-43CC-B2F5-559276A4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10338" y="5757862"/>
            <a:ext cx="200025" cy="257175"/>
          </a:xfrm>
          <a:custGeom xmlns:a="http://schemas.openxmlformats.org/drawingml/2006/main">
            <a:rect l="l" t="t" r="r" b="b"/>
            <a:pathLst>
              <a:path w="200025" h="257175">
                <a:moveTo>
                  <a:pt x="171450" y="257175"/>
                </a:moveTo>
                <a:lnTo>
                  <a:pt x="28575" y="257175"/>
                </a:lnTo>
                <a:cubicBezTo>
                  <a:pt x="12793" y="257175"/>
                  <a:pt x="0" y="244382"/>
                  <a:pt x="0" y="2286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28588" y="0"/>
                </a:lnTo>
                <a:lnTo>
                  <a:pt x="200025" y="71438"/>
                </a:lnTo>
                <a:lnTo>
                  <a:pt x="200025" y="228600"/>
                </a:lnTo>
                <a:cubicBezTo>
                  <a:pt x="200025" y="244382"/>
                  <a:pt x="187232" y="257175"/>
                  <a:pt x="171450" y="257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C6BD03F-B86D-471C-9A28-A1211E04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488" y="5900738"/>
            <a:ext cx="85725" cy="57150"/>
          </a:xfrm>
          <a:custGeom xmlns:a="http://schemas.openxmlformats.org/drawingml/2006/main">
            <a:rect l="l" t="t" r="r" b="b"/>
            <a:pathLst>
              <a:path w="85725" h="57150">
                <a:moveTo>
                  <a:pt x="0" y="28575"/>
                </a:moveTo>
                <a:lnTo>
                  <a:pt x="28575" y="5715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AAF9B87-CEC9-4DF4-B838-28DC2870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6768" y="5784532"/>
            <a:ext cx="11829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提交附件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9692E6-EA24-4352-9549-DBB71A94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3316" y="5849302"/>
            <a:ext cx="239532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PPT · PDF · MP4 · ZIP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69060870-A483-4FAC-82FD-C2EA05C5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5441632"/>
            <a:ext cx="756894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输入可以不确定，方案必须可复算；系统能够接入，最终决定仍由人承担。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CFC3CBB-85F4-4E8E-BB86-4FFC3B0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118860"/>
            <a:ext cx="450844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ERPNext + OpenMES 为本机测试实例 · 商业系统为合同沙箱 · 不控制设备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E91AEE94-A973-41FF-80F4-E5D4A07F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1568192"/>
      </p:ext>
    </p:extLst>
  </p:cSld>
</p:sld>
</file>

<file path=ppt/theme/theme1.xml><?xml version="1.0" encoding="utf-8"?>
<a:theme xmlns:a="http://schemas.openxmlformats.org/drawingml/2006/main" name="youjie_goai_pitch">
  <a:themeElements>
    <a:clrScheme name="youjie_goai_pitch">
      <a:dk1>
        <a:srgbClr val="17324D"/>
      </a:dk1>
      <a:lt1>
        <a:srgbClr val="F7FBFF"/>
      </a:lt1>
      <a:dk2>
        <a:srgbClr val="1F497D"/>
      </a:dk2>
      <a:lt2>
        <a:srgbClr val="EAF7FC"/>
      </a:lt2>
      <a:accent1>
        <a:srgbClr val="0B4F6C"/>
      </a:accent1>
      <a:accent2>
        <a:srgbClr val="00B8D9"/>
      </a:accent2>
      <a:accent3>
        <a:srgbClr val="6C63FF"/>
      </a:accent3>
      <a:accent4>
        <a:srgbClr val="0B4F6C"/>
      </a:accent4>
      <a:accent5>
        <a:srgbClr val="B7E5EF"/>
      </a:accent5>
      <a:accent6>
        <a:srgbClr val="FF9D2E"/>
      </a:accent6>
      <a:hlink>
        <a:srgbClr val="00B8D9"/>
      </a:hlink>
      <a:folHlink>
        <a:srgbClr val="6C63FF"/>
      </a:folHlink>
    </a:clrScheme>
    <a:fontScheme name="youjie_goai_pit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ujie_goai_pit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2026-08-30T10:39:13.4780000Z</dcterms:created>
  <dcterms:modified xsi:type="dcterms:W3CDTF">2026-08-30T10:39:13.4780000Z</dcterms:modified>
</coreProperties>
</file>